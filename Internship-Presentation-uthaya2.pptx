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notesMasterIdLst>
    <p:notesMasterId r:id="rId21"/>
  </p:notes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B6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p:scale>
          <a:sx n="150" d="100"/>
          <a:sy n="150" d="100"/>
        </p:scale>
        <p:origin x="2946" y="4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508F1F-A1DF-4630-8F02-F49A34195F69}" type="datetimeFigureOut">
              <a:rPr lang="en-MY" smtClean="0"/>
              <a:t>10/8/2026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5BDC28-F323-46AC-9EFB-4E01C11F7671}" type="slidenum">
              <a:rPr lang="en-MY" smtClean="0"/>
              <a:t>‹#›</a:t>
            </a:fld>
            <a:endParaRPr lang="en-MY"/>
          </a:p>
        </p:txBody>
      </p:sp>
    </p:spTree>
    <p:extLst>
      <p:ext uri="{BB962C8B-B14F-4D97-AF65-F5344CB8AC3E}">
        <p14:creationId xmlns:p14="http://schemas.microsoft.com/office/powerpoint/2010/main" val="420151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a:xfrm>
            <a:off x="3962399" y="5870575"/>
            <a:ext cx="4893958" cy="377825"/>
          </a:xfrm>
        </p:spPr>
        <p:txBody>
          <a:bodyPr/>
          <a:lstStyle/>
          <a:p>
            <a:endParaRPr lang="en-MY"/>
          </a:p>
        </p:txBody>
      </p:sp>
      <p:sp>
        <p:nvSpPr>
          <p:cNvPr id="6" name="Slide Number Placeholder 5"/>
          <p:cNvSpPr>
            <a:spLocks noGrp="1"/>
          </p:cNvSpPr>
          <p:nvPr>
            <p:ph type="sldNum" sz="quarter" idx="12"/>
          </p:nvPr>
        </p:nvSpPr>
        <p:spPr>
          <a:xfrm>
            <a:off x="10608958" y="5870575"/>
            <a:ext cx="551167" cy="377825"/>
          </a:xfrm>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415588204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4171128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946793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E8804D-122A-4F2B-AE7A-EA61BD8E030B}" type="datetimeFigureOut">
              <a:rPr lang="en-MY" smtClean="0"/>
              <a:t>10/8/2026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2108942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E8804D-122A-4F2B-AE7A-EA61BD8E030B}" type="datetimeFigureOut">
              <a:rPr lang="en-MY" smtClean="0"/>
              <a:t>10/8/2026</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318903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E8804D-122A-4F2B-AE7A-EA61BD8E030B}" type="datetimeFigureOut">
              <a:rPr lang="en-MY" smtClean="0"/>
              <a:t>10/8/2026</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3795650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71E8804D-122A-4F2B-AE7A-EA61BD8E030B}" type="datetimeFigureOut">
              <a:rPr lang="en-MY" smtClean="0"/>
              <a:t>10/8/2026</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3435174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E8804D-122A-4F2B-AE7A-EA61BD8E030B}" type="datetimeFigureOut">
              <a:rPr lang="en-MY" smtClean="0"/>
              <a:t>10/8/2026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2620266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E8804D-122A-4F2B-AE7A-EA61BD8E030B}" type="datetimeFigureOut">
              <a:rPr lang="en-MY" smtClean="0"/>
              <a:t>10/8/2026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998194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E8804D-122A-4F2B-AE7A-EA61BD8E030B}" type="datetimeFigureOut">
              <a:rPr lang="en-MY" smtClean="0"/>
              <a:t>10/8/2026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942387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908764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570721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044794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395199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456505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187183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E8804D-122A-4F2B-AE7A-EA61BD8E030B}" type="datetimeFigureOut">
              <a:rPr lang="en-MY" smtClean="0"/>
              <a:t>10/8/2026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1A2B656-60DB-4944-B144-991B81F3A856}" type="slidenum">
              <a:rPr lang="en-MY" smtClean="0"/>
              <a:t>‹#›</a:t>
            </a:fld>
            <a:endParaRPr lang="en-MY"/>
          </a:p>
        </p:txBody>
      </p:sp>
    </p:spTree>
    <p:extLst>
      <p:ext uri="{BB962C8B-B14F-4D97-AF65-F5344CB8AC3E}">
        <p14:creationId xmlns:p14="http://schemas.microsoft.com/office/powerpoint/2010/main" val="1057435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1E8804D-122A-4F2B-AE7A-EA61BD8E030B}" type="datetimeFigureOut">
              <a:rPr lang="en-MY" smtClean="0"/>
              <a:t>10/8/2026</a:t>
            </a:fld>
            <a:endParaRPr lang="en-MY"/>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MY"/>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1A2B656-60DB-4944-B144-991B81F3A856}" type="slidenum">
              <a:rPr lang="en-MY" smtClean="0"/>
              <a:t>‹#›</a:t>
            </a:fld>
            <a:endParaRPr lang="en-MY"/>
          </a:p>
        </p:txBody>
      </p:sp>
    </p:spTree>
    <p:extLst>
      <p:ext uri="{BB962C8B-B14F-4D97-AF65-F5344CB8AC3E}">
        <p14:creationId xmlns:p14="http://schemas.microsoft.com/office/powerpoint/2010/main" val="2251180531"/>
      </p:ext>
    </p:extLst>
  </p:cSld>
  <p:clrMap bg1="dk1" tx1="lt1" bg2="dk2" tx2="lt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jpe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3EE3F-9894-45AD-8F06-4763A75407BC}"/>
              </a:ext>
            </a:extLst>
          </p:cNvPr>
          <p:cNvSpPr>
            <a:spLocks noGrp="1"/>
          </p:cNvSpPr>
          <p:nvPr>
            <p:ph type="ctrTitle"/>
          </p:nvPr>
        </p:nvSpPr>
        <p:spPr>
          <a:xfrm>
            <a:off x="3962399" y="3518703"/>
            <a:ext cx="7197726" cy="867027"/>
          </a:xfrm>
          <a:noFill/>
          <a:ln>
            <a:solidFill>
              <a:srgbClr val="06B6D4"/>
            </a:solidFill>
          </a:ln>
        </p:spPr>
        <p:txBody>
          <a:bodyPr>
            <a:normAutofit/>
          </a:bodyPr>
          <a:lstStyle/>
          <a:p>
            <a:r>
              <a:rPr lang="en-MY" dirty="0"/>
              <a:t>INTERNSHIP </a:t>
            </a:r>
            <a:r>
              <a:rPr lang="en-MY" dirty="0">
                <a:solidFill>
                  <a:srgbClr val="06B6D4"/>
                </a:solidFill>
              </a:rPr>
              <a:t>Presentation</a:t>
            </a:r>
            <a:endParaRPr lang="en-MY" dirty="0">
              <a:ln w="3175" cmpd="sng">
                <a:solidFill>
                  <a:srgbClr val="FF0000"/>
                </a:solidFill>
              </a:ln>
              <a:solidFill>
                <a:srgbClr val="06B6D4"/>
              </a:solidFill>
            </a:endParaRPr>
          </a:p>
        </p:txBody>
      </p:sp>
      <p:sp>
        <p:nvSpPr>
          <p:cNvPr id="3" name="Subtitle 2">
            <a:extLst>
              <a:ext uri="{FF2B5EF4-FFF2-40B4-BE49-F238E27FC236}">
                <a16:creationId xmlns:a16="http://schemas.microsoft.com/office/drawing/2014/main" id="{66A12427-CCCE-498A-9B88-D78AA5E952C7}"/>
              </a:ext>
            </a:extLst>
          </p:cNvPr>
          <p:cNvSpPr>
            <a:spLocks noGrp="1"/>
          </p:cNvSpPr>
          <p:nvPr>
            <p:ph type="subTitle" idx="1"/>
          </p:nvPr>
        </p:nvSpPr>
        <p:spPr>
          <a:xfrm>
            <a:off x="4305781" y="4385732"/>
            <a:ext cx="6854343" cy="1405467"/>
          </a:xfrm>
        </p:spPr>
        <p:txBody>
          <a:bodyPr>
            <a:normAutofit/>
          </a:bodyPr>
          <a:lstStyle/>
          <a:p>
            <a:pPr algn="l"/>
            <a:r>
              <a:rPr lang="en-MY" dirty="0"/>
              <a:t>NAME: uthayakumaar s/O KRISHNAN</a:t>
            </a:r>
          </a:p>
          <a:p>
            <a:pPr algn="l"/>
            <a:r>
              <a:rPr lang="en-MY" dirty="0"/>
              <a:t>BATCH FEBRUARY 2026</a:t>
            </a:r>
          </a:p>
          <a:p>
            <a:pPr algn="l"/>
            <a:r>
              <a:rPr lang="en-MY" dirty="0"/>
              <a:t>STUDENT ID: 012024971304</a:t>
            </a:r>
          </a:p>
        </p:txBody>
      </p:sp>
    </p:spTree>
    <p:extLst>
      <p:ext uri="{BB962C8B-B14F-4D97-AF65-F5344CB8AC3E}">
        <p14:creationId xmlns:p14="http://schemas.microsoft.com/office/powerpoint/2010/main" val="3677404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5C546D-B51B-4A5E-9C54-C87C077B2766}"/>
              </a:ext>
            </a:extLst>
          </p:cNvPr>
          <p:cNvSpPr>
            <a:spLocks noGrp="1"/>
          </p:cNvSpPr>
          <p:nvPr>
            <p:ph type="title"/>
          </p:nvPr>
        </p:nvSpPr>
        <p:spPr/>
        <p:txBody>
          <a:bodyPr/>
          <a:lstStyle/>
          <a:p>
            <a:r>
              <a:rPr lang="en-MY" dirty="0"/>
              <a:t>COMPANY BACKGROUND</a:t>
            </a:r>
            <a:br>
              <a:rPr lang="en-MY" dirty="0"/>
            </a:br>
            <a:r>
              <a:rPr lang="en-MY" dirty="0">
                <a:solidFill>
                  <a:srgbClr val="06B6D4"/>
                </a:solidFill>
              </a:rPr>
              <a:t>OG IT FORENSIC SERVICES (M) SDN.BHD</a:t>
            </a:r>
          </a:p>
        </p:txBody>
      </p:sp>
      <p:pic>
        <p:nvPicPr>
          <p:cNvPr id="1028" name="Picture 4" descr="Forensic Accounting Services Kuala Lumpur (KL), Forensic Audit Firm Selangor, Litigation Support Services Malaysia, India ~ Alliance IFA (M) Sdn Bhd">
            <a:extLst>
              <a:ext uri="{FF2B5EF4-FFF2-40B4-BE49-F238E27FC236}">
                <a16:creationId xmlns:a16="http://schemas.microsoft.com/office/drawing/2014/main" id="{4DEA695D-542E-44A3-B44B-D12A2BB077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1" y="2065867"/>
            <a:ext cx="3340254" cy="1531937"/>
          </a:xfrm>
          <a:prstGeom prst="rect">
            <a:avLst/>
          </a:prstGeom>
          <a:solidFill>
            <a:schemeClr val="bg2"/>
          </a:solidFill>
        </p:spPr>
      </p:pic>
      <p:sp>
        <p:nvSpPr>
          <p:cNvPr id="13" name="TextBox 12">
            <a:extLst>
              <a:ext uri="{FF2B5EF4-FFF2-40B4-BE49-F238E27FC236}">
                <a16:creationId xmlns:a16="http://schemas.microsoft.com/office/drawing/2014/main" id="{6AD1B484-B9CD-4025-ABC0-F83454499127}"/>
              </a:ext>
            </a:extLst>
          </p:cNvPr>
          <p:cNvSpPr txBox="1"/>
          <p:nvPr/>
        </p:nvSpPr>
        <p:spPr>
          <a:xfrm>
            <a:off x="685801" y="3714516"/>
            <a:ext cx="5540692" cy="438150"/>
          </a:xfrm>
          <a:prstGeom prst="rect">
            <a:avLst/>
          </a:prstGeom>
          <a:noFill/>
        </p:spPr>
        <p:txBody>
          <a:bodyPr wrap="square" lIns="0" tIns="0" rIns="0" bIns="0" anchor="t">
            <a:spAutoFit/>
          </a:bodyPr>
          <a:lstStyle/>
          <a:p>
            <a:pPr algn="l"/>
            <a:r>
              <a:rPr sz="2700" b="1" i="0" u="none" dirty="0">
                <a:solidFill>
                  <a:srgbClr val="06B6D4"/>
                </a:solidFill>
                <a:latin typeface="Space Grotesk"/>
              </a:rPr>
              <a:t>Pioneers in Malaysia</a:t>
            </a:r>
          </a:p>
        </p:txBody>
      </p:sp>
      <p:sp>
        <p:nvSpPr>
          <p:cNvPr id="14" name="TextBox 13">
            <a:extLst>
              <a:ext uri="{FF2B5EF4-FFF2-40B4-BE49-F238E27FC236}">
                <a16:creationId xmlns:a16="http://schemas.microsoft.com/office/drawing/2014/main" id="{88E36C7D-F8A8-499B-912E-7A2A51E1D742}"/>
              </a:ext>
            </a:extLst>
          </p:cNvPr>
          <p:cNvSpPr txBox="1"/>
          <p:nvPr/>
        </p:nvSpPr>
        <p:spPr>
          <a:xfrm>
            <a:off x="685801" y="4095636"/>
            <a:ext cx="4476508" cy="972767"/>
          </a:xfrm>
          <a:prstGeom prst="rect">
            <a:avLst/>
          </a:prstGeom>
          <a:noFill/>
        </p:spPr>
        <p:txBody>
          <a:bodyPr wrap="square" lIns="0" tIns="0" rIns="0" bIns="0" anchor="t">
            <a:spAutoFit/>
          </a:bodyPr>
          <a:lstStyle/>
          <a:p>
            <a:pPr algn="just">
              <a:lnSpc>
                <a:spcPts val="2640"/>
              </a:lnSpc>
            </a:pPr>
            <a:r>
              <a:rPr sz="1650" b="0" i="0" u="none" dirty="0">
                <a:latin typeface="Inter"/>
              </a:rPr>
              <a:t>Founded in 2010, OG IT Forensic Services is Malaysia's very first private digital forensic investigation firm.</a:t>
            </a:r>
          </a:p>
        </p:txBody>
      </p:sp>
      <p:sp>
        <p:nvSpPr>
          <p:cNvPr id="15" name="TextBox 14">
            <a:extLst>
              <a:ext uri="{FF2B5EF4-FFF2-40B4-BE49-F238E27FC236}">
                <a16:creationId xmlns:a16="http://schemas.microsoft.com/office/drawing/2014/main" id="{ED1A8710-028C-45D5-AA0A-8567303E3B01}"/>
              </a:ext>
            </a:extLst>
          </p:cNvPr>
          <p:cNvSpPr txBox="1"/>
          <p:nvPr/>
        </p:nvSpPr>
        <p:spPr>
          <a:xfrm>
            <a:off x="685801" y="5068403"/>
            <a:ext cx="4476508" cy="1005482"/>
          </a:xfrm>
          <a:prstGeom prst="rect">
            <a:avLst/>
          </a:prstGeom>
          <a:noFill/>
        </p:spPr>
        <p:txBody>
          <a:bodyPr wrap="square" lIns="0" tIns="0" rIns="0" bIns="0" anchor="t">
            <a:spAutoFit/>
          </a:bodyPr>
          <a:lstStyle/>
          <a:p>
            <a:pPr algn="just">
              <a:lnSpc>
                <a:spcPts val="2640"/>
              </a:lnSpc>
            </a:pPr>
            <a:r>
              <a:rPr sz="1650" b="0" i="0" u="none" dirty="0">
                <a:latin typeface="Inter"/>
              </a:rPr>
              <a:t>We specialize in bringing fraud, identity theft, and complex cybercrimes to justice through meticulous, court-ready digital evidence analysis and retrieval.</a:t>
            </a:r>
          </a:p>
        </p:txBody>
      </p:sp>
      <p:sp>
        <p:nvSpPr>
          <p:cNvPr id="16" name="TextBox 15">
            <a:extLst>
              <a:ext uri="{FF2B5EF4-FFF2-40B4-BE49-F238E27FC236}">
                <a16:creationId xmlns:a16="http://schemas.microsoft.com/office/drawing/2014/main" id="{308AEBE6-37DD-4B79-A9A8-394731C0893F}"/>
              </a:ext>
            </a:extLst>
          </p:cNvPr>
          <p:cNvSpPr txBox="1"/>
          <p:nvPr/>
        </p:nvSpPr>
        <p:spPr>
          <a:xfrm>
            <a:off x="7628538" y="1953162"/>
            <a:ext cx="2669899" cy="1467709"/>
          </a:xfrm>
          <a:prstGeom prst="rect">
            <a:avLst/>
          </a:prstGeom>
          <a:noFill/>
        </p:spPr>
        <p:txBody>
          <a:bodyPr wrap="square" lIns="0" tIns="0" rIns="0" bIns="0" anchor="t">
            <a:spAutoFit/>
          </a:bodyPr>
          <a:lstStyle/>
          <a:p>
            <a:pPr algn="ctr">
              <a:lnSpc>
                <a:spcPts val="11250"/>
              </a:lnSpc>
            </a:pPr>
            <a:r>
              <a:rPr sz="11250" b="1" i="0" u="none" dirty="0">
                <a:solidFill>
                  <a:srgbClr val="06B6D4"/>
                </a:solidFill>
                <a:latin typeface="Space Grotesk"/>
              </a:rPr>
              <a:t>16+</a:t>
            </a:r>
          </a:p>
        </p:txBody>
      </p:sp>
      <p:sp>
        <p:nvSpPr>
          <p:cNvPr id="17" name="TextBox 16">
            <a:extLst>
              <a:ext uri="{FF2B5EF4-FFF2-40B4-BE49-F238E27FC236}">
                <a16:creationId xmlns:a16="http://schemas.microsoft.com/office/drawing/2014/main" id="{03762BAC-6A2D-48E7-B8F9-308735B65DBD}"/>
              </a:ext>
            </a:extLst>
          </p:cNvPr>
          <p:cNvSpPr txBox="1"/>
          <p:nvPr/>
        </p:nvSpPr>
        <p:spPr>
          <a:xfrm>
            <a:off x="6518536" y="3772008"/>
            <a:ext cx="2532083" cy="323165"/>
          </a:xfrm>
          <a:prstGeom prst="rect">
            <a:avLst/>
          </a:prstGeom>
          <a:noFill/>
        </p:spPr>
        <p:txBody>
          <a:bodyPr wrap="square" lIns="0" tIns="0" rIns="0" bIns="0" anchor="t">
            <a:spAutoFit/>
          </a:bodyPr>
          <a:lstStyle/>
          <a:p>
            <a:pPr algn="l"/>
            <a:r>
              <a:rPr sz="2100" b="1" i="0" u="none" dirty="0">
                <a:solidFill>
                  <a:srgbClr val="F8FAFC"/>
                </a:solidFill>
                <a:latin typeface="Space Grotesk"/>
              </a:rPr>
              <a:t>Established Expertise</a:t>
            </a:r>
          </a:p>
        </p:txBody>
      </p:sp>
      <p:sp>
        <p:nvSpPr>
          <p:cNvPr id="18" name="TextBox 17">
            <a:extLst>
              <a:ext uri="{FF2B5EF4-FFF2-40B4-BE49-F238E27FC236}">
                <a16:creationId xmlns:a16="http://schemas.microsoft.com/office/drawing/2014/main" id="{3F13640A-94F5-4017-A708-58C6773A9BC9}"/>
              </a:ext>
            </a:extLst>
          </p:cNvPr>
          <p:cNvSpPr txBox="1"/>
          <p:nvPr/>
        </p:nvSpPr>
        <p:spPr>
          <a:xfrm>
            <a:off x="6518536" y="4210930"/>
            <a:ext cx="5276850" cy="897169"/>
          </a:xfrm>
          <a:prstGeom prst="rect">
            <a:avLst/>
          </a:prstGeom>
          <a:noFill/>
        </p:spPr>
        <p:txBody>
          <a:bodyPr wrap="square" lIns="0" tIns="0" rIns="0" bIns="0" anchor="t">
            <a:spAutoFit/>
          </a:bodyPr>
          <a:lstStyle/>
          <a:p>
            <a:pPr algn="l">
              <a:lnSpc>
                <a:spcPts val="2400"/>
              </a:lnSpc>
            </a:pPr>
            <a:r>
              <a:rPr sz="1500" b="0" i="0" u="none" dirty="0">
                <a:latin typeface="Inter"/>
              </a:rPr>
              <a:t>Since 2010, the firm has reliably conducted court-ordered evidence seizures, corporate financial fraud investigations, and sophisticated cyber intrusion forensics.</a:t>
            </a:r>
          </a:p>
        </p:txBody>
      </p:sp>
      <p:sp>
        <p:nvSpPr>
          <p:cNvPr id="19" name="TextBox 18">
            <a:extLst>
              <a:ext uri="{FF2B5EF4-FFF2-40B4-BE49-F238E27FC236}">
                <a16:creationId xmlns:a16="http://schemas.microsoft.com/office/drawing/2014/main" id="{F326C5A2-CEF3-49D6-B6B8-26DACE8E9EC9}"/>
              </a:ext>
            </a:extLst>
          </p:cNvPr>
          <p:cNvSpPr txBox="1"/>
          <p:nvPr/>
        </p:nvSpPr>
        <p:spPr>
          <a:xfrm>
            <a:off x="7911336" y="3119746"/>
            <a:ext cx="2104301" cy="323850"/>
          </a:xfrm>
          <a:prstGeom prst="rect">
            <a:avLst/>
          </a:prstGeom>
          <a:noFill/>
        </p:spPr>
        <p:txBody>
          <a:bodyPr wrap="square" lIns="0" tIns="0" rIns="0" bIns="0" anchor="t">
            <a:spAutoFit/>
          </a:bodyPr>
          <a:lstStyle/>
          <a:p>
            <a:pPr algn="ctr"/>
            <a:r>
              <a:rPr sz="2100" b="0" i="0" u="none" dirty="0">
                <a:solidFill>
                  <a:srgbClr val="F8FAFC"/>
                </a:solidFill>
                <a:latin typeface="Inter SemiBold"/>
              </a:rPr>
              <a:t>Years in Practice</a:t>
            </a:r>
          </a:p>
        </p:txBody>
      </p:sp>
      <p:sp>
        <p:nvSpPr>
          <p:cNvPr id="20" name="TextBox 19">
            <a:extLst>
              <a:ext uri="{FF2B5EF4-FFF2-40B4-BE49-F238E27FC236}">
                <a16:creationId xmlns:a16="http://schemas.microsoft.com/office/drawing/2014/main" id="{9B5C7052-D05A-45E7-8C79-EACEDDE3CB3C}"/>
              </a:ext>
            </a:extLst>
          </p:cNvPr>
          <p:cNvSpPr txBox="1"/>
          <p:nvPr/>
        </p:nvSpPr>
        <p:spPr>
          <a:xfrm>
            <a:off x="6518536" y="5095396"/>
            <a:ext cx="5276850" cy="914400"/>
          </a:xfrm>
          <a:prstGeom prst="rect">
            <a:avLst/>
          </a:prstGeom>
          <a:noFill/>
        </p:spPr>
        <p:txBody>
          <a:bodyPr wrap="square" lIns="0" tIns="0" rIns="0" bIns="0" anchor="t">
            <a:spAutoFit/>
          </a:bodyPr>
          <a:lstStyle/>
          <a:p>
            <a:pPr algn="l">
              <a:lnSpc>
                <a:spcPts val="2400"/>
              </a:lnSpc>
            </a:pPr>
            <a:r>
              <a:rPr sz="1500" b="0" i="0" u="none" dirty="0">
                <a:latin typeface="Inter"/>
              </a:rPr>
              <a:t>We have a recognized courtroom track record, successfully providing expert testimony in highly critical, sensitive legal disputes globally.</a:t>
            </a:r>
          </a:p>
        </p:txBody>
      </p:sp>
    </p:spTree>
    <p:extLst>
      <p:ext uri="{BB962C8B-B14F-4D97-AF65-F5344CB8AC3E}">
        <p14:creationId xmlns:p14="http://schemas.microsoft.com/office/powerpoint/2010/main" val="1062885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7483-8736-4F3D-83DB-706BDCBDE40C}"/>
              </a:ext>
            </a:extLst>
          </p:cNvPr>
          <p:cNvSpPr>
            <a:spLocks noGrp="1"/>
          </p:cNvSpPr>
          <p:nvPr>
            <p:ph type="title"/>
          </p:nvPr>
        </p:nvSpPr>
        <p:spPr/>
        <p:txBody>
          <a:bodyPr/>
          <a:lstStyle/>
          <a:p>
            <a:r>
              <a:rPr lang="en-MY" dirty="0"/>
              <a:t>Mission and vision of </a:t>
            </a:r>
            <a:r>
              <a:rPr lang="en-MY" dirty="0">
                <a:solidFill>
                  <a:srgbClr val="06B6D4"/>
                </a:solidFill>
              </a:rPr>
              <a:t>og it forensic services</a:t>
            </a:r>
          </a:p>
        </p:txBody>
      </p:sp>
      <p:pic>
        <p:nvPicPr>
          <p:cNvPr id="4" name="Picture 3" descr="image.png">
            <a:extLst>
              <a:ext uri="{FF2B5EF4-FFF2-40B4-BE49-F238E27FC236}">
                <a16:creationId xmlns:a16="http://schemas.microsoft.com/office/drawing/2014/main" id="{BC740BD9-3B07-4DEB-B8EB-577DD05EC306}"/>
              </a:ext>
            </a:extLst>
          </p:cNvPr>
          <p:cNvPicPr>
            <a:picLocks noChangeAspect="1"/>
          </p:cNvPicPr>
          <p:nvPr/>
        </p:nvPicPr>
        <p:blipFill>
          <a:blip r:embed="rId2"/>
          <a:stretch>
            <a:fillRect/>
          </a:stretch>
        </p:blipFill>
        <p:spPr>
          <a:xfrm>
            <a:off x="1983852" y="1992969"/>
            <a:ext cx="3486150" cy="4038600"/>
          </a:xfrm>
          <a:prstGeom prst="rect">
            <a:avLst/>
          </a:prstGeom>
        </p:spPr>
      </p:pic>
      <p:sp>
        <p:nvSpPr>
          <p:cNvPr id="5" name="TextBox 4">
            <a:extLst>
              <a:ext uri="{FF2B5EF4-FFF2-40B4-BE49-F238E27FC236}">
                <a16:creationId xmlns:a16="http://schemas.microsoft.com/office/drawing/2014/main" id="{6ED3DC2F-3420-42B2-B84D-75A536671BD0}"/>
              </a:ext>
            </a:extLst>
          </p:cNvPr>
          <p:cNvSpPr txBox="1"/>
          <p:nvPr/>
        </p:nvSpPr>
        <p:spPr>
          <a:xfrm>
            <a:off x="2100112" y="3607194"/>
            <a:ext cx="3253630" cy="1692771"/>
          </a:xfrm>
          <a:prstGeom prst="rect">
            <a:avLst/>
          </a:prstGeom>
          <a:noFill/>
        </p:spPr>
        <p:txBody>
          <a:bodyPr wrap="square" lIns="0" tIns="0" rIns="0" bIns="0" anchor="t">
            <a:spAutoFit/>
          </a:bodyPr>
          <a:lstStyle/>
          <a:p>
            <a:pPr marL="342900" indent="-342900">
              <a:buAutoNum type="arabicPeriod"/>
            </a:pPr>
            <a:r>
              <a:rPr lang="en-US" sz="1100" dirty="0"/>
              <a:t>To bring fraud, identity theft, and cybercrime to justice through the rigorous identification, collection, acquisition, and preservation of digital evidence.</a:t>
            </a:r>
          </a:p>
          <a:p>
            <a:pPr marL="342900" indent="-342900">
              <a:buAutoNum type="arabicPeriod"/>
            </a:pPr>
            <a:endParaRPr lang="en-US" sz="1100" dirty="0"/>
          </a:p>
          <a:p>
            <a:pPr marL="342900" indent="-342900">
              <a:buFontTx/>
              <a:buAutoNum type="arabicPeriod"/>
            </a:pPr>
            <a:r>
              <a:rPr lang="en-US" sz="1100" dirty="0"/>
              <a:t>To ensure absolute legal readiness by conducting every engagement with the strict purpose of producing admissible, court-ready digital evidence.</a:t>
            </a:r>
            <a:endParaRPr lang="en-US" sz="1100" i="0" u="none" dirty="0">
              <a:solidFill>
                <a:srgbClr val="94A3B8"/>
              </a:solidFill>
              <a:latin typeface="Inter"/>
            </a:endParaRPr>
          </a:p>
          <a:p>
            <a:endParaRPr lang="en-US" sz="1100" dirty="0"/>
          </a:p>
          <a:p>
            <a:endParaRPr lang="en-US" sz="1100" dirty="0"/>
          </a:p>
        </p:txBody>
      </p:sp>
      <p:pic>
        <p:nvPicPr>
          <p:cNvPr id="6" name="Picture 5" descr="image.png">
            <a:extLst>
              <a:ext uri="{FF2B5EF4-FFF2-40B4-BE49-F238E27FC236}">
                <a16:creationId xmlns:a16="http://schemas.microsoft.com/office/drawing/2014/main" id="{61A0A626-920F-42FD-B1D5-86261EC3F2A1}"/>
              </a:ext>
            </a:extLst>
          </p:cNvPr>
          <p:cNvPicPr>
            <a:picLocks noChangeAspect="1"/>
          </p:cNvPicPr>
          <p:nvPr/>
        </p:nvPicPr>
        <p:blipFill>
          <a:blip r:embed="rId2"/>
          <a:stretch>
            <a:fillRect/>
          </a:stretch>
        </p:blipFill>
        <p:spPr>
          <a:xfrm>
            <a:off x="6319537" y="1992969"/>
            <a:ext cx="3486150" cy="4038600"/>
          </a:xfrm>
          <a:prstGeom prst="rect">
            <a:avLst/>
          </a:prstGeom>
        </p:spPr>
      </p:pic>
      <p:sp>
        <p:nvSpPr>
          <p:cNvPr id="7" name="TextBox 6">
            <a:extLst>
              <a:ext uri="{FF2B5EF4-FFF2-40B4-BE49-F238E27FC236}">
                <a16:creationId xmlns:a16="http://schemas.microsoft.com/office/drawing/2014/main" id="{ED508239-8BEE-42D3-A3DB-C3E27AD763CE}"/>
              </a:ext>
            </a:extLst>
          </p:cNvPr>
          <p:cNvSpPr txBox="1"/>
          <p:nvPr/>
        </p:nvSpPr>
        <p:spPr>
          <a:xfrm>
            <a:off x="6447884" y="3607194"/>
            <a:ext cx="3229457" cy="1523494"/>
          </a:xfrm>
          <a:prstGeom prst="rect">
            <a:avLst/>
          </a:prstGeom>
          <a:noFill/>
        </p:spPr>
        <p:txBody>
          <a:bodyPr wrap="square" lIns="0" tIns="0" rIns="0" bIns="0" anchor="t">
            <a:spAutoFit/>
          </a:bodyPr>
          <a:lstStyle/>
          <a:p>
            <a:pPr marL="228600" indent="-228600">
              <a:buAutoNum type="arabicPeriod"/>
            </a:pPr>
            <a:r>
              <a:rPr lang="en-US" sz="1100" dirty="0"/>
              <a:t>To maintain the highest standard of evidence integrity by operating in full compliance with ISO/IEC 27037 standards for digital forensic investigations.</a:t>
            </a:r>
          </a:p>
          <a:p>
            <a:pPr marL="228600" indent="-228600">
              <a:buAutoNum type="arabicPeriod"/>
            </a:pPr>
            <a:endParaRPr lang="en-US" sz="1100" dirty="0"/>
          </a:p>
          <a:p>
            <a:pPr marL="228600" indent="-228600">
              <a:buFontTx/>
              <a:buAutoNum type="arabicPeriod"/>
            </a:pPr>
            <a:r>
              <a:rPr lang="en-US" sz="1100" dirty="0"/>
              <a:t>To serve as the most reliable digital forensic service provider, supporting litigation, incident response, and complex investigations across diverse global jurisdictions with undisputed expert testimony.</a:t>
            </a:r>
            <a:endParaRPr lang="en-US" sz="1100" i="0" u="none" dirty="0">
              <a:solidFill>
                <a:srgbClr val="94A3B8"/>
              </a:solidFill>
              <a:latin typeface="Inter"/>
            </a:endParaRPr>
          </a:p>
          <a:p>
            <a:endParaRPr lang="en-US" sz="1100" dirty="0"/>
          </a:p>
        </p:txBody>
      </p:sp>
      <p:sp>
        <p:nvSpPr>
          <p:cNvPr id="8" name="TextBox 7">
            <a:extLst>
              <a:ext uri="{FF2B5EF4-FFF2-40B4-BE49-F238E27FC236}">
                <a16:creationId xmlns:a16="http://schemas.microsoft.com/office/drawing/2014/main" id="{FABBFB81-856C-4224-92C1-35BD2A7DDEB1}"/>
              </a:ext>
            </a:extLst>
          </p:cNvPr>
          <p:cNvSpPr txBox="1"/>
          <p:nvPr/>
        </p:nvSpPr>
        <p:spPr>
          <a:xfrm>
            <a:off x="2786809" y="2785520"/>
            <a:ext cx="1880235" cy="323165"/>
          </a:xfrm>
          <a:prstGeom prst="rect">
            <a:avLst/>
          </a:prstGeom>
          <a:noFill/>
        </p:spPr>
        <p:txBody>
          <a:bodyPr wrap="square" lIns="0" tIns="0" rIns="0" bIns="0" anchor="t">
            <a:spAutoFit/>
          </a:bodyPr>
          <a:lstStyle/>
          <a:p>
            <a:pPr algn="ctr"/>
            <a:r>
              <a:rPr lang="en-MY" sz="2100" b="1" i="0" u="none" dirty="0">
                <a:solidFill>
                  <a:srgbClr val="06B6D4"/>
                </a:solidFill>
                <a:latin typeface="Space Grotesk"/>
              </a:rPr>
              <a:t>Mission</a:t>
            </a:r>
            <a:endParaRPr sz="2100" b="1" i="0" u="none" dirty="0">
              <a:solidFill>
                <a:srgbClr val="06B6D4"/>
              </a:solidFill>
              <a:latin typeface="Space Grotesk"/>
            </a:endParaRPr>
          </a:p>
        </p:txBody>
      </p:sp>
      <p:sp>
        <p:nvSpPr>
          <p:cNvPr id="9" name="TextBox 8">
            <a:extLst>
              <a:ext uri="{FF2B5EF4-FFF2-40B4-BE49-F238E27FC236}">
                <a16:creationId xmlns:a16="http://schemas.microsoft.com/office/drawing/2014/main" id="{C95D7467-287D-429C-8AE9-76ED61552F4C}"/>
              </a:ext>
            </a:extLst>
          </p:cNvPr>
          <p:cNvSpPr txBox="1"/>
          <p:nvPr/>
        </p:nvSpPr>
        <p:spPr>
          <a:xfrm>
            <a:off x="7072488" y="2765785"/>
            <a:ext cx="1980247" cy="323165"/>
          </a:xfrm>
          <a:prstGeom prst="rect">
            <a:avLst/>
          </a:prstGeom>
          <a:noFill/>
        </p:spPr>
        <p:txBody>
          <a:bodyPr wrap="square" lIns="0" tIns="0" rIns="0" bIns="0" anchor="t">
            <a:spAutoFit/>
          </a:bodyPr>
          <a:lstStyle/>
          <a:p>
            <a:pPr algn="ctr"/>
            <a:r>
              <a:rPr lang="en-MY" sz="2100" b="1" i="0" u="none" dirty="0">
                <a:solidFill>
                  <a:srgbClr val="06B6D4"/>
                </a:solidFill>
                <a:latin typeface="Space Grotesk"/>
              </a:rPr>
              <a:t>Goal</a:t>
            </a:r>
            <a:endParaRPr sz="2100" b="1" i="0" u="none" dirty="0">
              <a:solidFill>
                <a:srgbClr val="06B6D4"/>
              </a:solidFill>
              <a:latin typeface="Space Grotesk"/>
            </a:endParaRPr>
          </a:p>
        </p:txBody>
      </p:sp>
    </p:spTree>
    <p:extLst>
      <p:ext uri="{BB962C8B-B14F-4D97-AF65-F5344CB8AC3E}">
        <p14:creationId xmlns:p14="http://schemas.microsoft.com/office/powerpoint/2010/main" val="20738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0C797E-ABF7-4B73-A5D1-683B34A80774}"/>
              </a:ext>
            </a:extLst>
          </p:cNvPr>
          <p:cNvSpPr txBox="1"/>
          <p:nvPr/>
        </p:nvSpPr>
        <p:spPr>
          <a:xfrm>
            <a:off x="685801" y="899329"/>
            <a:ext cx="11431428" cy="533400"/>
          </a:xfrm>
          <a:prstGeom prst="rect">
            <a:avLst/>
          </a:prstGeom>
          <a:noFill/>
        </p:spPr>
        <p:txBody>
          <a:bodyPr wrap="square" lIns="0" tIns="0" rIns="0" bIns="0" anchor="t">
            <a:spAutoFit/>
          </a:bodyPr>
          <a:lstStyle/>
          <a:p>
            <a:pPr algn="l"/>
            <a:r>
              <a:rPr sz="3300" b="1" i="0" u="none" dirty="0">
                <a:solidFill>
                  <a:srgbClr val="F8FAFC"/>
                </a:solidFill>
                <a:latin typeface="Space Grotesk"/>
              </a:rPr>
              <a:t>Core Forensic </a:t>
            </a:r>
            <a:r>
              <a:rPr sz="3300" b="1" i="0" u="none" dirty="0">
                <a:solidFill>
                  <a:srgbClr val="06B6D4"/>
                </a:solidFill>
                <a:latin typeface="Space Grotesk"/>
              </a:rPr>
              <a:t>Capabilities</a:t>
            </a:r>
          </a:p>
        </p:txBody>
      </p:sp>
      <p:sp>
        <p:nvSpPr>
          <p:cNvPr id="5" name="Rectangle 4">
            <a:extLst>
              <a:ext uri="{FF2B5EF4-FFF2-40B4-BE49-F238E27FC236}">
                <a16:creationId xmlns:a16="http://schemas.microsoft.com/office/drawing/2014/main" id="{3C9B9752-C704-4D73-BFE7-004E01080CA0}"/>
              </a:ext>
            </a:extLst>
          </p:cNvPr>
          <p:cNvSpPr/>
          <p:nvPr/>
        </p:nvSpPr>
        <p:spPr>
          <a:xfrm>
            <a:off x="536054" y="899329"/>
            <a:ext cx="57150" cy="5334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8" name="Picture 7" descr="image.png">
            <a:extLst>
              <a:ext uri="{FF2B5EF4-FFF2-40B4-BE49-F238E27FC236}">
                <a16:creationId xmlns:a16="http://schemas.microsoft.com/office/drawing/2014/main" id="{91A78F8A-D1ED-480D-A0B8-BB0B366A89BB}"/>
              </a:ext>
            </a:extLst>
          </p:cNvPr>
          <p:cNvPicPr>
            <a:picLocks noChangeAspect="1"/>
          </p:cNvPicPr>
          <p:nvPr/>
        </p:nvPicPr>
        <p:blipFill>
          <a:blip r:embed="rId2"/>
          <a:stretch>
            <a:fillRect/>
          </a:stretch>
        </p:blipFill>
        <p:spPr>
          <a:xfrm>
            <a:off x="536054" y="1920071"/>
            <a:ext cx="3486150" cy="4038600"/>
          </a:xfrm>
          <a:prstGeom prst="rect">
            <a:avLst/>
          </a:prstGeom>
        </p:spPr>
      </p:pic>
      <p:sp>
        <p:nvSpPr>
          <p:cNvPr id="9" name="TextBox 8">
            <a:extLst>
              <a:ext uri="{FF2B5EF4-FFF2-40B4-BE49-F238E27FC236}">
                <a16:creationId xmlns:a16="http://schemas.microsoft.com/office/drawing/2014/main" id="{60D6CA00-749E-4484-A634-D57DE2FEFADC}"/>
              </a:ext>
            </a:extLst>
          </p:cNvPr>
          <p:cNvSpPr txBox="1"/>
          <p:nvPr/>
        </p:nvSpPr>
        <p:spPr>
          <a:xfrm>
            <a:off x="831327" y="3429000"/>
            <a:ext cx="2895600" cy="1828800"/>
          </a:xfrm>
          <a:prstGeom prst="rect">
            <a:avLst/>
          </a:prstGeom>
          <a:noFill/>
        </p:spPr>
        <p:txBody>
          <a:bodyPr wrap="square" lIns="0" tIns="0" rIns="0" bIns="0" anchor="t">
            <a:spAutoFit/>
          </a:bodyPr>
          <a:lstStyle/>
          <a:p>
            <a:pPr algn="ctr">
              <a:lnSpc>
                <a:spcPts val="2400"/>
              </a:lnSpc>
            </a:pPr>
            <a:r>
              <a:rPr sz="1500" b="0" i="0" u="none" dirty="0">
                <a:solidFill>
                  <a:srgbClr val="94A3B8"/>
                </a:solidFill>
                <a:latin typeface="Inter"/>
              </a:rPr>
              <a:t>Investigating Business Email Compromise (BEC), insider threats, money laundering, intellectual property theft, and sophisticated corporate espionage.</a:t>
            </a:r>
          </a:p>
        </p:txBody>
      </p:sp>
      <p:sp>
        <p:nvSpPr>
          <p:cNvPr id="10" name="TextBox 9">
            <a:extLst>
              <a:ext uri="{FF2B5EF4-FFF2-40B4-BE49-F238E27FC236}">
                <a16:creationId xmlns:a16="http://schemas.microsoft.com/office/drawing/2014/main" id="{F5CE5B71-F842-40C3-9EBE-4D3EFCBC6D2E}"/>
              </a:ext>
            </a:extLst>
          </p:cNvPr>
          <p:cNvSpPr txBox="1"/>
          <p:nvPr/>
        </p:nvSpPr>
        <p:spPr>
          <a:xfrm>
            <a:off x="1339010" y="3057525"/>
            <a:ext cx="1880235" cy="342900"/>
          </a:xfrm>
          <a:prstGeom prst="rect">
            <a:avLst/>
          </a:prstGeom>
          <a:noFill/>
        </p:spPr>
        <p:txBody>
          <a:bodyPr wrap="square" lIns="0" tIns="0" rIns="0" bIns="0" anchor="t">
            <a:spAutoFit/>
          </a:bodyPr>
          <a:lstStyle/>
          <a:p>
            <a:pPr algn="ctr"/>
            <a:r>
              <a:rPr sz="2100" b="1" i="0" u="none" dirty="0">
                <a:solidFill>
                  <a:srgbClr val="F8FAFC"/>
                </a:solidFill>
                <a:latin typeface="Space Grotesk"/>
              </a:rPr>
              <a:t>Cyber &amp; Fraud</a:t>
            </a:r>
          </a:p>
        </p:txBody>
      </p:sp>
      <p:pic>
        <p:nvPicPr>
          <p:cNvPr id="11" name="Picture 10" descr="image.png">
            <a:extLst>
              <a:ext uri="{FF2B5EF4-FFF2-40B4-BE49-F238E27FC236}">
                <a16:creationId xmlns:a16="http://schemas.microsoft.com/office/drawing/2014/main" id="{6170D050-1A03-42FD-B3BB-A4CC72527402}"/>
              </a:ext>
            </a:extLst>
          </p:cNvPr>
          <p:cNvPicPr>
            <a:picLocks noChangeAspect="1"/>
          </p:cNvPicPr>
          <p:nvPr/>
        </p:nvPicPr>
        <p:blipFill>
          <a:blip r:embed="rId3"/>
          <a:stretch>
            <a:fillRect/>
          </a:stretch>
        </p:blipFill>
        <p:spPr>
          <a:xfrm>
            <a:off x="2051250" y="2305050"/>
            <a:ext cx="571500" cy="457200"/>
          </a:xfrm>
          <a:prstGeom prst="rect">
            <a:avLst/>
          </a:prstGeom>
        </p:spPr>
      </p:pic>
      <p:pic>
        <p:nvPicPr>
          <p:cNvPr id="12" name="Picture 11" descr="image.png">
            <a:extLst>
              <a:ext uri="{FF2B5EF4-FFF2-40B4-BE49-F238E27FC236}">
                <a16:creationId xmlns:a16="http://schemas.microsoft.com/office/drawing/2014/main" id="{C423A096-243D-4654-81FB-729FC8B03B49}"/>
              </a:ext>
            </a:extLst>
          </p:cNvPr>
          <p:cNvPicPr>
            <a:picLocks noChangeAspect="1"/>
          </p:cNvPicPr>
          <p:nvPr/>
        </p:nvPicPr>
        <p:blipFill>
          <a:blip r:embed="rId4"/>
          <a:stretch>
            <a:fillRect/>
          </a:stretch>
        </p:blipFill>
        <p:spPr>
          <a:xfrm>
            <a:off x="4370648" y="1914405"/>
            <a:ext cx="3486150" cy="4038600"/>
          </a:xfrm>
          <a:prstGeom prst="rect">
            <a:avLst/>
          </a:prstGeom>
        </p:spPr>
      </p:pic>
      <p:pic>
        <p:nvPicPr>
          <p:cNvPr id="13" name="Picture 12" descr="image.png">
            <a:extLst>
              <a:ext uri="{FF2B5EF4-FFF2-40B4-BE49-F238E27FC236}">
                <a16:creationId xmlns:a16="http://schemas.microsoft.com/office/drawing/2014/main" id="{0B612CA4-2AE3-45D8-88C2-B9F12F65B00B}"/>
              </a:ext>
            </a:extLst>
          </p:cNvPr>
          <p:cNvPicPr>
            <a:picLocks noChangeAspect="1"/>
          </p:cNvPicPr>
          <p:nvPr/>
        </p:nvPicPr>
        <p:blipFill>
          <a:blip r:embed="rId4"/>
          <a:stretch>
            <a:fillRect/>
          </a:stretch>
        </p:blipFill>
        <p:spPr>
          <a:xfrm>
            <a:off x="8169796" y="1914405"/>
            <a:ext cx="3486150" cy="4038600"/>
          </a:xfrm>
          <a:prstGeom prst="rect">
            <a:avLst/>
          </a:prstGeom>
        </p:spPr>
      </p:pic>
      <p:pic>
        <p:nvPicPr>
          <p:cNvPr id="14" name="Picture 13" descr="image.png">
            <a:extLst>
              <a:ext uri="{FF2B5EF4-FFF2-40B4-BE49-F238E27FC236}">
                <a16:creationId xmlns:a16="http://schemas.microsoft.com/office/drawing/2014/main" id="{F3CCB9C3-BC9C-476F-BD73-109C13B1960C}"/>
              </a:ext>
            </a:extLst>
          </p:cNvPr>
          <p:cNvPicPr>
            <a:picLocks noChangeAspect="1"/>
          </p:cNvPicPr>
          <p:nvPr/>
        </p:nvPicPr>
        <p:blipFill>
          <a:blip r:embed="rId5"/>
          <a:stretch>
            <a:fillRect/>
          </a:stretch>
        </p:blipFill>
        <p:spPr>
          <a:xfrm>
            <a:off x="5924550" y="2305050"/>
            <a:ext cx="342900" cy="457200"/>
          </a:xfrm>
          <a:prstGeom prst="rect">
            <a:avLst/>
          </a:prstGeom>
        </p:spPr>
      </p:pic>
      <p:pic>
        <p:nvPicPr>
          <p:cNvPr id="15" name="Picture 14" descr="image.png">
            <a:extLst>
              <a:ext uri="{FF2B5EF4-FFF2-40B4-BE49-F238E27FC236}">
                <a16:creationId xmlns:a16="http://schemas.microsoft.com/office/drawing/2014/main" id="{2CCA36B9-0161-4F2B-9B86-144DFBE5483B}"/>
              </a:ext>
            </a:extLst>
          </p:cNvPr>
          <p:cNvPicPr>
            <a:picLocks noChangeAspect="1"/>
          </p:cNvPicPr>
          <p:nvPr/>
        </p:nvPicPr>
        <p:blipFill>
          <a:blip r:embed="rId6"/>
          <a:stretch>
            <a:fillRect/>
          </a:stretch>
        </p:blipFill>
        <p:spPr>
          <a:xfrm>
            <a:off x="9639300" y="2305050"/>
            <a:ext cx="457200" cy="457200"/>
          </a:xfrm>
          <a:prstGeom prst="rect">
            <a:avLst/>
          </a:prstGeom>
        </p:spPr>
      </p:pic>
      <p:sp>
        <p:nvSpPr>
          <p:cNvPr id="17" name="TextBox 16">
            <a:extLst>
              <a:ext uri="{FF2B5EF4-FFF2-40B4-BE49-F238E27FC236}">
                <a16:creationId xmlns:a16="http://schemas.microsoft.com/office/drawing/2014/main" id="{95B16056-7798-4B41-98F4-9FE6DF73FB5A}"/>
              </a:ext>
            </a:extLst>
          </p:cNvPr>
          <p:cNvSpPr txBox="1"/>
          <p:nvPr/>
        </p:nvSpPr>
        <p:spPr>
          <a:xfrm>
            <a:off x="4648200" y="3543300"/>
            <a:ext cx="2895600" cy="1524000"/>
          </a:xfrm>
          <a:prstGeom prst="rect">
            <a:avLst/>
          </a:prstGeom>
          <a:noFill/>
        </p:spPr>
        <p:txBody>
          <a:bodyPr wrap="square" lIns="0" tIns="0" rIns="0" bIns="0" anchor="t">
            <a:spAutoFit/>
          </a:bodyPr>
          <a:lstStyle/>
          <a:p>
            <a:pPr algn="ctr">
              <a:lnSpc>
                <a:spcPts val="2400"/>
              </a:lnSpc>
            </a:pPr>
            <a:r>
              <a:rPr sz="1500" b="0" i="0" u="none" dirty="0">
                <a:solidFill>
                  <a:srgbClr val="94A3B8"/>
                </a:solidFill>
                <a:latin typeface="Inter"/>
              </a:rPr>
              <a:t>Specialized extraction of crucial evidence from mobile devices, cloud storage, encrypted messaging apps, and recovery of digital assets.</a:t>
            </a:r>
          </a:p>
        </p:txBody>
      </p:sp>
      <p:sp>
        <p:nvSpPr>
          <p:cNvPr id="19" name="TextBox 18">
            <a:extLst>
              <a:ext uri="{FF2B5EF4-FFF2-40B4-BE49-F238E27FC236}">
                <a16:creationId xmlns:a16="http://schemas.microsoft.com/office/drawing/2014/main" id="{463A0765-5979-415D-A5E1-B5036EAA4C70}"/>
              </a:ext>
            </a:extLst>
          </p:cNvPr>
          <p:cNvSpPr txBox="1"/>
          <p:nvPr/>
        </p:nvSpPr>
        <p:spPr>
          <a:xfrm>
            <a:off x="5105876" y="3057525"/>
            <a:ext cx="1980247" cy="342900"/>
          </a:xfrm>
          <a:prstGeom prst="rect">
            <a:avLst/>
          </a:prstGeom>
          <a:noFill/>
        </p:spPr>
        <p:txBody>
          <a:bodyPr wrap="square" lIns="0" tIns="0" rIns="0" bIns="0" anchor="t">
            <a:spAutoFit/>
          </a:bodyPr>
          <a:lstStyle/>
          <a:p>
            <a:pPr algn="ctr"/>
            <a:r>
              <a:rPr sz="2100" b="1" i="0" u="none" dirty="0">
                <a:solidFill>
                  <a:srgbClr val="F8FAFC"/>
                </a:solidFill>
                <a:latin typeface="Space Grotesk"/>
              </a:rPr>
              <a:t>Mobile &amp; Cloud</a:t>
            </a:r>
          </a:p>
        </p:txBody>
      </p:sp>
      <p:sp>
        <p:nvSpPr>
          <p:cNvPr id="20" name="TextBox 19">
            <a:extLst>
              <a:ext uri="{FF2B5EF4-FFF2-40B4-BE49-F238E27FC236}">
                <a16:creationId xmlns:a16="http://schemas.microsoft.com/office/drawing/2014/main" id="{68C126A2-E122-4035-A826-62CE175E9C5E}"/>
              </a:ext>
            </a:extLst>
          </p:cNvPr>
          <p:cNvSpPr txBox="1"/>
          <p:nvPr/>
        </p:nvSpPr>
        <p:spPr>
          <a:xfrm>
            <a:off x="8727757" y="3057525"/>
            <a:ext cx="2280285" cy="342900"/>
          </a:xfrm>
          <a:prstGeom prst="rect">
            <a:avLst/>
          </a:prstGeom>
          <a:noFill/>
        </p:spPr>
        <p:txBody>
          <a:bodyPr wrap="square" lIns="0" tIns="0" rIns="0" bIns="0" anchor="t">
            <a:spAutoFit/>
          </a:bodyPr>
          <a:lstStyle/>
          <a:p>
            <a:pPr algn="ctr"/>
            <a:r>
              <a:rPr sz="2100" b="1" i="0" u="none" dirty="0">
                <a:solidFill>
                  <a:srgbClr val="F8FAFC"/>
                </a:solidFill>
                <a:latin typeface="Space Grotesk"/>
              </a:rPr>
              <a:t>Crypto Forensics</a:t>
            </a:r>
          </a:p>
        </p:txBody>
      </p:sp>
      <p:sp>
        <p:nvSpPr>
          <p:cNvPr id="21" name="TextBox 20">
            <a:extLst>
              <a:ext uri="{FF2B5EF4-FFF2-40B4-BE49-F238E27FC236}">
                <a16:creationId xmlns:a16="http://schemas.microsoft.com/office/drawing/2014/main" id="{1EADD3CA-DBD8-4A99-8974-F289C34E11DF}"/>
              </a:ext>
            </a:extLst>
          </p:cNvPr>
          <p:cNvSpPr txBox="1"/>
          <p:nvPr/>
        </p:nvSpPr>
        <p:spPr>
          <a:xfrm>
            <a:off x="8420099" y="3543300"/>
            <a:ext cx="2895600" cy="1828800"/>
          </a:xfrm>
          <a:prstGeom prst="rect">
            <a:avLst/>
          </a:prstGeom>
          <a:noFill/>
        </p:spPr>
        <p:txBody>
          <a:bodyPr wrap="square" lIns="0" tIns="0" rIns="0" bIns="0" anchor="t">
            <a:spAutoFit/>
          </a:bodyPr>
          <a:lstStyle/>
          <a:p>
            <a:pPr algn="ctr">
              <a:lnSpc>
                <a:spcPts val="2400"/>
              </a:lnSpc>
            </a:pPr>
            <a:r>
              <a:rPr sz="1500" b="0" i="0" u="none" dirty="0">
                <a:solidFill>
                  <a:srgbClr val="94A3B8"/>
                </a:solidFill>
                <a:latin typeface="Inter"/>
              </a:rPr>
              <a:t>Tracing and proving crypto-related crime, analyzing blockchain transactions, investigating </a:t>
            </a:r>
            <a:r>
              <a:rPr sz="1500" b="0" i="0" u="none" dirty="0" err="1">
                <a:solidFill>
                  <a:srgbClr val="94A3B8"/>
                </a:solidFill>
                <a:latin typeface="Inter"/>
              </a:rPr>
              <a:t>DeFi</a:t>
            </a:r>
            <a:r>
              <a:rPr sz="1500" b="0" i="0" u="none" dirty="0">
                <a:solidFill>
                  <a:srgbClr val="94A3B8"/>
                </a:solidFill>
                <a:latin typeface="Inter"/>
              </a:rPr>
              <a:t> exploits, and recovering stolen digital assets.</a:t>
            </a:r>
          </a:p>
        </p:txBody>
      </p:sp>
    </p:spTree>
    <p:extLst>
      <p:ext uri="{BB962C8B-B14F-4D97-AF65-F5344CB8AC3E}">
        <p14:creationId xmlns:p14="http://schemas.microsoft.com/office/powerpoint/2010/main" val="2667530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2E2453-965B-4AA4-B48A-56461305D169}"/>
              </a:ext>
            </a:extLst>
          </p:cNvPr>
          <p:cNvSpPr txBox="1"/>
          <p:nvPr/>
        </p:nvSpPr>
        <p:spPr>
          <a:xfrm>
            <a:off x="723900" y="581025"/>
            <a:ext cx="11431428" cy="533400"/>
          </a:xfrm>
          <a:prstGeom prst="rect">
            <a:avLst/>
          </a:prstGeom>
          <a:noFill/>
        </p:spPr>
        <p:txBody>
          <a:bodyPr wrap="square" lIns="0" tIns="0" rIns="0" bIns="0" anchor="t">
            <a:spAutoFit/>
          </a:bodyPr>
          <a:lstStyle/>
          <a:p>
            <a:pPr algn="l"/>
            <a:r>
              <a:rPr sz="3300" b="1" i="0" u="none" dirty="0">
                <a:solidFill>
                  <a:srgbClr val="F8FAFC"/>
                </a:solidFill>
                <a:latin typeface="Space Grotesk"/>
              </a:rPr>
              <a:t>Advanced </a:t>
            </a:r>
            <a:r>
              <a:rPr sz="3300" b="1" i="0" u="none" dirty="0">
                <a:solidFill>
                  <a:srgbClr val="06B6D4"/>
                </a:solidFill>
                <a:latin typeface="Space Grotesk"/>
              </a:rPr>
              <a:t>Investigation Domains</a:t>
            </a:r>
          </a:p>
        </p:txBody>
      </p:sp>
      <p:sp>
        <p:nvSpPr>
          <p:cNvPr id="5" name="Rectangle 4">
            <a:extLst>
              <a:ext uri="{FF2B5EF4-FFF2-40B4-BE49-F238E27FC236}">
                <a16:creationId xmlns:a16="http://schemas.microsoft.com/office/drawing/2014/main" id="{2F135950-10D6-48A2-9196-DC49B8B8CA9B}"/>
              </a:ext>
            </a:extLst>
          </p:cNvPr>
          <p:cNvSpPr/>
          <p:nvPr/>
        </p:nvSpPr>
        <p:spPr>
          <a:xfrm>
            <a:off x="581025" y="581025"/>
            <a:ext cx="57150" cy="5334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a:extLst>
              <a:ext uri="{FF2B5EF4-FFF2-40B4-BE49-F238E27FC236}">
                <a16:creationId xmlns:a16="http://schemas.microsoft.com/office/drawing/2014/main" id="{81D2FE7A-2624-4B12-8F11-9CE909FD88F5}"/>
              </a:ext>
            </a:extLst>
          </p:cNvPr>
          <p:cNvPicPr>
            <a:picLocks noChangeAspect="1"/>
          </p:cNvPicPr>
          <p:nvPr/>
        </p:nvPicPr>
        <p:blipFill>
          <a:blip r:embed="rId2"/>
          <a:stretch>
            <a:fillRect/>
          </a:stretch>
        </p:blipFill>
        <p:spPr>
          <a:xfrm>
            <a:off x="581025" y="2195512"/>
            <a:ext cx="5276850" cy="3381375"/>
          </a:xfrm>
          <a:prstGeom prst="rect">
            <a:avLst/>
          </a:prstGeom>
        </p:spPr>
      </p:pic>
      <p:sp>
        <p:nvSpPr>
          <p:cNvPr id="8" name="TextBox 7">
            <a:extLst>
              <a:ext uri="{FF2B5EF4-FFF2-40B4-BE49-F238E27FC236}">
                <a16:creationId xmlns:a16="http://schemas.microsoft.com/office/drawing/2014/main" id="{CD1BAEB8-7B40-47F2-8430-BD69DC6CFCBD}"/>
              </a:ext>
            </a:extLst>
          </p:cNvPr>
          <p:cNvSpPr txBox="1"/>
          <p:nvPr/>
        </p:nvSpPr>
        <p:spPr>
          <a:xfrm>
            <a:off x="859154" y="2586037"/>
            <a:ext cx="4720590" cy="342900"/>
          </a:xfrm>
          <a:prstGeom prst="rect">
            <a:avLst/>
          </a:prstGeom>
          <a:noFill/>
        </p:spPr>
        <p:txBody>
          <a:bodyPr wrap="square" lIns="0" tIns="0" rIns="0" bIns="0" anchor="t">
            <a:spAutoFit/>
          </a:bodyPr>
          <a:lstStyle/>
          <a:p>
            <a:pPr algn="ctr"/>
            <a:r>
              <a:rPr sz="2100" b="1" i="0" u="none" dirty="0">
                <a:solidFill>
                  <a:srgbClr val="06B6D4"/>
                </a:solidFill>
                <a:latin typeface="Space Grotesk"/>
              </a:rPr>
              <a:t>Multimedia &amp; Dark Web</a:t>
            </a:r>
          </a:p>
        </p:txBody>
      </p:sp>
      <p:sp>
        <p:nvSpPr>
          <p:cNvPr id="9" name="TextBox 8">
            <a:extLst>
              <a:ext uri="{FF2B5EF4-FFF2-40B4-BE49-F238E27FC236}">
                <a16:creationId xmlns:a16="http://schemas.microsoft.com/office/drawing/2014/main" id="{F4751067-A9F9-425A-8F72-D7F63A37DBBB}"/>
              </a:ext>
            </a:extLst>
          </p:cNvPr>
          <p:cNvSpPr txBox="1"/>
          <p:nvPr/>
        </p:nvSpPr>
        <p:spPr>
          <a:xfrm>
            <a:off x="971550" y="3071812"/>
            <a:ext cx="4495800" cy="914400"/>
          </a:xfrm>
          <a:prstGeom prst="rect">
            <a:avLst/>
          </a:prstGeom>
          <a:noFill/>
        </p:spPr>
        <p:txBody>
          <a:bodyPr wrap="square" lIns="0" tIns="0" rIns="0" bIns="0" anchor="t">
            <a:spAutoFit/>
          </a:bodyPr>
          <a:lstStyle/>
          <a:p>
            <a:pPr algn="ctr">
              <a:lnSpc>
                <a:spcPts val="2400"/>
              </a:lnSpc>
            </a:pPr>
            <a:r>
              <a:rPr sz="1500" b="0" i="0" u="none" dirty="0">
                <a:solidFill>
                  <a:srgbClr val="94A3B8"/>
                </a:solidFill>
                <a:latin typeface="Inter"/>
              </a:rPr>
              <a:t>Beyond traditional devices, we provide rigorous authentication and analysis of audio, video, and photographs.</a:t>
            </a:r>
          </a:p>
        </p:txBody>
      </p:sp>
      <p:sp>
        <p:nvSpPr>
          <p:cNvPr id="10" name="TextBox 9">
            <a:extLst>
              <a:ext uri="{FF2B5EF4-FFF2-40B4-BE49-F238E27FC236}">
                <a16:creationId xmlns:a16="http://schemas.microsoft.com/office/drawing/2014/main" id="{7DA4A90C-C141-488A-9574-AE04BE600489}"/>
              </a:ext>
            </a:extLst>
          </p:cNvPr>
          <p:cNvSpPr txBox="1"/>
          <p:nvPr/>
        </p:nvSpPr>
        <p:spPr>
          <a:xfrm>
            <a:off x="971550" y="4129087"/>
            <a:ext cx="4495800" cy="914400"/>
          </a:xfrm>
          <a:prstGeom prst="rect">
            <a:avLst/>
          </a:prstGeom>
          <a:noFill/>
        </p:spPr>
        <p:txBody>
          <a:bodyPr wrap="square" lIns="0" tIns="0" rIns="0" bIns="0" anchor="t">
            <a:spAutoFit/>
          </a:bodyPr>
          <a:lstStyle/>
          <a:p>
            <a:pPr algn="ctr">
              <a:lnSpc>
                <a:spcPts val="2400"/>
              </a:lnSpc>
            </a:pPr>
            <a:r>
              <a:rPr sz="1500" b="0" i="0" u="none" dirty="0">
                <a:solidFill>
                  <a:srgbClr val="94A3B8"/>
                </a:solidFill>
                <a:latin typeface="Inter"/>
              </a:rPr>
              <a:t>Our threat intelligence actively tracks malicious actors, data breaches, and illegal activity across hidden networks and the Dark Web.</a:t>
            </a:r>
          </a:p>
        </p:txBody>
      </p:sp>
      <p:pic>
        <p:nvPicPr>
          <p:cNvPr id="11" name="Picture 10" descr="image.png">
            <a:extLst>
              <a:ext uri="{FF2B5EF4-FFF2-40B4-BE49-F238E27FC236}">
                <a16:creationId xmlns:a16="http://schemas.microsoft.com/office/drawing/2014/main" id="{7041A8B4-76F4-4989-8992-581C441C292F}"/>
              </a:ext>
            </a:extLst>
          </p:cNvPr>
          <p:cNvPicPr>
            <a:picLocks noChangeAspect="1"/>
          </p:cNvPicPr>
          <p:nvPr/>
        </p:nvPicPr>
        <p:blipFill>
          <a:blip r:embed="rId3"/>
          <a:stretch>
            <a:fillRect/>
          </a:stretch>
        </p:blipFill>
        <p:spPr>
          <a:xfrm>
            <a:off x="6334125" y="2195512"/>
            <a:ext cx="5276850" cy="3381375"/>
          </a:xfrm>
          <a:prstGeom prst="rect">
            <a:avLst/>
          </a:prstGeom>
        </p:spPr>
      </p:pic>
      <p:sp>
        <p:nvSpPr>
          <p:cNvPr id="12" name="TextBox 11">
            <a:extLst>
              <a:ext uri="{FF2B5EF4-FFF2-40B4-BE49-F238E27FC236}">
                <a16:creationId xmlns:a16="http://schemas.microsoft.com/office/drawing/2014/main" id="{615A15BF-63B8-4FFD-9258-AA9C53E1E602}"/>
              </a:ext>
            </a:extLst>
          </p:cNvPr>
          <p:cNvSpPr txBox="1"/>
          <p:nvPr/>
        </p:nvSpPr>
        <p:spPr>
          <a:xfrm>
            <a:off x="6612255" y="2586037"/>
            <a:ext cx="4720590" cy="342900"/>
          </a:xfrm>
          <a:prstGeom prst="rect">
            <a:avLst/>
          </a:prstGeom>
          <a:noFill/>
        </p:spPr>
        <p:txBody>
          <a:bodyPr wrap="square" lIns="0" tIns="0" rIns="0" bIns="0" anchor="t">
            <a:spAutoFit/>
          </a:bodyPr>
          <a:lstStyle/>
          <a:p>
            <a:pPr algn="ctr"/>
            <a:r>
              <a:rPr sz="2100" b="1" i="0" u="none" dirty="0">
                <a:solidFill>
                  <a:srgbClr val="06B6D4"/>
                </a:solidFill>
                <a:latin typeface="Space Grotesk"/>
              </a:rPr>
              <a:t>Emerging Technologies</a:t>
            </a:r>
          </a:p>
        </p:txBody>
      </p:sp>
      <p:sp>
        <p:nvSpPr>
          <p:cNvPr id="13" name="TextBox 12">
            <a:extLst>
              <a:ext uri="{FF2B5EF4-FFF2-40B4-BE49-F238E27FC236}">
                <a16:creationId xmlns:a16="http://schemas.microsoft.com/office/drawing/2014/main" id="{1EDD0581-F9DC-407B-A3D0-3BE7E0C5D0D4}"/>
              </a:ext>
            </a:extLst>
          </p:cNvPr>
          <p:cNvSpPr txBox="1"/>
          <p:nvPr/>
        </p:nvSpPr>
        <p:spPr>
          <a:xfrm>
            <a:off x="6724650" y="3071812"/>
            <a:ext cx="4495800" cy="914400"/>
          </a:xfrm>
          <a:prstGeom prst="rect">
            <a:avLst/>
          </a:prstGeom>
          <a:noFill/>
        </p:spPr>
        <p:txBody>
          <a:bodyPr wrap="square" lIns="0" tIns="0" rIns="0" bIns="0" anchor="t">
            <a:spAutoFit/>
          </a:bodyPr>
          <a:lstStyle/>
          <a:p>
            <a:pPr algn="ctr">
              <a:lnSpc>
                <a:spcPts val="2400"/>
              </a:lnSpc>
            </a:pPr>
            <a:r>
              <a:rPr sz="1500" b="0" i="0" u="none" dirty="0">
                <a:solidFill>
                  <a:srgbClr val="94A3B8"/>
                </a:solidFill>
                <a:latin typeface="Inter"/>
              </a:rPr>
              <a:t>The digital landscape is rapidly evolving. We examine digital footprints left by cutting-edge automated systems.</a:t>
            </a:r>
          </a:p>
        </p:txBody>
      </p:sp>
      <p:sp>
        <p:nvSpPr>
          <p:cNvPr id="14" name="TextBox 13">
            <a:extLst>
              <a:ext uri="{FF2B5EF4-FFF2-40B4-BE49-F238E27FC236}">
                <a16:creationId xmlns:a16="http://schemas.microsoft.com/office/drawing/2014/main" id="{DC01ACC6-94D0-4291-A258-278455C6EF0A}"/>
              </a:ext>
            </a:extLst>
          </p:cNvPr>
          <p:cNvSpPr txBox="1"/>
          <p:nvPr/>
        </p:nvSpPr>
        <p:spPr>
          <a:xfrm>
            <a:off x="6724650" y="4129087"/>
            <a:ext cx="4495800" cy="914400"/>
          </a:xfrm>
          <a:prstGeom prst="rect">
            <a:avLst/>
          </a:prstGeom>
          <a:noFill/>
        </p:spPr>
        <p:txBody>
          <a:bodyPr wrap="square" lIns="0" tIns="0" rIns="0" bIns="0" anchor="t">
            <a:spAutoFit/>
          </a:bodyPr>
          <a:lstStyle/>
          <a:p>
            <a:pPr algn="ctr">
              <a:lnSpc>
                <a:spcPts val="2400"/>
              </a:lnSpc>
            </a:pPr>
            <a:r>
              <a:rPr sz="1500" b="0" i="0" u="none" dirty="0">
                <a:solidFill>
                  <a:srgbClr val="94A3B8"/>
                </a:solidFill>
                <a:latin typeface="Inter"/>
              </a:rPr>
              <a:t>This includes forensics on AI Agents, Internet of Things (IoT) devices, commercial drones, and satellite communications data.</a:t>
            </a:r>
          </a:p>
        </p:txBody>
      </p:sp>
    </p:spTree>
    <p:extLst>
      <p:ext uri="{BB962C8B-B14F-4D97-AF65-F5344CB8AC3E}">
        <p14:creationId xmlns:p14="http://schemas.microsoft.com/office/powerpoint/2010/main" val="1085703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C8FEE8-255C-4EAF-A098-62E599FBC5F8}"/>
              </a:ext>
            </a:extLst>
          </p:cNvPr>
          <p:cNvSpPr txBox="1"/>
          <p:nvPr/>
        </p:nvSpPr>
        <p:spPr>
          <a:xfrm>
            <a:off x="723900" y="514350"/>
            <a:ext cx="11431428" cy="533400"/>
          </a:xfrm>
          <a:prstGeom prst="rect">
            <a:avLst/>
          </a:prstGeom>
          <a:noFill/>
        </p:spPr>
        <p:txBody>
          <a:bodyPr wrap="square" lIns="0" tIns="0" rIns="0" bIns="0" anchor="t">
            <a:spAutoFit/>
          </a:bodyPr>
          <a:lstStyle/>
          <a:p>
            <a:pPr algn="l"/>
            <a:r>
              <a:rPr sz="3300" b="1" i="0" u="none" dirty="0">
                <a:solidFill>
                  <a:srgbClr val="F8FAFC"/>
                </a:solidFill>
                <a:latin typeface="Space Grotesk"/>
              </a:rPr>
              <a:t>Uncompromising </a:t>
            </a:r>
            <a:r>
              <a:rPr sz="3300" b="1" i="0" u="none" dirty="0">
                <a:solidFill>
                  <a:srgbClr val="06B6D4"/>
                </a:solidFill>
                <a:latin typeface="Space Grotesk"/>
              </a:rPr>
              <a:t>Legal Standards</a:t>
            </a:r>
          </a:p>
        </p:txBody>
      </p:sp>
      <p:sp>
        <p:nvSpPr>
          <p:cNvPr id="5" name="Rectangle 4">
            <a:extLst>
              <a:ext uri="{FF2B5EF4-FFF2-40B4-BE49-F238E27FC236}">
                <a16:creationId xmlns:a16="http://schemas.microsoft.com/office/drawing/2014/main" id="{64D119B4-2183-46AA-AB1D-043202599214}"/>
              </a:ext>
            </a:extLst>
          </p:cNvPr>
          <p:cNvSpPr/>
          <p:nvPr/>
        </p:nvSpPr>
        <p:spPr>
          <a:xfrm>
            <a:off x="581025" y="514350"/>
            <a:ext cx="57150" cy="5334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24F20F7-9A0F-4E07-8F1E-E748DA9FBAA5}"/>
              </a:ext>
            </a:extLst>
          </p:cNvPr>
          <p:cNvSpPr txBox="1"/>
          <p:nvPr/>
        </p:nvSpPr>
        <p:spPr>
          <a:xfrm>
            <a:off x="914400" y="1428750"/>
            <a:ext cx="4943475" cy="914400"/>
          </a:xfrm>
          <a:prstGeom prst="rect">
            <a:avLst/>
          </a:prstGeom>
          <a:noFill/>
        </p:spPr>
        <p:txBody>
          <a:bodyPr wrap="square" lIns="0" tIns="0" rIns="0" bIns="0" anchor="t">
            <a:spAutoFit/>
          </a:bodyPr>
          <a:lstStyle/>
          <a:p>
            <a:pPr algn="l">
              <a:lnSpc>
                <a:spcPts val="2400"/>
              </a:lnSpc>
            </a:pPr>
            <a:r>
              <a:rPr sz="1500" b="1" i="0" u="none" dirty="0">
                <a:solidFill>
                  <a:srgbClr val="94A3B8"/>
                </a:solidFill>
                <a:latin typeface="Inter"/>
              </a:rPr>
              <a:t>ISO/IEC 27037 Compliant:</a:t>
            </a:r>
            <a:r>
              <a:rPr sz="1500" b="0" i="0" u="none" dirty="0">
                <a:solidFill>
                  <a:srgbClr val="94A3B8"/>
                </a:solidFill>
                <a:latin typeface="Inter"/>
              </a:rPr>
              <a:t> Strict adherence to global standards for identifying, collecting, and preserving digital evidence.</a:t>
            </a:r>
          </a:p>
        </p:txBody>
      </p:sp>
      <p:pic>
        <p:nvPicPr>
          <p:cNvPr id="7" name="Picture 6" descr="image.png">
            <a:extLst>
              <a:ext uri="{FF2B5EF4-FFF2-40B4-BE49-F238E27FC236}">
                <a16:creationId xmlns:a16="http://schemas.microsoft.com/office/drawing/2014/main" id="{5326CD88-455D-4D85-87EC-79A280837706}"/>
              </a:ext>
            </a:extLst>
          </p:cNvPr>
          <p:cNvPicPr>
            <a:picLocks noChangeAspect="1"/>
          </p:cNvPicPr>
          <p:nvPr/>
        </p:nvPicPr>
        <p:blipFill>
          <a:blip r:embed="rId2"/>
          <a:stretch>
            <a:fillRect/>
          </a:stretch>
        </p:blipFill>
        <p:spPr>
          <a:xfrm>
            <a:off x="581025" y="1447800"/>
            <a:ext cx="95250" cy="152400"/>
          </a:xfrm>
          <a:prstGeom prst="rect">
            <a:avLst/>
          </a:prstGeom>
        </p:spPr>
      </p:pic>
      <p:pic>
        <p:nvPicPr>
          <p:cNvPr id="8" name="Picture 7" descr="image.png">
            <a:extLst>
              <a:ext uri="{FF2B5EF4-FFF2-40B4-BE49-F238E27FC236}">
                <a16:creationId xmlns:a16="http://schemas.microsoft.com/office/drawing/2014/main" id="{F8526F60-6453-4E8A-940F-596FC97C9D77}"/>
              </a:ext>
            </a:extLst>
          </p:cNvPr>
          <p:cNvPicPr>
            <a:picLocks noChangeAspect="1"/>
          </p:cNvPicPr>
          <p:nvPr/>
        </p:nvPicPr>
        <p:blipFill>
          <a:blip r:embed="rId2"/>
          <a:stretch>
            <a:fillRect/>
          </a:stretch>
        </p:blipFill>
        <p:spPr>
          <a:xfrm>
            <a:off x="581025" y="2600325"/>
            <a:ext cx="95250" cy="152400"/>
          </a:xfrm>
          <a:prstGeom prst="rect">
            <a:avLst/>
          </a:prstGeom>
        </p:spPr>
      </p:pic>
      <p:sp>
        <p:nvSpPr>
          <p:cNvPr id="9" name="TextBox 8">
            <a:extLst>
              <a:ext uri="{FF2B5EF4-FFF2-40B4-BE49-F238E27FC236}">
                <a16:creationId xmlns:a16="http://schemas.microsoft.com/office/drawing/2014/main" id="{C1D1825C-D6D4-409C-BFCF-D488CD00F649}"/>
              </a:ext>
            </a:extLst>
          </p:cNvPr>
          <p:cNvSpPr txBox="1"/>
          <p:nvPr/>
        </p:nvSpPr>
        <p:spPr>
          <a:xfrm>
            <a:off x="914400" y="2581275"/>
            <a:ext cx="4943475" cy="914400"/>
          </a:xfrm>
          <a:prstGeom prst="rect">
            <a:avLst/>
          </a:prstGeom>
          <a:noFill/>
        </p:spPr>
        <p:txBody>
          <a:bodyPr wrap="square" lIns="0" tIns="0" rIns="0" bIns="0" anchor="t">
            <a:spAutoFit/>
          </a:bodyPr>
          <a:lstStyle/>
          <a:p>
            <a:pPr algn="l">
              <a:lnSpc>
                <a:spcPts val="2400"/>
              </a:lnSpc>
            </a:pPr>
            <a:r>
              <a:rPr sz="1500" b="1" i="0" u="none" dirty="0">
                <a:solidFill>
                  <a:srgbClr val="94A3B8"/>
                </a:solidFill>
                <a:latin typeface="Inter"/>
              </a:rPr>
              <a:t>Court-Ready Integrity:</a:t>
            </a:r>
            <a:r>
              <a:rPr sz="1500" b="0" i="0" u="none" dirty="0">
                <a:solidFill>
                  <a:srgbClr val="94A3B8"/>
                </a:solidFill>
                <a:latin typeface="Inter"/>
              </a:rPr>
              <a:t> Guaranteeing the absolute authenticity and legal admissibility of extracted data in court.</a:t>
            </a:r>
          </a:p>
        </p:txBody>
      </p:sp>
      <p:pic>
        <p:nvPicPr>
          <p:cNvPr id="10" name="Picture 9" descr="image.png">
            <a:extLst>
              <a:ext uri="{FF2B5EF4-FFF2-40B4-BE49-F238E27FC236}">
                <a16:creationId xmlns:a16="http://schemas.microsoft.com/office/drawing/2014/main" id="{CCE269A9-96FF-4CFE-BA48-643ECC2119E1}"/>
              </a:ext>
            </a:extLst>
          </p:cNvPr>
          <p:cNvPicPr>
            <a:picLocks noChangeAspect="1"/>
          </p:cNvPicPr>
          <p:nvPr/>
        </p:nvPicPr>
        <p:blipFill>
          <a:blip r:embed="rId2"/>
          <a:stretch>
            <a:fillRect/>
          </a:stretch>
        </p:blipFill>
        <p:spPr>
          <a:xfrm>
            <a:off x="581025" y="3752850"/>
            <a:ext cx="95250" cy="152400"/>
          </a:xfrm>
          <a:prstGeom prst="rect">
            <a:avLst/>
          </a:prstGeom>
        </p:spPr>
      </p:pic>
      <p:sp>
        <p:nvSpPr>
          <p:cNvPr id="11" name="TextBox 10">
            <a:extLst>
              <a:ext uri="{FF2B5EF4-FFF2-40B4-BE49-F238E27FC236}">
                <a16:creationId xmlns:a16="http://schemas.microsoft.com/office/drawing/2014/main" id="{4A73ECC4-7493-4775-BC14-B0A64A32B129}"/>
              </a:ext>
            </a:extLst>
          </p:cNvPr>
          <p:cNvSpPr txBox="1"/>
          <p:nvPr/>
        </p:nvSpPr>
        <p:spPr>
          <a:xfrm>
            <a:off x="914400" y="3733800"/>
            <a:ext cx="4943475" cy="914400"/>
          </a:xfrm>
          <a:prstGeom prst="rect">
            <a:avLst/>
          </a:prstGeom>
          <a:noFill/>
        </p:spPr>
        <p:txBody>
          <a:bodyPr wrap="square" lIns="0" tIns="0" rIns="0" bIns="0" anchor="t">
            <a:spAutoFit/>
          </a:bodyPr>
          <a:lstStyle/>
          <a:p>
            <a:pPr algn="l">
              <a:lnSpc>
                <a:spcPts val="2400"/>
              </a:lnSpc>
            </a:pPr>
            <a:r>
              <a:rPr sz="1500" b="1" i="0" u="none" dirty="0">
                <a:solidFill>
                  <a:srgbClr val="94A3B8"/>
                </a:solidFill>
                <a:latin typeface="Inter"/>
              </a:rPr>
              <a:t>Anton </a:t>
            </a:r>
            <a:r>
              <a:rPr sz="1500" b="1" i="0" u="none" dirty="0" err="1">
                <a:solidFill>
                  <a:srgbClr val="94A3B8"/>
                </a:solidFill>
                <a:latin typeface="Inter"/>
              </a:rPr>
              <a:t>Piller</a:t>
            </a:r>
            <a:r>
              <a:rPr sz="1500" b="1" i="0" u="none" dirty="0">
                <a:solidFill>
                  <a:srgbClr val="94A3B8"/>
                </a:solidFill>
                <a:latin typeface="Inter"/>
              </a:rPr>
              <a:t> Orders:</a:t>
            </a:r>
            <a:r>
              <a:rPr sz="1500" b="0" i="0" u="none" dirty="0">
                <a:solidFill>
                  <a:srgbClr val="94A3B8"/>
                </a:solidFill>
                <a:latin typeface="Inter"/>
              </a:rPr>
              <a:t> Extensive experience in court-sanctioned, immediate seizure of digital evidence without prior warning.</a:t>
            </a:r>
          </a:p>
        </p:txBody>
      </p:sp>
      <p:pic>
        <p:nvPicPr>
          <p:cNvPr id="12" name="Picture 11" descr="image.png">
            <a:extLst>
              <a:ext uri="{FF2B5EF4-FFF2-40B4-BE49-F238E27FC236}">
                <a16:creationId xmlns:a16="http://schemas.microsoft.com/office/drawing/2014/main" id="{1F7E2661-8E19-4376-BB1D-90B3BA226D39}"/>
              </a:ext>
            </a:extLst>
          </p:cNvPr>
          <p:cNvPicPr>
            <a:picLocks noChangeAspect="1"/>
          </p:cNvPicPr>
          <p:nvPr/>
        </p:nvPicPr>
        <p:blipFill>
          <a:blip r:embed="rId2"/>
          <a:stretch>
            <a:fillRect/>
          </a:stretch>
        </p:blipFill>
        <p:spPr>
          <a:xfrm>
            <a:off x="581025" y="4905375"/>
            <a:ext cx="95250" cy="152400"/>
          </a:xfrm>
          <a:prstGeom prst="rect">
            <a:avLst/>
          </a:prstGeom>
        </p:spPr>
      </p:pic>
      <p:sp>
        <p:nvSpPr>
          <p:cNvPr id="13" name="TextBox 12">
            <a:extLst>
              <a:ext uri="{FF2B5EF4-FFF2-40B4-BE49-F238E27FC236}">
                <a16:creationId xmlns:a16="http://schemas.microsoft.com/office/drawing/2014/main" id="{22374C14-0AA4-4057-B208-FDE68BAC018B}"/>
              </a:ext>
            </a:extLst>
          </p:cNvPr>
          <p:cNvSpPr txBox="1"/>
          <p:nvPr/>
        </p:nvSpPr>
        <p:spPr>
          <a:xfrm>
            <a:off x="914400" y="4886325"/>
            <a:ext cx="4943475" cy="1219200"/>
          </a:xfrm>
          <a:prstGeom prst="rect">
            <a:avLst/>
          </a:prstGeom>
          <a:noFill/>
        </p:spPr>
        <p:txBody>
          <a:bodyPr wrap="square" lIns="0" tIns="0" rIns="0" bIns="0" anchor="t">
            <a:spAutoFit/>
          </a:bodyPr>
          <a:lstStyle/>
          <a:p>
            <a:pPr algn="l">
              <a:lnSpc>
                <a:spcPts val="2400"/>
              </a:lnSpc>
            </a:pPr>
            <a:r>
              <a:rPr sz="1500" b="1" i="0" u="none" dirty="0">
                <a:solidFill>
                  <a:srgbClr val="94A3B8"/>
                </a:solidFill>
                <a:latin typeface="Inter"/>
              </a:rPr>
              <a:t>Expert Witness Services:</a:t>
            </a:r>
            <a:r>
              <a:rPr sz="1500" b="0" i="0" u="none" dirty="0">
                <a:solidFill>
                  <a:srgbClr val="94A3B8"/>
                </a:solidFill>
                <a:latin typeface="Inter"/>
              </a:rPr>
              <a:t> Independent forensic advisory and expert rebuttal services designed to support legal teams and challenge opposing evidence.</a:t>
            </a:r>
          </a:p>
        </p:txBody>
      </p:sp>
      <p:pic>
        <p:nvPicPr>
          <p:cNvPr id="14" name="Picture 13" descr="image.png">
            <a:extLst>
              <a:ext uri="{FF2B5EF4-FFF2-40B4-BE49-F238E27FC236}">
                <a16:creationId xmlns:a16="http://schemas.microsoft.com/office/drawing/2014/main" id="{2E74B414-9AFF-4827-ABDC-F0B4D320B082}"/>
              </a:ext>
            </a:extLst>
          </p:cNvPr>
          <p:cNvPicPr>
            <a:picLocks noChangeAspect="1"/>
          </p:cNvPicPr>
          <p:nvPr/>
        </p:nvPicPr>
        <p:blipFill>
          <a:blip r:embed="rId3"/>
          <a:stretch>
            <a:fillRect/>
          </a:stretch>
        </p:blipFill>
        <p:spPr>
          <a:xfrm>
            <a:off x="6343650" y="1438275"/>
            <a:ext cx="5257800" cy="3600450"/>
          </a:xfrm>
          <a:prstGeom prst="rect">
            <a:avLst/>
          </a:prstGeom>
        </p:spPr>
      </p:pic>
    </p:spTree>
    <p:extLst>
      <p:ext uri="{BB962C8B-B14F-4D97-AF65-F5344CB8AC3E}">
        <p14:creationId xmlns:p14="http://schemas.microsoft.com/office/powerpoint/2010/main" val="58899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A496-674B-43CB-9B5F-CA00D976A7DD}"/>
              </a:ext>
            </a:extLst>
          </p:cNvPr>
          <p:cNvSpPr>
            <a:spLocks noGrp="1"/>
          </p:cNvSpPr>
          <p:nvPr>
            <p:ph type="title"/>
          </p:nvPr>
        </p:nvSpPr>
        <p:spPr>
          <a:xfrm>
            <a:off x="685801" y="609601"/>
            <a:ext cx="10131425" cy="657828"/>
          </a:xfrm>
        </p:spPr>
        <p:txBody>
          <a:bodyPr>
            <a:normAutofit fontScale="90000"/>
          </a:bodyPr>
          <a:lstStyle/>
          <a:p>
            <a:r>
              <a:rPr lang="en-MY" dirty="0"/>
              <a:t>Organization chart of </a:t>
            </a:r>
            <a:r>
              <a:rPr lang="en-MY" dirty="0">
                <a:solidFill>
                  <a:srgbClr val="06B6D4"/>
                </a:solidFill>
              </a:rPr>
              <a:t>og it forensic (m) sdn. Bhd.</a:t>
            </a:r>
          </a:p>
        </p:txBody>
      </p:sp>
      <p:sp>
        <p:nvSpPr>
          <p:cNvPr id="4" name="Rectangle: Rounded Corners 3">
            <a:extLst>
              <a:ext uri="{FF2B5EF4-FFF2-40B4-BE49-F238E27FC236}">
                <a16:creationId xmlns:a16="http://schemas.microsoft.com/office/drawing/2014/main" id="{DFC4ACBC-1C62-4800-9CA1-38EA2558C1FB}"/>
              </a:ext>
            </a:extLst>
          </p:cNvPr>
          <p:cNvSpPr/>
          <p:nvPr/>
        </p:nvSpPr>
        <p:spPr>
          <a:xfrm>
            <a:off x="1898247" y="2844479"/>
            <a:ext cx="2997843" cy="1018572"/>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Senior Digital Forensic Investigator</a:t>
            </a:r>
          </a:p>
        </p:txBody>
      </p:sp>
      <p:sp>
        <p:nvSpPr>
          <p:cNvPr id="7" name="Rectangle: Rounded Corners 6">
            <a:extLst>
              <a:ext uri="{FF2B5EF4-FFF2-40B4-BE49-F238E27FC236}">
                <a16:creationId xmlns:a16="http://schemas.microsoft.com/office/drawing/2014/main" id="{188B2D30-E697-4228-A79D-B2E32D58FE9E}"/>
              </a:ext>
            </a:extLst>
          </p:cNvPr>
          <p:cNvSpPr/>
          <p:nvPr/>
        </p:nvSpPr>
        <p:spPr>
          <a:xfrm>
            <a:off x="6498081" y="3727049"/>
            <a:ext cx="3293000" cy="1018572"/>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UTHAYAKUMAAR S/O KRISHNAN</a:t>
            </a:r>
          </a:p>
          <a:p>
            <a:pPr algn="ctr"/>
            <a:r>
              <a:rPr lang="en-MY" dirty="0">
                <a:solidFill>
                  <a:schemeClr val="bg1"/>
                </a:solidFill>
              </a:rPr>
              <a:t>(Junior Digital Forensic Analyst)</a:t>
            </a:r>
          </a:p>
        </p:txBody>
      </p:sp>
      <p:sp>
        <p:nvSpPr>
          <p:cNvPr id="8" name="Rectangle: Rounded Corners 7">
            <a:extLst>
              <a:ext uri="{FF2B5EF4-FFF2-40B4-BE49-F238E27FC236}">
                <a16:creationId xmlns:a16="http://schemas.microsoft.com/office/drawing/2014/main" id="{7952961E-AA33-413F-9C08-015BC99408D6}"/>
              </a:ext>
            </a:extLst>
          </p:cNvPr>
          <p:cNvSpPr/>
          <p:nvPr/>
        </p:nvSpPr>
        <p:spPr>
          <a:xfrm>
            <a:off x="6498081" y="2112380"/>
            <a:ext cx="2997843" cy="1018572"/>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Ahmad </a:t>
            </a:r>
            <a:r>
              <a:rPr lang="en-MY" dirty="0" err="1">
                <a:solidFill>
                  <a:schemeClr val="bg1"/>
                </a:solidFill>
              </a:rPr>
              <a:t>Luqman</a:t>
            </a:r>
            <a:r>
              <a:rPr lang="en-MY" dirty="0">
                <a:solidFill>
                  <a:schemeClr val="bg1"/>
                </a:solidFill>
              </a:rPr>
              <a:t> Hanafi </a:t>
            </a:r>
          </a:p>
          <a:p>
            <a:pPr algn="ctr"/>
            <a:r>
              <a:rPr lang="en-MY" dirty="0">
                <a:solidFill>
                  <a:schemeClr val="bg1"/>
                </a:solidFill>
              </a:rPr>
              <a:t>(Digital Forensic Analyst)</a:t>
            </a:r>
          </a:p>
        </p:txBody>
      </p:sp>
      <p:cxnSp>
        <p:nvCxnSpPr>
          <p:cNvPr id="21" name="Connector: Elbow 20">
            <a:extLst>
              <a:ext uri="{FF2B5EF4-FFF2-40B4-BE49-F238E27FC236}">
                <a16:creationId xmlns:a16="http://schemas.microsoft.com/office/drawing/2014/main" id="{7E3BDC8D-B7AC-4866-A207-D5086B7FAD67}"/>
              </a:ext>
            </a:extLst>
          </p:cNvPr>
          <p:cNvCxnSpPr>
            <a:stCxn id="4" idx="3"/>
            <a:endCxn id="8" idx="1"/>
          </p:cNvCxnSpPr>
          <p:nvPr/>
        </p:nvCxnSpPr>
        <p:spPr>
          <a:xfrm flipV="1">
            <a:off x="4896090" y="2621666"/>
            <a:ext cx="1601991" cy="7320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A4F279B2-3CB4-4AC2-A06E-CDCCD888F12D}"/>
              </a:ext>
            </a:extLst>
          </p:cNvPr>
          <p:cNvCxnSpPr>
            <a:cxnSpLocks/>
            <a:stCxn id="4" idx="3"/>
            <a:endCxn id="7" idx="1"/>
          </p:cNvCxnSpPr>
          <p:nvPr/>
        </p:nvCxnSpPr>
        <p:spPr>
          <a:xfrm>
            <a:off x="4896090" y="3353765"/>
            <a:ext cx="1601991" cy="8825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956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7237-5032-436E-B51B-FB74F7C6EC45}"/>
              </a:ext>
            </a:extLst>
          </p:cNvPr>
          <p:cNvSpPr>
            <a:spLocks noGrp="1"/>
          </p:cNvSpPr>
          <p:nvPr>
            <p:ph type="title"/>
          </p:nvPr>
        </p:nvSpPr>
        <p:spPr>
          <a:xfrm>
            <a:off x="593203" y="369385"/>
            <a:ext cx="10721050" cy="1456267"/>
          </a:xfrm>
        </p:spPr>
        <p:txBody>
          <a:bodyPr/>
          <a:lstStyle/>
          <a:p>
            <a:r>
              <a:rPr lang="en-MY" dirty="0"/>
              <a:t>tasks and accountabilities of </a:t>
            </a:r>
            <a:r>
              <a:rPr lang="en-MY" dirty="0">
                <a:solidFill>
                  <a:srgbClr val="06B6D4"/>
                </a:solidFill>
              </a:rPr>
              <a:t>the roles in Digital Forensics</a:t>
            </a:r>
          </a:p>
        </p:txBody>
      </p:sp>
      <p:pic>
        <p:nvPicPr>
          <p:cNvPr id="4" name="Picture 3" descr="image.png">
            <a:extLst>
              <a:ext uri="{FF2B5EF4-FFF2-40B4-BE49-F238E27FC236}">
                <a16:creationId xmlns:a16="http://schemas.microsoft.com/office/drawing/2014/main" id="{7F582F83-41C2-4B4D-9413-D70D3188B5C4}"/>
              </a:ext>
            </a:extLst>
          </p:cNvPr>
          <p:cNvPicPr>
            <a:picLocks noChangeAspect="1"/>
          </p:cNvPicPr>
          <p:nvPr/>
        </p:nvPicPr>
        <p:blipFill>
          <a:blip r:embed="rId2"/>
          <a:stretch>
            <a:fillRect/>
          </a:stretch>
        </p:blipFill>
        <p:spPr>
          <a:xfrm>
            <a:off x="536054" y="1920071"/>
            <a:ext cx="3486150" cy="4038600"/>
          </a:xfrm>
          <a:prstGeom prst="rect">
            <a:avLst/>
          </a:prstGeom>
        </p:spPr>
      </p:pic>
      <p:sp>
        <p:nvSpPr>
          <p:cNvPr id="5" name="TextBox 4">
            <a:extLst>
              <a:ext uri="{FF2B5EF4-FFF2-40B4-BE49-F238E27FC236}">
                <a16:creationId xmlns:a16="http://schemas.microsoft.com/office/drawing/2014/main" id="{740B6159-0BFF-4421-BCEE-02FD2769A5D5}"/>
              </a:ext>
            </a:extLst>
          </p:cNvPr>
          <p:cNvSpPr txBox="1"/>
          <p:nvPr/>
        </p:nvSpPr>
        <p:spPr>
          <a:xfrm>
            <a:off x="685801" y="3052047"/>
            <a:ext cx="3266953" cy="2708434"/>
          </a:xfrm>
          <a:prstGeom prst="rect">
            <a:avLst/>
          </a:prstGeom>
          <a:noFill/>
        </p:spPr>
        <p:txBody>
          <a:bodyPr wrap="square" lIns="0" tIns="0" rIns="0" bIns="0" anchor="t">
            <a:spAutoFit/>
          </a:bodyPr>
          <a:lstStyle/>
          <a:p>
            <a:pPr marL="228600" indent="-228600">
              <a:buAutoNum type="arabicPeriod"/>
            </a:pPr>
            <a:r>
              <a:rPr lang="en-US" sz="1100" b="1" dirty="0"/>
              <a:t>Operational Command:</a:t>
            </a:r>
            <a:r>
              <a:rPr lang="en-US" sz="1100" dirty="0"/>
              <a:t> Oversee the entirety of digital forensic operations, delegate tasks, and supervise the forensic unit.</a:t>
            </a:r>
          </a:p>
          <a:p>
            <a:pPr marL="228600" indent="-228600">
              <a:buAutoNum type="arabicPeriod"/>
            </a:pPr>
            <a:r>
              <a:rPr lang="en-US" sz="1100" b="1" dirty="0"/>
              <a:t>Quality Assurance:</a:t>
            </a:r>
            <a:r>
              <a:rPr lang="en-US" sz="1100" dirty="0"/>
              <a:t> Serve as the final review and approval authority for all forensic reports and findings to guarantee absolute quality and legal integrity.</a:t>
            </a:r>
          </a:p>
          <a:p>
            <a:pPr marL="228600" indent="-228600">
              <a:buAutoNum type="arabicPeriod"/>
            </a:pPr>
            <a:r>
              <a:rPr lang="en-US" sz="1100" b="1" dirty="0"/>
              <a:t>Strategic Direction:</a:t>
            </a:r>
            <a:r>
              <a:rPr lang="en-US" sz="1100" dirty="0"/>
              <a:t> Drive the overarching investigative strategy and make executive technical calls.</a:t>
            </a:r>
            <a:endParaRPr lang="en-US" sz="1100" dirty="0">
              <a:solidFill>
                <a:srgbClr val="94A3B8"/>
              </a:solidFill>
              <a:latin typeface="Inter"/>
            </a:endParaRPr>
          </a:p>
          <a:p>
            <a:pPr marL="228600" indent="-228600">
              <a:buAutoNum type="arabicPeriod"/>
            </a:pPr>
            <a:r>
              <a:rPr lang="en-US" sz="1100" b="1" dirty="0"/>
              <a:t>Mentorship:</a:t>
            </a:r>
            <a:r>
              <a:rPr lang="en-US" sz="1100" dirty="0"/>
              <a:t> Act as a dedicated mentor to both analysts and junior analysts to elevate the team's overall capabilities.</a:t>
            </a:r>
            <a:endParaRPr lang="en-US" sz="1100" dirty="0">
              <a:solidFill>
                <a:srgbClr val="94A3B8"/>
              </a:solidFill>
              <a:latin typeface="Inter"/>
            </a:endParaRPr>
          </a:p>
          <a:p>
            <a:pPr marL="228600" indent="-228600">
              <a:buAutoNum type="arabicPeriod"/>
            </a:pPr>
            <a:r>
              <a:rPr lang="en-US" sz="1100" b="1" dirty="0"/>
              <a:t>Liaison Duties:</a:t>
            </a:r>
            <a:r>
              <a:rPr lang="en-US" sz="1100" dirty="0"/>
              <a:t> Act as the primary point of contact coordinating with clients, legal counsel, and external stakeholders.</a:t>
            </a:r>
            <a:endParaRPr lang="en-US" sz="1100" b="0" i="0" u="none" dirty="0">
              <a:solidFill>
                <a:srgbClr val="94A3B8"/>
              </a:solidFill>
              <a:latin typeface="Inter"/>
            </a:endParaRPr>
          </a:p>
        </p:txBody>
      </p:sp>
      <p:sp>
        <p:nvSpPr>
          <p:cNvPr id="7" name="TextBox 6">
            <a:extLst>
              <a:ext uri="{FF2B5EF4-FFF2-40B4-BE49-F238E27FC236}">
                <a16:creationId xmlns:a16="http://schemas.microsoft.com/office/drawing/2014/main" id="{9B010EC7-3782-477B-9BB5-33A56C4B2413}"/>
              </a:ext>
            </a:extLst>
          </p:cNvPr>
          <p:cNvSpPr txBox="1"/>
          <p:nvPr/>
        </p:nvSpPr>
        <p:spPr>
          <a:xfrm>
            <a:off x="831327" y="2192139"/>
            <a:ext cx="2895600" cy="646331"/>
          </a:xfrm>
          <a:prstGeom prst="rect">
            <a:avLst/>
          </a:prstGeom>
          <a:noFill/>
        </p:spPr>
        <p:txBody>
          <a:bodyPr wrap="square" lIns="0" tIns="0" rIns="0" bIns="0" anchor="t">
            <a:spAutoFit/>
          </a:bodyPr>
          <a:lstStyle/>
          <a:p>
            <a:pPr algn="ctr"/>
            <a:r>
              <a:rPr lang="en-MY" sz="2100" b="1" i="0" u="none" dirty="0">
                <a:solidFill>
                  <a:srgbClr val="06B6D4"/>
                </a:solidFill>
                <a:latin typeface="Space Grotesk"/>
              </a:rPr>
              <a:t>Senior Digital forensic Investigator</a:t>
            </a:r>
            <a:endParaRPr sz="2100" b="1" i="0" u="none" dirty="0">
              <a:solidFill>
                <a:srgbClr val="06B6D4"/>
              </a:solidFill>
              <a:latin typeface="Space Grotesk"/>
            </a:endParaRPr>
          </a:p>
        </p:txBody>
      </p:sp>
      <p:pic>
        <p:nvPicPr>
          <p:cNvPr id="8" name="Picture 7" descr="image.png">
            <a:extLst>
              <a:ext uri="{FF2B5EF4-FFF2-40B4-BE49-F238E27FC236}">
                <a16:creationId xmlns:a16="http://schemas.microsoft.com/office/drawing/2014/main" id="{3F9091E4-7F8E-42AD-A0CD-2FE228CFDB9C}"/>
              </a:ext>
            </a:extLst>
          </p:cNvPr>
          <p:cNvPicPr>
            <a:picLocks noChangeAspect="1"/>
          </p:cNvPicPr>
          <p:nvPr/>
        </p:nvPicPr>
        <p:blipFill>
          <a:blip r:embed="rId2"/>
          <a:stretch>
            <a:fillRect/>
          </a:stretch>
        </p:blipFill>
        <p:spPr>
          <a:xfrm>
            <a:off x="4247669" y="1920071"/>
            <a:ext cx="3486150" cy="4038600"/>
          </a:xfrm>
          <a:prstGeom prst="rect">
            <a:avLst/>
          </a:prstGeom>
        </p:spPr>
      </p:pic>
      <p:pic>
        <p:nvPicPr>
          <p:cNvPr id="9" name="Picture 8" descr="image.png">
            <a:extLst>
              <a:ext uri="{FF2B5EF4-FFF2-40B4-BE49-F238E27FC236}">
                <a16:creationId xmlns:a16="http://schemas.microsoft.com/office/drawing/2014/main" id="{4F330C7B-CF89-4E12-BBEB-02920D99D8E6}"/>
              </a:ext>
            </a:extLst>
          </p:cNvPr>
          <p:cNvPicPr>
            <a:picLocks noChangeAspect="1"/>
          </p:cNvPicPr>
          <p:nvPr/>
        </p:nvPicPr>
        <p:blipFill>
          <a:blip r:embed="rId2"/>
          <a:stretch>
            <a:fillRect/>
          </a:stretch>
        </p:blipFill>
        <p:spPr>
          <a:xfrm>
            <a:off x="7874523" y="1896708"/>
            <a:ext cx="3486150" cy="4038600"/>
          </a:xfrm>
          <a:prstGeom prst="rect">
            <a:avLst/>
          </a:prstGeom>
        </p:spPr>
      </p:pic>
      <p:sp>
        <p:nvSpPr>
          <p:cNvPr id="10" name="TextBox 9">
            <a:extLst>
              <a:ext uri="{FF2B5EF4-FFF2-40B4-BE49-F238E27FC236}">
                <a16:creationId xmlns:a16="http://schemas.microsoft.com/office/drawing/2014/main" id="{3DC4A11F-9F59-4B02-A52D-A9E91FC628A9}"/>
              </a:ext>
            </a:extLst>
          </p:cNvPr>
          <p:cNvSpPr txBox="1"/>
          <p:nvPr/>
        </p:nvSpPr>
        <p:spPr>
          <a:xfrm>
            <a:off x="4606767" y="2192139"/>
            <a:ext cx="2683193" cy="323165"/>
          </a:xfrm>
          <a:prstGeom prst="rect">
            <a:avLst/>
          </a:prstGeom>
          <a:noFill/>
        </p:spPr>
        <p:txBody>
          <a:bodyPr wrap="square" lIns="0" tIns="0" rIns="0" bIns="0" anchor="t">
            <a:spAutoFit/>
          </a:bodyPr>
          <a:lstStyle/>
          <a:p>
            <a:pPr algn="ctr"/>
            <a:r>
              <a:rPr lang="en-MY" sz="2100" b="1" i="0" u="none" dirty="0">
                <a:solidFill>
                  <a:srgbClr val="06B6D4"/>
                </a:solidFill>
                <a:latin typeface="Space Grotesk"/>
              </a:rPr>
              <a:t>Digital Forensic Analyst</a:t>
            </a:r>
            <a:endParaRPr sz="2100" b="1" i="0" u="none" dirty="0">
              <a:solidFill>
                <a:srgbClr val="06B6D4"/>
              </a:solidFill>
              <a:latin typeface="Space Grotesk"/>
            </a:endParaRPr>
          </a:p>
        </p:txBody>
      </p:sp>
      <p:sp>
        <p:nvSpPr>
          <p:cNvPr id="19" name="TextBox 18">
            <a:extLst>
              <a:ext uri="{FF2B5EF4-FFF2-40B4-BE49-F238E27FC236}">
                <a16:creationId xmlns:a16="http://schemas.microsoft.com/office/drawing/2014/main" id="{E83AD9BC-47BD-43E6-8DB8-608D5345DB33}"/>
              </a:ext>
            </a:extLst>
          </p:cNvPr>
          <p:cNvSpPr txBox="1"/>
          <p:nvPr/>
        </p:nvSpPr>
        <p:spPr>
          <a:xfrm>
            <a:off x="8364008" y="2192140"/>
            <a:ext cx="2507179" cy="646331"/>
          </a:xfrm>
          <a:prstGeom prst="rect">
            <a:avLst/>
          </a:prstGeom>
          <a:noFill/>
        </p:spPr>
        <p:txBody>
          <a:bodyPr wrap="square" lIns="0" tIns="0" rIns="0" bIns="0" anchor="t">
            <a:spAutoFit/>
          </a:bodyPr>
          <a:lstStyle/>
          <a:p>
            <a:pPr algn="ctr"/>
            <a:r>
              <a:rPr lang="en-MY" sz="2100" b="1" i="0" u="none" dirty="0">
                <a:solidFill>
                  <a:srgbClr val="06B6D4"/>
                </a:solidFill>
                <a:latin typeface="Space Grotesk"/>
              </a:rPr>
              <a:t>Junior Digital Forensic Analyst</a:t>
            </a:r>
            <a:endParaRPr sz="2100" b="1" i="0" u="none" dirty="0">
              <a:solidFill>
                <a:srgbClr val="06B6D4"/>
              </a:solidFill>
              <a:latin typeface="Space Grotesk"/>
            </a:endParaRPr>
          </a:p>
        </p:txBody>
      </p:sp>
      <p:sp>
        <p:nvSpPr>
          <p:cNvPr id="20" name="TextBox 19">
            <a:extLst>
              <a:ext uri="{FF2B5EF4-FFF2-40B4-BE49-F238E27FC236}">
                <a16:creationId xmlns:a16="http://schemas.microsoft.com/office/drawing/2014/main" id="{BCAEBD67-5928-43C1-9478-E99DFF3EAAAC}"/>
              </a:ext>
            </a:extLst>
          </p:cNvPr>
          <p:cNvSpPr txBox="1"/>
          <p:nvPr/>
        </p:nvSpPr>
        <p:spPr>
          <a:xfrm>
            <a:off x="4371239" y="3052047"/>
            <a:ext cx="3320138" cy="2369880"/>
          </a:xfrm>
          <a:prstGeom prst="rect">
            <a:avLst/>
          </a:prstGeom>
          <a:noFill/>
        </p:spPr>
        <p:txBody>
          <a:bodyPr wrap="square" lIns="0" tIns="0" rIns="0" bIns="0" anchor="t">
            <a:spAutoFit/>
          </a:bodyPr>
          <a:lstStyle/>
          <a:p>
            <a:pPr marL="342900" indent="-342900">
              <a:buAutoNum type="arabicPeriod"/>
            </a:pPr>
            <a:r>
              <a:rPr lang="en-US" sz="1100" b="1" dirty="0"/>
              <a:t>Active Investigation:</a:t>
            </a:r>
            <a:r>
              <a:rPr lang="en-US" sz="1100" dirty="0"/>
              <a:t> Execute direct forensic examinations and drive end-to-end case investigations.</a:t>
            </a:r>
          </a:p>
          <a:p>
            <a:pPr marL="342900" indent="-342900">
              <a:buAutoNum type="arabicPeriod"/>
            </a:pPr>
            <a:r>
              <a:rPr lang="en-US" sz="1100" b="1" dirty="0"/>
              <a:t>Evidence Processing:</a:t>
            </a:r>
            <a:r>
              <a:rPr lang="en-US" sz="1100" dirty="0"/>
              <a:t> Handle the full lifecycle of digital evidence identifying, acquiring, recovering, preserving, and analyzing critical artifacts.</a:t>
            </a:r>
          </a:p>
          <a:p>
            <a:pPr marL="342900" indent="-342900">
              <a:buAutoNum type="arabicPeriod"/>
            </a:pPr>
            <a:r>
              <a:rPr lang="en-US" sz="1100" b="1" dirty="0"/>
              <a:t>Case Management:</a:t>
            </a:r>
            <a:r>
              <a:rPr lang="en-US" sz="1100" dirty="0"/>
              <a:t> Take ownership of assigned cases, guaranteeing they hit completion deadlines.</a:t>
            </a:r>
          </a:p>
          <a:p>
            <a:pPr marL="342900" indent="-342900">
              <a:buAutoNum type="arabicPeriod"/>
            </a:pPr>
            <a:r>
              <a:rPr lang="en-US" sz="1100" b="1" dirty="0"/>
              <a:t>Documentation:</a:t>
            </a:r>
            <a:r>
              <a:rPr lang="en-US" sz="1100" dirty="0"/>
              <a:t> Author comprehensive forensic reports and formal documentation.</a:t>
            </a:r>
          </a:p>
          <a:p>
            <a:pPr marL="342900" indent="-342900">
              <a:buAutoNum type="arabicPeriod"/>
            </a:pPr>
            <a:r>
              <a:rPr lang="en-US" sz="1100" b="1" dirty="0"/>
              <a:t>Team &amp; Case Support:</a:t>
            </a:r>
            <a:r>
              <a:rPr lang="en-US" sz="1100" dirty="0"/>
              <a:t> Lend expertise to high-stakes, complex investigations, assist with compiling case presentations, and provide guidance to junior team members.</a:t>
            </a:r>
            <a:endParaRPr sz="1100" b="0" i="0" u="none" dirty="0">
              <a:solidFill>
                <a:srgbClr val="94A3B8"/>
              </a:solidFill>
              <a:latin typeface="Inter"/>
            </a:endParaRPr>
          </a:p>
        </p:txBody>
      </p:sp>
      <p:sp>
        <p:nvSpPr>
          <p:cNvPr id="21" name="TextBox 20">
            <a:extLst>
              <a:ext uri="{FF2B5EF4-FFF2-40B4-BE49-F238E27FC236}">
                <a16:creationId xmlns:a16="http://schemas.microsoft.com/office/drawing/2014/main" id="{3854EDDC-A6CF-4EB4-94CB-0D78626C8B21}"/>
              </a:ext>
            </a:extLst>
          </p:cNvPr>
          <p:cNvSpPr txBox="1"/>
          <p:nvPr/>
        </p:nvSpPr>
        <p:spPr>
          <a:xfrm>
            <a:off x="8038921" y="3052048"/>
            <a:ext cx="3275332" cy="2200602"/>
          </a:xfrm>
          <a:prstGeom prst="rect">
            <a:avLst/>
          </a:prstGeom>
          <a:noFill/>
        </p:spPr>
        <p:txBody>
          <a:bodyPr wrap="square" lIns="0" tIns="0" rIns="0" bIns="0" anchor="t">
            <a:spAutoFit/>
          </a:bodyPr>
          <a:lstStyle/>
          <a:p>
            <a:pPr marL="228600" indent="-228600">
              <a:buAutoNum type="arabicPeriod"/>
            </a:pPr>
            <a:r>
              <a:rPr lang="en-US" sz="1100" b="1" dirty="0"/>
              <a:t>Technical Support:</a:t>
            </a:r>
            <a:r>
              <a:rPr lang="en-US" sz="1100" dirty="0"/>
              <a:t> Provide foundational technical   backing for ongoing forensic investigations.</a:t>
            </a:r>
          </a:p>
          <a:p>
            <a:pPr marL="228600" indent="-228600">
              <a:buFontTx/>
              <a:buAutoNum type="arabicPeriod"/>
            </a:pPr>
            <a:r>
              <a:rPr lang="en-US" sz="1100" b="1" dirty="0"/>
              <a:t>Evidence Handling:</a:t>
            </a:r>
            <a:r>
              <a:rPr lang="en-US" sz="1100" dirty="0"/>
              <a:t> Aid in the examination and analysis of digital evidence, while supporting its meticulous collection, preservation, and organization.</a:t>
            </a:r>
          </a:p>
          <a:p>
            <a:pPr marL="228600" indent="-228600">
              <a:buFontTx/>
              <a:buAutoNum type="arabicPeriod"/>
            </a:pPr>
            <a:r>
              <a:rPr lang="en-US" sz="1100" b="1" dirty="0"/>
              <a:t>Operational Readiness:</a:t>
            </a:r>
            <a:r>
              <a:rPr lang="en-US" sz="1100" dirty="0"/>
              <a:t> Prepare and maintain necessary forensic hardware, software tools, and documentation.</a:t>
            </a:r>
          </a:p>
          <a:p>
            <a:pPr marL="228600" indent="-228600">
              <a:buFontTx/>
              <a:buAutoNum type="arabicPeriod"/>
            </a:pPr>
            <a:r>
              <a:rPr lang="en-US" sz="1100" b="1" dirty="0"/>
              <a:t>Reporting Support:</a:t>
            </a:r>
            <a:r>
              <a:rPr lang="en-US" sz="1100" dirty="0"/>
              <a:t> Contribute to the drafting and preparation of formal forensic reports.</a:t>
            </a:r>
          </a:p>
          <a:p>
            <a:pPr marL="228600" indent="-228600">
              <a:buFontTx/>
              <a:buAutoNum type="arabicPeriod"/>
            </a:pPr>
            <a:r>
              <a:rPr lang="en-US" sz="1100" b="1" dirty="0"/>
              <a:t>Continuous Development:</a:t>
            </a:r>
            <a:r>
              <a:rPr lang="en-US" sz="1100" dirty="0"/>
              <a:t> Actively absorb and implement standard digital forensic methodologies and operational procedures.</a:t>
            </a:r>
          </a:p>
        </p:txBody>
      </p:sp>
    </p:spTree>
    <p:extLst>
      <p:ext uri="{BB962C8B-B14F-4D97-AF65-F5344CB8AC3E}">
        <p14:creationId xmlns:p14="http://schemas.microsoft.com/office/powerpoint/2010/main" val="2918718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0955B-92F7-49AA-8D4E-A6D298EBD988}"/>
              </a:ext>
            </a:extLst>
          </p:cNvPr>
          <p:cNvSpPr>
            <a:spLocks noGrp="1"/>
          </p:cNvSpPr>
          <p:nvPr>
            <p:ph type="title"/>
          </p:nvPr>
        </p:nvSpPr>
        <p:spPr>
          <a:xfrm>
            <a:off x="393701" y="356187"/>
            <a:ext cx="10131425" cy="1456267"/>
          </a:xfrm>
        </p:spPr>
        <p:txBody>
          <a:bodyPr/>
          <a:lstStyle/>
          <a:p>
            <a:r>
              <a:rPr lang="en-MY" dirty="0"/>
              <a:t>Digital Forensic </a:t>
            </a:r>
            <a:r>
              <a:rPr lang="en-MY" dirty="0">
                <a:solidFill>
                  <a:srgbClr val="06B6D4"/>
                </a:solidFill>
              </a:rPr>
              <a:t>Software used   </a:t>
            </a:r>
          </a:p>
        </p:txBody>
      </p:sp>
      <p:pic>
        <p:nvPicPr>
          <p:cNvPr id="9" name="Picture 8" descr="image.png">
            <a:extLst>
              <a:ext uri="{FF2B5EF4-FFF2-40B4-BE49-F238E27FC236}">
                <a16:creationId xmlns:a16="http://schemas.microsoft.com/office/drawing/2014/main" id="{24774B67-977D-4C86-A167-7BDA8D7D097C}"/>
              </a:ext>
            </a:extLst>
          </p:cNvPr>
          <p:cNvPicPr>
            <a:picLocks noChangeAspect="1"/>
          </p:cNvPicPr>
          <p:nvPr/>
        </p:nvPicPr>
        <p:blipFill>
          <a:blip r:embed="rId2"/>
          <a:stretch>
            <a:fillRect/>
          </a:stretch>
        </p:blipFill>
        <p:spPr>
          <a:xfrm>
            <a:off x="117636" y="1894671"/>
            <a:ext cx="2621625" cy="4614079"/>
          </a:xfrm>
          <a:prstGeom prst="rect">
            <a:avLst/>
          </a:prstGeom>
        </p:spPr>
      </p:pic>
      <p:pic>
        <p:nvPicPr>
          <p:cNvPr id="12" name="Picture 11" descr="image.png">
            <a:extLst>
              <a:ext uri="{FF2B5EF4-FFF2-40B4-BE49-F238E27FC236}">
                <a16:creationId xmlns:a16="http://schemas.microsoft.com/office/drawing/2014/main" id="{76C5D120-FBF9-4A41-85E7-7FCF5F07DCFD}"/>
              </a:ext>
            </a:extLst>
          </p:cNvPr>
          <p:cNvPicPr>
            <a:picLocks noChangeAspect="1"/>
          </p:cNvPicPr>
          <p:nvPr/>
        </p:nvPicPr>
        <p:blipFill>
          <a:blip r:embed="rId2"/>
          <a:stretch>
            <a:fillRect/>
          </a:stretch>
        </p:blipFill>
        <p:spPr>
          <a:xfrm>
            <a:off x="2994458" y="1894670"/>
            <a:ext cx="3019736" cy="4614079"/>
          </a:xfrm>
          <a:prstGeom prst="rect">
            <a:avLst/>
          </a:prstGeom>
        </p:spPr>
      </p:pic>
      <p:sp>
        <p:nvSpPr>
          <p:cNvPr id="17" name="TextBox 16">
            <a:extLst>
              <a:ext uri="{FF2B5EF4-FFF2-40B4-BE49-F238E27FC236}">
                <a16:creationId xmlns:a16="http://schemas.microsoft.com/office/drawing/2014/main" id="{4A39EAAA-CE25-4A5F-86E9-1F3E68668EEF}"/>
              </a:ext>
            </a:extLst>
          </p:cNvPr>
          <p:cNvSpPr txBox="1"/>
          <p:nvPr/>
        </p:nvSpPr>
        <p:spPr>
          <a:xfrm>
            <a:off x="341411" y="2780426"/>
            <a:ext cx="2585093" cy="861774"/>
          </a:xfrm>
          <a:prstGeom prst="rect">
            <a:avLst/>
          </a:prstGeom>
          <a:noFill/>
        </p:spPr>
        <p:txBody>
          <a:bodyPr wrap="square" lIns="0" tIns="0" rIns="0" bIns="0" anchor="t">
            <a:spAutoFit/>
          </a:bodyPr>
          <a:lstStyle/>
          <a:p>
            <a:pPr marL="285750" indent="-285750">
              <a:buFont typeface="Wingdings" panose="05000000000000000000" pitchFamily="2" charset="2"/>
              <a:buChar char="Ø"/>
            </a:pPr>
            <a:r>
              <a:rPr lang="en-MY" sz="1400" dirty="0"/>
              <a:t>Oxygen Forensic Detective</a:t>
            </a:r>
          </a:p>
          <a:p>
            <a:pPr marL="285750" indent="-285750">
              <a:buFont typeface="Wingdings" panose="05000000000000000000" pitchFamily="2" charset="2"/>
              <a:buChar char="Ø"/>
            </a:pPr>
            <a:r>
              <a:rPr lang="en-MY" sz="1400" dirty="0"/>
              <a:t>Magnet AXIOM</a:t>
            </a:r>
          </a:p>
          <a:p>
            <a:pPr marL="285750" indent="-285750">
              <a:buFont typeface="Wingdings" panose="05000000000000000000" pitchFamily="2" charset="2"/>
              <a:buChar char="Ø"/>
            </a:pPr>
            <a:r>
              <a:rPr lang="en-MY" sz="1400" dirty="0"/>
              <a:t>Paraben E3: Universal</a:t>
            </a:r>
          </a:p>
          <a:p>
            <a:endParaRPr lang="en-MY" sz="1400" dirty="0"/>
          </a:p>
        </p:txBody>
      </p:sp>
      <p:sp>
        <p:nvSpPr>
          <p:cNvPr id="18" name="TextBox 17">
            <a:extLst>
              <a:ext uri="{FF2B5EF4-FFF2-40B4-BE49-F238E27FC236}">
                <a16:creationId xmlns:a16="http://schemas.microsoft.com/office/drawing/2014/main" id="{AEEF5026-E574-4103-998D-34C6EC8B8580}"/>
              </a:ext>
            </a:extLst>
          </p:cNvPr>
          <p:cNvSpPr txBox="1"/>
          <p:nvPr/>
        </p:nvSpPr>
        <p:spPr>
          <a:xfrm>
            <a:off x="229058" y="2019181"/>
            <a:ext cx="2291431" cy="323165"/>
          </a:xfrm>
          <a:prstGeom prst="rect">
            <a:avLst/>
          </a:prstGeom>
          <a:noFill/>
        </p:spPr>
        <p:txBody>
          <a:bodyPr wrap="square" lIns="0" tIns="0" rIns="0" bIns="0" anchor="t">
            <a:spAutoFit/>
          </a:bodyPr>
          <a:lstStyle/>
          <a:p>
            <a:pPr algn="ctr"/>
            <a:r>
              <a:rPr lang="en-MY" sz="2100" b="1" i="0" u="none" dirty="0">
                <a:solidFill>
                  <a:srgbClr val="06B6D4"/>
                </a:solidFill>
                <a:latin typeface="Space Grotesk"/>
              </a:rPr>
              <a:t>Mobile Acquisition</a:t>
            </a:r>
            <a:endParaRPr sz="2100" b="1" i="0" u="none" dirty="0">
              <a:solidFill>
                <a:srgbClr val="06B6D4"/>
              </a:solidFill>
              <a:latin typeface="Space Grotesk"/>
            </a:endParaRPr>
          </a:p>
        </p:txBody>
      </p:sp>
      <p:sp>
        <p:nvSpPr>
          <p:cNvPr id="19" name="TextBox 18">
            <a:extLst>
              <a:ext uri="{FF2B5EF4-FFF2-40B4-BE49-F238E27FC236}">
                <a16:creationId xmlns:a16="http://schemas.microsoft.com/office/drawing/2014/main" id="{394A6A15-7DFB-4F99-9998-E15610399CD4}"/>
              </a:ext>
            </a:extLst>
          </p:cNvPr>
          <p:cNvSpPr txBox="1"/>
          <p:nvPr/>
        </p:nvSpPr>
        <p:spPr>
          <a:xfrm>
            <a:off x="3158071" y="2782669"/>
            <a:ext cx="2628304" cy="1292662"/>
          </a:xfrm>
          <a:prstGeom prst="rect">
            <a:avLst/>
          </a:prstGeom>
          <a:noFill/>
        </p:spPr>
        <p:txBody>
          <a:bodyPr wrap="square" lIns="0" tIns="0" rIns="0" bIns="0" anchor="t">
            <a:spAutoFit/>
          </a:bodyPr>
          <a:lstStyle/>
          <a:p>
            <a:pPr marL="285750" indent="-285750">
              <a:buFont typeface="Wingdings" panose="05000000000000000000" pitchFamily="2" charset="2"/>
              <a:buChar char="Ø"/>
            </a:pPr>
            <a:r>
              <a:rPr lang="en-MY" sz="1400" dirty="0"/>
              <a:t>Oxygen Forensic Detective</a:t>
            </a:r>
          </a:p>
          <a:p>
            <a:pPr marL="285750" indent="-285750">
              <a:buFont typeface="Wingdings" panose="05000000000000000000" pitchFamily="2" charset="2"/>
              <a:buChar char="Ø"/>
            </a:pPr>
            <a:r>
              <a:rPr lang="en-MY" sz="1400" dirty="0"/>
              <a:t>SUMURI PALADIN</a:t>
            </a:r>
          </a:p>
          <a:p>
            <a:pPr marL="285750" indent="-285750">
              <a:buFont typeface="Wingdings" panose="05000000000000000000" pitchFamily="2" charset="2"/>
              <a:buChar char="Ø"/>
            </a:pPr>
            <a:r>
              <a:rPr lang="en-MY" sz="1400" dirty="0"/>
              <a:t>SUMURI RECON ITR</a:t>
            </a:r>
          </a:p>
          <a:p>
            <a:pPr marL="285750" indent="-285750">
              <a:buFont typeface="Wingdings" panose="05000000000000000000" pitchFamily="2" charset="2"/>
              <a:buChar char="Ø"/>
            </a:pPr>
            <a:r>
              <a:rPr lang="en-MY" sz="1400" dirty="0"/>
              <a:t>OpenText EnCase Forensic</a:t>
            </a:r>
          </a:p>
          <a:p>
            <a:pPr marL="285750" indent="-285750">
              <a:buFont typeface="Wingdings" panose="05000000000000000000" pitchFamily="2" charset="2"/>
              <a:buChar char="Ø"/>
            </a:pPr>
            <a:r>
              <a:rPr lang="en-MY" sz="1400" dirty="0"/>
              <a:t>Exterro FTK Imager</a:t>
            </a:r>
          </a:p>
          <a:p>
            <a:pPr marL="285750" indent="-285750">
              <a:buFont typeface="Wingdings" panose="05000000000000000000" pitchFamily="2" charset="2"/>
              <a:buChar char="Ø"/>
            </a:pPr>
            <a:r>
              <a:rPr lang="en-MY" sz="1400" dirty="0"/>
              <a:t>Logicube TX1 Forensic Imager</a:t>
            </a:r>
          </a:p>
        </p:txBody>
      </p:sp>
      <p:sp>
        <p:nvSpPr>
          <p:cNvPr id="20" name="TextBox 19">
            <a:extLst>
              <a:ext uri="{FF2B5EF4-FFF2-40B4-BE49-F238E27FC236}">
                <a16:creationId xmlns:a16="http://schemas.microsoft.com/office/drawing/2014/main" id="{9ECFB45F-D7F5-4102-B9A1-5773D8BEE8E5}"/>
              </a:ext>
            </a:extLst>
          </p:cNvPr>
          <p:cNvSpPr txBox="1"/>
          <p:nvPr/>
        </p:nvSpPr>
        <p:spPr>
          <a:xfrm>
            <a:off x="3158071" y="1971906"/>
            <a:ext cx="2628304" cy="646331"/>
          </a:xfrm>
          <a:prstGeom prst="rect">
            <a:avLst/>
          </a:prstGeom>
          <a:noFill/>
        </p:spPr>
        <p:txBody>
          <a:bodyPr wrap="square" lIns="0" tIns="0" rIns="0" bIns="0" anchor="t">
            <a:spAutoFit/>
          </a:bodyPr>
          <a:lstStyle/>
          <a:p>
            <a:pPr algn="ctr"/>
            <a:r>
              <a:rPr lang="en-MY" sz="2100" b="1" i="0" u="none" dirty="0">
                <a:solidFill>
                  <a:srgbClr val="06B6D4"/>
                </a:solidFill>
                <a:latin typeface="Space Grotesk"/>
              </a:rPr>
              <a:t>Computer and Storage Device Acquisition</a:t>
            </a:r>
            <a:endParaRPr sz="2100" b="1" i="0" u="none" dirty="0">
              <a:solidFill>
                <a:srgbClr val="06B6D4"/>
              </a:solidFill>
              <a:latin typeface="Space Grotesk"/>
            </a:endParaRPr>
          </a:p>
        </p:txBody>
      </p:sp>
      <p:pic>
        <p:nvPicPr>
          <p:cNvPr id="22" name="Picture 21" descr="image.png">
            <a:extLst>
              <a:ext uri="{FF2B5EF4-FFF2-40B4-BE49-F238E27FC236}">
                <a16:creationId xmlns:a16="http://schemas.microsoft.com/office/drawing/2014/main" id="{37A96C0C-0F45-4D16-887D-250C564DE9C6}"/>
              </a:ext>
            </a:extLst>
          </p:cNvPr>
          <p:cNvPicPr>
            <a:picLocks noChangeAspect="1"/>
          </p:cNvPicPr>
          <p:nvPr/>
        </p:nvPicPr>
        <p:blipFill>
          <a:blip r:embed="rId2"/>
          <a:stretch>
            <a:fillRect/>
          </a:stretch>
        </p:blipFill>
        <p:spPr>
          <a:xfrm>
            <a:off x="6177807" y="1894670"/>
            <a:ext cx="3019736" cy="4614079"/>
          </a:xfrm>
          <a:prstGeom prst="rect">
            <a:avLst/>
          </a:prstGeom>
        </p:spPr>
      </p:pic>
      <p:sp>
        <p:nvSpPr>
          <p:cNvPr id="24" name="TextBox 23">
            <a:extLst>
              <a:ext uri="{FF2B5EF4-FFF2-40B4-BE49-F238E27FC236}">
                <a16:creationId xmlns:a16="http://schemas.microsoft.com/office/drawing/2014/main" id="{CAD95D0F-C710-4C89-9D30-8B738DDDB66B}"/>
              </a:ext>
            </a:extLst>
          </p:cNvPr>
          <p:cNvSpPr txBox="1"/>
          <p:nvPr/>
        </p:nvSpPr>
        <p:spPr>
          <a:xfrm>
            <a:off x="6205185" y="1962612"/>
            <a:ext cx="2780065" cy="646331"/>
          </a:xfrm>
          <a:prstGeom prst="rect">
            <a:avLst/>
          </a:prstGeom>
          <a:noFill/>
        </p:spPr>
        <p:txBody>
          <a:bodyPr wrap="square" lIns="0" tIns="0" rIns="0" bIns="0" anchor="t">
            <a:spAutoFit/>
          </a:bodyPr>
          <a:lstStyle/>
          <a:p>
            <a:pPr algn="ctr"/>
            <a:r>
              <a:rPr lang="en-MY" sz="2100" b="1" dirty="0">
                <a:solidFill>
                  <a:srgbClr val="06B6D4"/>
                </a:solidFill>
                <a:latin typeface="Space Grotesk"/>
              </a:rPr>
              <a:t>Forensic Image Processing</a:t>
            </a:r>
            <a:r>
              <a:rPr lang="en-MY" sz="2100" b="1" i="0" u="none" dirty="0">
                <a:solidFill>
                  <a:srgbClr val="06B6D4"/>
                </a:solidFill>
                <a:latin typeface="Space Grotesk"/>
              </a:rPr>
              <a:t> </a:t>
            </a:r>
            <a:endParaRPr sz="2100" b="1" i="0" u="none" dirty="0">
              <a:solidFill>
                <a:srgbClr val="06B6D4"/>
              </a:solidFill>
              <a:latin typeface="Space Grotesk"/>
            </a:endParaRPr>
          </a:p>
        </p:txBody>
      </p:sp>
      <p:sp>
        <p:nvSpPr>
          <p:cNvPr id="25" name="TextBox 24">
            <a:extLst>
              <a:ext uri="{FF2B5EF4-FFF2-40B4-BE49-F238E27FC236}">
                <a16:creationId xmlns:a16="http://schemas.microsoft.com/office/drawing/2014/main" id="{4782D2EA-75D7-48B2-B074-DD09028DA7E3}"/>
              </a:ext>
            </a:extLst>
          </p:cNvPr>
          <p:cNvSpPr txBox="1"/>
          <p:nvPr/>
        </p:nvSpPr>
        <p:spPr>
          <a:xfrm>
            <a:off x="6384435" y="2782669"/>
            <a:ext cx="3146301" cy="1292662"/>
          </a:xfrm>
          <a:prstGeom prst="rect">
            <a:avLst/>
          </a:prstGeom>
          <a:noFill/>
        </p:spPr>
        <p:txBody>
          <a:bodyPr wrap="square" lIns="0" tIns="0" rIns="0" bIns="0" anchor="t">
            <a:spAutoFit/>
          </a:bodyPr>
          <a:lstStyle/>
          <a:p>
            <a:pPr marL="285750" indent="-285750">
              <a:buFont typeface="Wingdings" panose="05000000000000000000" pitchFamily="2" charset="2"/>
              <a:buChar char="Ø"/>
            </a:pPr>
            <a:r>
              <a:rPr lang="en-MY" sz="1400" dirty="0"/>
              <a:t>Oxygen Forensic Detective</a:t>
            </a:r>
          </a:p>
          <a:p>
            <a:pPr marL="285750" indent="-285750">
              <a:buFont typeface="Wingdings" panose="05000000000000000000" pitchFamily="2" charset="2"/>
              <a:buChar char="Ø"/>
            </a:pPr>
            <a:r>
              <a:rPr lang="en-MY" sz="1400" dirty="0"/>
              <a:t>Magnet AXIOM</a:t>
            </a:r>
          </a:p>
          <a:p>
            <a:pPr marL="285750" indent="-285750">
              <a:buFont typeface="Wingdings" panose="05000000000000000000" pitchFamily="2" charset="2"/>
              <a:buChar char="Ø"/>
            </a:pPr>
            <a:r>
              <a:rPr lang="en-MY" sz="1400" dirty="0"/>
              <a:t>OpenText EnCase Forensic</a:t>
            </a:r>
          </a:p>
          <a:p>
            <a:pPr marL="285750" indent="-285750">
              <a:buFont typeface="Wingdings" panose="05000000000000000000" pitchFamily="2" charset="2"/>
              <a:buChar char="Ø"/>
            </a:pPr>
            <a:r>
              <a:rPr lang="en-MY" sz="1400" dirty="0"/>
              <a:t>Paraben E3: Universal</a:t>
            </a:r>
          </a:p>
          <a:p>
            <a:pPr marL="285750" indent="-285750">
              <a:buFont typeface="Wingdings" panose="05000000000000000000" pitchFamily="2" charset="2"/>
              <a:buChar char="Ø"/>
            </a:pPr>
            <a:r>
              <a:rPr lang="en-MY" sz="1400" dirty="0"/>
              <a:t>Intella</a:t>
            </a:r>
          </a:p>
          <a:p>
            <a:pPr marL="285750" indent="-285750">
              <a:buFont typeface="Wingdings" panose="05000000000000000000" pitchFamily="2" charset="2"/>
              <a:buChar char="Ø"/>
            </a:pPr>
            <a:r>
              <a:rPr lang="en-MY" sz="1400" dirty="0"/>
              <a:t>FotoForensics</a:t>
            </a:r>
          </a:p>
        </p:txBody>
      </p:sp>
      <p:pic>
        <p:nvPicPr>
          <p:cNvPr id="27" name="Picture 26" descr="image.png">
            <a:extLst>
              <a:ext uri="{FF2B5EF4-FFF2-40B4-BE49-F238E27FC236}">
                <a16:creationId xmlns:a16="http://schemas.microsoft.com/office/drawing/2014/main" id="{85EB131D-CAC7-4F22-8833-1D129DB73DFA}"/>
              </a:ext>
            </a:extLst>
          </p:cNvPr>
          <p:cNvPicPr>
            <a:picLocks noChangeAspect="1"/>
          </p:cNvPicPr>
          <p:nvPr/>
        </p:nvPicPr>
        <p:blipFill>
          <a:blip r:embed="rId2"/>
          <a:stretch>
            <a:fillRect/>
          </a:stretch>
        </p:blipFill>
        <p:spPr>
          <a:xfrm>
            <a:off x="9429110" y="1894670"/>
            <a:ext cx="2621625" cy="4614079"/>
          </a:xfrm>
          <a:prstGeom prst="rect">
            <a:avLst/>
          </a:prstGeom>
        </p:spPr>
      </p:pic>
      <p:sp>
        <p:nvSpPr>
          <p:cNvPr id="28" name="TextBox 27">
            <a:extLst>
              <a:ext uri="{FF2B5EF4-FFF2-40B4-BE49-F238E27FC236}">
                <a16:creationId xmlns:a16="http://schemas.microsoft.com/office/drawing/2014/main" id="{555B7788-1CA2-403D-BB6A-E7FE299661CA}"/>
              </a:ext>
            </a:extLst>
          </p:cNvPr>
          <p:cNvSpPr txBox="1"/>
          <p:nvPr/>
        </p:nvSpPr>
        <p:spPr>
          <a:xfrm>
            <a:off x="9731054" y="1986723"/>
            <a:ext cx="2017735" cy="323165"/>
          </a:xfrm>
          <a:prstGeom prst="rect">
            <a:avLst/>
          </a:prstGeom>
          <a:noFill/>
        </p:spPr>
        <p:txBody>
          <a:bodyPr wrap="square" lIns="0" tIns="0" rIns="0" bIns="0" anchor="t">
            <a:spAutoFit/>
          </a:bodyPr>
          <a:lstStyle/>
          <a:p>
            <a:pPr algn="ctr"/>
            <a:r>
              <a:rPr lang="en-MY" sz="2100" b="1" dirty="0">
                <a:solidFill>
                  <a:srgbClr val="06B6D4"/>
                </a:solidFill>
                <a:latin typeface="Space Grotesk"/>
              </a:rPr>
              <a:t>Email Forensics</a:t>
            </a:r>
            <a:endParaRPr sz="2100" b="1" i="0" u="none" dirty="0">
              <a:solidFill>
                <a:srgbClr val="06B6D4"/>
              </a:solidFill>
              <a:latin typeface="Space Grotesk"/>
            </a:endParaRPr>
          </a:p>
        </p:txBody>
      </p:sp>
      <p:sp>
        <p:nvSpPr>
          <p:cNvPr id="29" name="TextBox 28">
            <a:extLst>
              <a:ext uri="{FF2B5EF4-FFF2-40B4-BE49-F238E27FC236}">
                <a16:creationId xmlns:a16="http://schemas.microsoft.com/office/drawing/2014/main" id="{1F236AE4-84AE-427E-B808-485780AF4887}"/>
              </a:ext>
            </a:extLst>
          </p:cNvPr>
          <p:cNvSpPr txBox="1"/>
          <p:nvPr/>
        </p:nvSpPr>
        <p:spPr>
          <a:xfrm>
            <a:off x="9563696" y="2777688"/>
            <a:ext cx="2628304" cy="861774"/>
          </a:xfrm>
          <a:prstGeom prst="rect">
            <a:avLst/>
          </a:prstGeom>
          <a:noFill/>
        </p:spPr>
        <p:txBody>
          <a:bodyPr wrap="square" lIns="0" tIns="0" rIns="0" bIns="0" anchor="t">
            <a:spAutoFit/>
          </a:bodyPr>
          <a:lstStyle/>
          <a:p>
            <a:pPr marL="285750" indent="-285750">
              <a:buFont typeface="Wingdings" panose="05000000000000000000" pitchFamily="2" charset="2"/>
              <a:buChar char="Ø"/>
            </a:pPr>
            <a:r>
              <a:rPr lang="en-MY" sz="1400" dirty="0"/>
              <a:t>Intella</a:t>
            </a:r>
          </a:p>
          <a:p>
            <a:pPr marL="285750" indent="-285750">
              <a:buFont typeface="Wingdings" panose="05000000000000000000" pitchFamily="2" charset="2"/>
              <a:buChar char="Ø"/>
            </a:pPr>
            <a:r>
              <a:rPr lang="en-MY" sz="1400" dirty="0"/>
              <a:t>OpenText EnCase Forensic</a:t>
            </a:r>
          </a:p>
          <a:p>
            <a:pPr marL="285750" indent="-285750">
              <a:buFont typeface="Wingdings" panose="05000000000000000000" pitchFamily="2" charset="2"/>
              <a:buChar char="Ø"/>
            </a:pPr>
            <a:r>
              <a:rPr lang="en-MY" sz="1400" dirty="0"/>
              <a:t>Magnet AXIOM</a:t>
            </a:r>
          </a:p>
          <a:p>
            <a:pPr marL="285750" indent="-285750">
              <a:buFont typeface="Wingdings" panose="05000000000000000000" pitchFamily="2" charset="2"/>
              <a:buChar char="Ø"/>
            </a:pPr>
            <a:r>
              <a:rPr lang="en-MY" sz="1400" dirty="0"/>
              <a:t>Oxygen Forensic Detective</a:t>
            </a:r>
          </a:p>
        </p:txBody>
      </p:sp>
    </p:spTree>
    <p:extLst>
      <p:ext uri="{BB962C8B-B14F-4D97-AF65-F5344CB8AC3E}">
        <p14:creationId xmlns:p14="http://schemas.microsoft.com/office/powerpoint/2010/main" val="4051889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B8BBD-4F61-4946-BF29-DE8D6B8E3FA9}"/>
              </a:ext>
            </a:extLst>
          </p:cNvPr>
          <p:cNvSpPr>
            <a:spLocks noGrp="1"/>
          </p:cNvSpPr>
          <p:nvPr>
            <p:ph type="title"/>
          </p:nvPr>
        </p:nvSpPr>
        <p:spPr>
          <a:xfrm>
            <a:off x="609601" y="254000"/>
            <a:ext cx="10131425" cy="1456267"/>
          </a:xfrm>
        </p:spPr>
        <p:txBody>
          <a:bodyPr/>
          <a:lstStyle/>
          <a:p>
            <a:r>
              <a:rPr lang="en-MY" dirty="0"/>
              <a:t>Digital Audio </a:t>
            </a:r>
            <a:r>
              <a:rPr lang="en-MY" dirty="0">
                <a:solidFill>
                  <a:srgbClr val="06B6D4"/>
                </a:solidFill>
              </a:rPr>
              <a:t>Forensic Analysis </a:t>
            </a:r>
          </a:p>
        </p:txBody>
      </p:sp>
      <p:sp>
        <p:nvSpPr>
          <p:cNvPr id="4" name="TextBox 3">
            <a:extLst>
              <a:ext uri="{FF2B5EF4-FFF2-40B4-BE49-F238E27FC236}">
                <a16:creationId xmlns:a16="http://schemas.microsoft.com/office/drawing/2014/main" id="{3532AC69-2BA3-450A-A974-0882AA24E094}"/>
              </a:ext>
            </a:extLst>
          </p:cNvPr>
          <p:cNvSpPr txBox="1"/>
          <p:nvPr/>
        </p:nvSpPr>
        <p:spPr>
          <a:xfrm>
            <a:off x="1174789" y="2782669"/>
            <a:ext cx="2585093" cy="1292662"/>
          </a:xfrm>
          <a:prstGeom prst="rect">
            <a:avLst/>
          </a:prstGeom>
          <a:noFill/>
        </p:spPr>
        <p:txBody>
          <a:bodyPr wrap="square" lIns="0" tIns="0" rIns="0" bIns="0" anchor="t">
            <a:spAutoFit/>
          </a:bodyPr>
          <a:lstStyle/>
          <a:p>
            <a:pPr marL="285750" indent="-285750">
              <a:buFont typeface="Wingdings" panose="05000000000000000000" pitchFamily="2" charset="2"/>
              <a:buChar char="Ø"/>
            </a:pPr>
            <a:r>
              <a:rPr lang="en-MY" sz="1400" dirty="0"/>
              <a:t>Non tampered and tampered audio stream pic </a:t>
            </a:r>
          </a:p>
          <a:p>
            <a:pPr marL="285750" indent="-285750">
              <a:buFont typeface="Wingdings" panose="05000000000000000000" pitchFamily="2" charset="2"/>
              <a:buChar char="Ø"/>
            </a:pPr>
            <a:r>
              <a:rPr lang="en-MY" sz="1400" dirty="0"/>
              <a:t>Steps to do audio forensics</a:t>
            </a:r>
          </a:p>
          <a:p>
            <a:pPr marL="285750" indent="-285750">
              <a:buFont typeface="Wingdings" panose="05000000000000000000" pitchFamily="2" charset="2"/>
              <a:buChar char="Ø"/>
            </a:pPr>
            <a:r>
              <a:rPr lang="en-MY" sz="1400" dirty="0"/>
              <a:t>Metadata of the audio in forensic tools</a:t>
            </a:r>
          </a:p>
          <a:p>
            <a:endParaRPr lang="en-MY" sz="1400" dirty="0"/>
          </a:p>
        </p:txBody>
      </p:sp>
    </p:spTree>
    <p:extLst>
      <p:ext uri="{BB962C8B-B14F-4D97-AF65-F5344CB8AC3E}">
        <p14:creationId xmlns:p14="http://schemas.microsoft.com/office/powerpoint/2010/main" val="2559446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55658-AD70-4374-B218-425073E49068}"/>
              </a:ext>
            </a:extLst>
          </p:cNvPr>
          <p:cNvSpPr>
            <a:spLocks noGrp="1"/>
          </p:cNvSpPr>
          <p:nvPr>
            <p:ph type="title"/>
          </p:nvPr>
        </p:nvSpPr>
        <p:spPr/>
        <p:txBody>
          <a:bodyPr/>
          <a:lstStyle/>
          <a:p>
            <a:r>
              <a:rPr lang="en-MY" dirty="0"/>
              <a:t>Digital Video </a:t>
            </a:r>
            <a:r>
              <a:rPr lang="en-MY" dirty="0">
                <a:solidFill>
                  <a:srgbClr val="06B6D4"/>
                </a:solidFill>
              </a:rPr>
              <a:t>forensic analysis</a:t>
            </a:r>
          </a:p>
        </p:txBody>
      </p:sp>
      <p:sp>
        <p:nvSpPr>
          <p:cNvPr id="7" name="TextBox 6">
            <a:extLst>
              <a:ext uri="{FF2B5EF4-FFF2-40B4-BE49-F238E27FC236}">
                <a16:creationId xmlns:a16="http://schemas.microsoft.com/office/drawing/2014/main" id="{8224163D-196E-4733-9744-716F733C45F4}"/>
              </a:ext>
            </a:extLst>
          </p:cNvPr>
          <p:cNvSpPr txBox="1"/>
          <p:nvPr/>
        </p:nvSpPr>
        <p:spPr>
          <a:xfrm>
            <a:off x="6292770" y="2607451"/>
            <a:ext cx="1450693" cy="861774"/>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Metadata Verification and Authenticity Assessment</a:t>
            </a:r>
          </a:p>
        </p:txBody>
      </p:sp>
      <p:sp>
        <p:nvSpPr>
          <p:cNvPr id="8" name="TextBox 7">
            <a:extLst>
              <a:ext uri="{FF2B5EF4-FFF2-40B4-BE49-F238E27FC236}">
                <a16:creationId xmlns:a16="http://schemas.microsoft.com/office/drawing/2014/main" id="{EAC1C320-50FA-4A2C-A96B-D6EC4C0CBB80}"/>
              </a:ext>
            </a:extLst>
          </p:cNvPr>
          <p:cNvSpPr txBox="1"/>
          <p:nvPr/>
        </p:nvSpPr>
        <p:spPr>
          <a:xfrm>
            <a:off x="8123499" y="2605164"/>
            <a:ext cx="1450693" cy="861774"/>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Video Frame Extraction Using </a:t>
            </a:r>
            <a:r>
              <a:rPr kumimoji="0" lang="en-US" altLang="en-US" sz="1400" i="0" u="none" strike="noStrike" cap="none" normalizeH="0" baseline="0" dirty="0" err="1">
                <a:ln>
                  <a:noFill/>
                </a:ln>
                <a:solidFill>
                  <a:schemeClr val="tx1"/>
                </a:solidFill>
                <a:effectLst/>
                <a:latin typeface="Arial" panose="020B0604020202020204" pitchFamily="34" charset="0"/>
              </a:rPr>
              <a:t>FFmpeg</a:t>
            </a:r>
            <a:r>
              <a:rPr kumimoji="0" lang="en-US" altLang="en-US" sz="1400" i="0" u="none" strike="noStrike" cap="none" normalizeH="0" baseline="0" dirty="0">
                <a:ln>
                  <a:noFill/>
                </a:ln>
                <a:solidFill>
                  <a:schemeClr val="tx1"/>
                </a:solidFill>
                <a:effectLst/>
                <a:latin typeface="Arial" panose="020B0604020202020204" pitchFamily="34" charset="0"/>
              </a:rPr>
              <a:t> on Kali Linux</a:t>
            </a:r>
          </a:p>
        </p:txBody>
      </p:sp>
      <p:sp>
        <p:nvSpPr>
          <p:cNvPr id="9" name="TextBox 8">
            <a:extLst>
              <a:ext uri="{FF2B5EF4-FFF2-40B4-BE49-F238E27FC236}">
                <a16:creationId xmlns:a16="http://schemas.microsoft.com/office/drawing/2014/main" id="{D058A48B-E8F6-4A65-A8AC-B58C0372C2DA}"/>
              </a:ext>
            </a:extLst>
          </p:cNvPr>
          <p:cNvSpPr txBox="1"/>
          <p:nvPr/>
        </p:nvSpPr>
        <p:spPr>
          <a:xfrm>
            <a:off x="9954228" y="2619919"/>
            <a:ext cx="1450693" cy="1077218"/>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Analysis of Video Metadata and Audio/Video Properties from </a:t>
            </a:r>
            <a:r>
              <a:rPr kumimoji="0" lang="en-US" altLang="en-US" sz="1400" i="0" u="none" strike="noStrike" cap="none" normalizeH="0" baseline="0" dirty="0" err="1">
                <a:ln>
                  <a:noFill/>
                </a:ln>
                <a:solidFill>
                  <a:schemeClr val="tx1"/>
                </a:solidFill>
                <a:effectLst/>
                <a:latin typeface="Arial" panose="020B0604020202020204" pitchFamily="34" charset="0"/>
              </a:rPr>
              <a:t>FFmpeg</a:t>
            </a:r>
            <a:r>
              <a:rPr kumimoji="0" lang="en-US" altLang="en-US" sz="1400" i="0" u="none" strike="noStrike" cap="none" normalizeH="0" baseline="0" dirty="0">
                <a:ln>
                  <a:noFill/>
                </a:ln>
                <a:solidFill>
                  <a:schemeClr val="tx1"/>
                </a:solidFill>
                <a:effectLst/>
                <a:latin typeface="Arial" panose="020B0604020202020204" pitchFamily="34" charset="0"/>
              </a:rPr>
              <a:t> Output</a:t>
            </a:r>
          </a:p>
        </p:txBody>
      </p:sp>
      <p:sp>
        <p:nvSpPr>
          <p:cNvPr id="10" name="TextBox 9">
            <a:extLst>
              <a:ext uri="{FF2B5EF4-FFF2-40B4-BE49-F238E27FC236}">
                <a16:creationId xmlns:a16="http://schemas.microsoft.com/office/drawing/2014/main" id="{E5143187-1966-4E27-86A2-9B0A8A54F11D}"/>
              </a:ext>
            </a:extLst>
          </p:cNvPr>
          <p:cNvSpPr txBox="1"/>
          <p:nvPr/>
        </p:nvSpPr>
        <p:spPr>
          <a:xfrm>
            <a:off x="4395345" y="4010810"/>
            <a:ext cx="2161712" cy="1077218"/>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Frame-by-Frame Continuity Analysis to Identify Gaps, Blanks, or Inconsistencies and Assess Video Integrity</a:t>
            </a:r>
          </a:p>
        </p:txBody>
      </p:sp>
      <p:sp>
        <p:nvSpPr>
          <p:cNvPr id="11" name="TextBox 10">
            <a:extLst>
              <a:ext uri="{FF2B5EF4-FFF2-40B4-BE49-F238E27FC236}">
                <a16:creationId xmlns:a16="http://schemas.microsoft.com/office/drawing/2014/main" id="{35A71DA8-DF07-4D99-89BA-665B2E0B1873}"/>
              </a:ext>
            </a:extLst>
          </p:cNvPr>
          <p:cNvSpPr txBox="1"/>
          <p:nvPr/>
        </p:nvSpPr>
        <p:spPr>
          <a:xfrm>
            <a:off x="6858001" y="4144134"/>
            <a:ext cx="1649391" cy="1077218"/>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Audio Extraction and Continuity Analysis Using </a:t>
            </a:r>
            <a:r>
              <a:rPr kumimoji="0" lang="en-US" altLang="en-US" sz="1400" i="0" u="none" strike="noStrike" cap="none" normalizeH="0" baseline="0" dirty="0" err="1">
                <a:ln>
                  <a:noFill/>
                </a:ln>
                <a:solidFill>
                  <a:schemeClr val="tx1"/>
                </a:solidFill>
                <a:effectLst/>
                <a:latin typeface="Arial" panose="020B0604020202020204" pitchFamily="34" charset="0"/>
              </a:rPr>
              <a:t>iZotope</a:t>
            </a:r>
            <a:r>
              <a:rPr kumimoji="0" lang="en-US" altLang="en-US" sz="1400" i="0" u="none" strike="noStrike" cap="none" normalizeH="0" baseline="0" dirty="0">
                <a:ln>
                  <a:noFill/>
                </a:ln>
                <a:solidFill>
                  <a:schemeClr val="tx1"/>
                </a:solidFill>
                <a:effectLst/>
                <a:latin typeface="Arial" panose="020B0604020202020204" pitchFamily="34" charset="0"/>
              </a:rPr>
              <a:t> to Identify Cuts, Gaps, or Tampering</a:t>
            </a:r>
          </a:p>
        </p:txBody>
      </p:sp>
      <p:sp>
        <p:nvSpPr>
          <p:cNvPr id="14" name="TextBox 13">
            <a:extLst>
              <a:ext uri="{FF2B5EF4-FFF2-40B4-BE49-F238E27FC236}">
                <a16:creationId xmlns:a16="http://schemas.microsoft.com/office/drawing/2014/main" id="{722A3980-2346-40F0-8B0F-00D1CBE2632B}"/>
              </a:ext>
            </a:extLst>
          </p:cNvPr>
          <p:cNvSpPr txBox="1"/>
          <p:nvPr/>
        </p:nvSpPr>
        <p:spPr>
          <a:xfrm>
            <a:off x="4560426" y="2607451"/>
            <a:ext cx="1450693" cy="861774"/>
          </a:xfrm>
          <a:prstGeom prst="rect">
            <a:avLst/>
          </a:prstGeom>
          <a:noFill/>
          <a:ln>
            <a:solidFill>
              <a:srgbClr val="92D050"/>
            </a:solidFill>
          </a:ln>
        </p:spPr>
        <p:txBody>
          <a:bodyPr wrap="square" lIns="0" tIns="0" rIns="0" bIns="0" anchor="t">
            <a:spAutoFit/>
          </a:bodyPr>
          <a:lstStyle/>
          <a:p>
            <a:r>
              <a:rPr kumimoji="0" lang="en-US" altLang="en-US" sz="1400" i="0" u="none" strike="noStrike" cap="none" normalizeH="0" baseline="0" dirty="0">
                <a:ln>
                  <a:noFill/>
                </a:ln>
                <a:solidFill>
                  <a:schemeClr val="tx1"/>
                </a:solidFill>
                <a:effectLst/>
                <a:latin typeface="Arial" panose="020B0604020202020204" pitchFamily="34" charset="0"/>
              </a:rPr>
              <a:t>Video Metadata Analysis Using Forensic Software and ExifTool</a:t>
            </a:r>
          </a:p>
        </p:txBody>
      </p:sp>
    </p:spTree>
    <p:extLst>
      <p:ext uri="{BB962C8B-B14F-4D97-AF65-F5344CB8AC3E}">
        <p14:creationId xmlns:p14="http://schemas.microsoft.com/office/powerpoint/2010/main" val="1599737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932E2-CBD9-4FA3-8A3B-4C7263345F6B}"/>
              </a:ext>
            </a:extLst>
          </p:cNvPr>
          <p:cNvSpPr>
            <a:spLocks noGrp="1"/>
          </p:cNvSpPr>
          <p:nvPr>
            <p:ph type="title"/>
          </p:nvPr>
        </p:nvSpPr>
        <p:spPr/>
        <p:txBody>
          <a:bodyPr/>
          <a:lstStyle/>
          <a:p>
            <a:r>
              <a:rPr lang="en-MY" dirty="0"/>
              <a:t>Digital Photo </a:t>
            </a:r>
            <a:r>
              <a:rPr lang="en-MY" dirty="0">
                <a:solidFill>
                  <a:srgbClr val="06B6D4"/>
                </a:solidFill>
              </a:rPr>
              <a:t>forensic analysis</a:t>
            </a:r>
          </a:p>
        </p:txBody>
      </p:sp>
      <p:sp>
        <p:nvSpPr>
          <p:cNvPr id="4" name="TextBox 3">
            <a:extLst>
              <a:ext uri="{FF2B5EF4-FFF2-40B4-BE49-F238E27FC236}">
                <a16:creationId xmlns:a16="http://schemas.microsoft.com/office/drawing/2014/main" id="{E27848FB-DC9D-489C-81D8-A826E208CBD2}"/>
              </a:ext>
            </a:extLst>
          </p:cNvPr>
          <p:cNvSpPr txBox="1"/>
          <p:nvPr/>
        </p:nvSpPr>
        <p:spPr>
          <a:xfrm>
            <a:off x="572904" y="3341799"/>
            <a:ext cx="2585093" cy="1292662"/>
          </a:xfrm>
          <a:prstGeom prst="rect">
            <a:avLst/>
          </a:prstGeom>
          <a:noFill/>
        </p:spPr>
        <p:txBody>
          <a:bodyPr wrap="square" lIns="0" tIns="0" rIns="0" bIns="0" anchor="t">
            <a:spAutoFit/>
          </a:bodyPr>
          <a:lstStyle/>
          <a:p>
            <a:pPr marL="285750" indent="-285750">
              <a:buFont typeface="Wingdings" panose="05000000000000000000" pitchFamily="2" charset="2"/>
              <a:buChar char="Ø"/>
            </a:pPr>
            <a:r>
              <a:rPr lang="en-MY" sz="1400" dirty="0"/>
              <a:t>Analysis using </a:t>
            </a:r>
            <a:r>
              <a:rPr lang="en-MY" sz="1400" dirty="0" err="1"/>
              <a:t>lab.fotoforensic</a:t>
            </a:r>
            <a:endParaRPr lang="en-MY" sz="1400" dirty="0"/>
          </a:p>
          <a:p>
            <a:pPr marL="285750" indent="-285750">
              <a:buFont typeface="Wingdings" panose="05000000000000000000" pitchFamily="2" charset="2"/>
              <a:buChar char="Ø"/>
            </a:pPr>
            <a:r>
              <a:rPr lang="en-MY" sz="1400" dirty="0"/>
              <a:t>Upload pic and verification of </a:t>
            </a:r>
            <a:r>
              <a:rPr lang="en-MY" sz="1400" dirty="0" err="1"/>
              <a:t>ELA,Histogram</a:t>
            </a:r>
            <a:r>
              <a:rPr lang="en-MY" sz="1400" dirty="0"/>
              <a:t>, and more</a:t>
            </a:r>
          </a:p>
          <a:p>
            <a:pPr marL="285750" indent="-285750">
              <a:buFont typeface="Wingdings" panose="05000000000000000000" pitchFamily="2" charset="2"/>
              <a:buChar char="Ø"/>
            </a:pPr>
            <a:r>
              <a:rPr lang="en-MY" sz="1400" dirty="0"/>
              <a:t>Metadata using Exiftool and forensic software</a:t>
            </a:r>
          </a:p>
          <a:p>
            <a:pPr marL="285750" indent="-285750">
              <a:buFont typeface="Wingdings" panose="05000000000000000000" pitchFamily="2" charset="2"/>
              <a:buChar char="Ø"/>
            </a:pPr>
            <a:r>
              <a:rPr lang="en-MY" sz="1400" dirty="0"/>
              <a:t>Steps to be done</a:t>
            </a:r>
          </a:p>
        </p:txBody>
      </p:sp>
      <p:pic>
        <p:nvPicPr>
          <p:cNvPr id="2050" name="Picture 2" descr="FotoForensics">
            <a:extLst>
              <a:ext uri="{FF2B5EF4-FFF2-40B4-BE49-F238E27FC236}">
                <a16:creationId xmlns:a16="http://schemas.microsoft.com/office/drawing/2014/main" id="{B13AD5A7-8F64-4825-8EB5-E4E30E5A9F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792" y="2180441"/>
            <a:ext cx="4810125" cy="9715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52A3B2-661C-4EBB-B69C-9DF0168DAA44}"/>
              </a:ext>
            </a:extLst>
          </p:cNvPr>
          <p:cNvSpPr txBox="1"/>
          <p:nvPr/>
        </p:nvSpPr>
        <p:spPr>
          <a:xfrm>
            <a:off x="5751513" y="2567226"/>
            <a:ext cx="1450693" cy="861774"/>
          </a:xfrm>
          <a:prstGeom prst="rect">
            <a:avLst/>
          </a:prstGeom>
          <a:noFill/>
          <a:ln>
            <a:solidFill>
              <a:srgbClr val="92D050"/>
            </a:solidFill>
          </a:ln>
        </p:spPr>
        <p:txBody>
          <a:bodyPr wrap="square" lIns="0" tIns="0" rIns="0" bIns="0" anchor="t">
            <a:spAutoFit/>
          </a:bodyPr>
          <a:lstStyle/>
          <a:p>
            <a:r>
              <a:rPr lang="en-US" altLang="en-US" sz="1400" dirty="0">
                <a:latin typeface="Arial" panose="020B0604020202020204" pitchFamily="34" charset="0"/>
              </a:rPr>
              <a:t>Photo</a:t>
            </a:r>
            <a:r>
              <a:rPr kumimoji="0" lang="en-US" altLang="en-US" sz="1400" i="0" u="none" strike="noStrike" cap="none" normalizeH="0" baseline="0" dirty="0">
                <a:ln>
                  <a:noFill/>
                </a:ln>
                <a:solidFill>
                  <a:schemeClr val="tx1"/>
                </a:solidFill>
                <a:effectLst/>
                <a:latin typeface="Arial" panose="020B0604020202020204" pitchFamily="34" charset="0"/>
              </a:rPr>
              <a:t> Metadata Analysis Using Forensic Software and ExifTool</a:t>
            </a:r>
          </a:p>
        </p:txBody>
      </p:sp>
      <p:sp>
        <p:nvSpPr>
          <p:cNvPr id="6" name="TextBox 5">
            <a:extLst>
              <a:ext uri="{FF2B5EF4-FFF2-40B4-BE49-F238E27FC236}">
                <a16:creationId xmlns:a16="http://schemas.microsoft.com/office/drawing/2014/main" id="{D0285B6C-4B91-4A0F-8E0F-6321859B4D92}"/>
              </a:ext>
            </a:extLst>
          </p:cNvPr>
          <p:cNvSpPr txBox="1"/>
          <p:nvPr/>
        </p:nvSpPr>
        <p:spPr>
          <a:xfrm>
            <a:off x="7349925" y="2567226"/>
            <a:ext cx="1996632" cy="861774"/>
          </a:xfrm>
          <a:prstGeom prst="rect">
            <a:avLst/>
          </a:prstGeom>
          <a:noFill/>
          <a:ln>
            <a:solidFill>
              <a:srgbClr val="92D050"/>
            </a:solidFill>
          </a:ln>
        </p:spPr>
        <p:txBody>
          <a:bodyPr wrap="square" lIns="0" tIns="0" rIns="0" bIns="0" anchor="t">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Image Analysis Using </a:t>
            </a:r>
            <a:r>
              <a:rPr kumimoji="0" lang="en-US" altLang="en-US" sz="1400" i="0" u="none" strike="noStrike" cap="none" normalizeH="0" baseline="0" dirty="0" err="1">
                <a:ln>
                  <a:noFill/>
                </a:ln>
                <a:solidFill>
                  <a:schemeClr val="tx1"/>
                </a:solidFill>
                <a:effectLst/>
                <a:latin typeface="Arial" panose="020B0604020202020204" pitchFamily="34" charset="0"/>
              </a:rPr>
              <a:t>FotoForensics</a:t>
            </a:r>
            <a:r>
              <a:rPr kumimoji="0" lang="en-US" altLang="en-US" sz="1400" i="0" u="none" strike="noStrike" cap="none" normalizeH="0" baseline="0" dirty="0">
                <a:ln>
                  <a:noFill/>
                </a:ln>
                <a:solidFill>
                  <a:schemeClr val="tx1"/>
                </a:solidFill>
                <a:effectLst/>
                <a:latin typeface="Arial" panose="020B0604020202020204" pitchFamily="34" charset="0"/>
              </a:rPr>
              <a:t> to Assess Potential Alteration or Manipulation</a:t>
            </a:r>
          </a:p>
        </p:txBody>
      </p:sp>
      <p:sp>
        <p:nvSpPr>
          <p:cNvPr id="8" name="TextBox 7">
            <a:extLst>
              <a:ext uri="{FF2B5EF4-FFF2-40B4-BE49-F238E27FC236}">
                <a16:creationId xmlns:a16="http://schemas.microsoft.com/office/drawing/2014/main" id="{C40229CC-00BF-45D6-8BA3-A8F258346501}"/>
              </a:ext>
            </a:extLst>
          </p:cNvPr>
          <p:cNvSpPr txBox="1"/>
          <p:nvPr/>
        </p:nvSpPr>
        <p:spPr>
          <a:xfrm>
            <a:off x="7565986" y="3760148"/>
            <a:ext cx="1329158" cy="430887"/>
          </a:xfrm>
          <a:prstGeom prst="rect">
            <a:avLst/>
          </a:prstGeom>
          <a:noFill/>
          <a:ln>
            <a:solidFill>
              <a:srgbClr val="92D050"/>
            </a:solidFill>
          </a:ln>
        </p:spPr>
        <p:txBody>
          <a:bodyPr wrap="square" lIns="0" tIns="0" rIns="0" bIns="0" anchor="t">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Error Level Analysis (ELA)</a:t>
            </a:r>
          </a:p>
        </p:txBody>
      </p:sp>
      <p:sp>
        <p:nvSpPr>
          <p:cNvPr id="9" name="TextBox 8">
            <a:extLst>
              <a:ext uri="{FF2B5EF4-FFF2-40B4-BE49-F238E27FC236}">
                <a16:creationId xmlns:a16="http://schemas.microsoft.com/office/drawing/2014/main" id="{930C8B46-1AAA-4B92-9DB2-DFAE37BA3ACD}"/>
              </a:ext>
            </a:extLst>
          </p:cNvPr>
          <p:cNvSpPr txBox="1"/>
          <p:nvPr/>
        </p:nvSpPr>
        <p:spPr>
          <a:xfrm>
            <a:off x="7851495" y="4419017"/>
            <a:ext cx="870029" cy="215444"/>
          </a:xfrm>
          <a:prstGeom prst="rect">
            <a:avLst/>
          </a:prstGeom>
          <a:noFill/>
          <a:ln>
            <a:solidFill>
              <a:srgbClr val="92D050"/>
            </a:solidFill>
          </a:ln>
        </p:spPr>
        <p:txBody>
          <a:bodyPr wrap="square" lIns="0" tIns="0" rIns="0" bIns="0" anchor="t">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chemeClr val="tx1"/>
                </a:solidFill>
                <a:effectLst/>
                <a:latin typeface="Arial" panose="020B0604020202020204" pitchFamily="34" charset="0"/>
              </a:rPr>
              <a:t>Histogram</a:t>
            </a:r>
          </a:p>
        </p:txBody>
      </p:sp>
      <p:sp>
        <p:nvSpPr>
          <p:cNvPr id="10" name="TextBox 9">
            <a:extLst>
              <a:ext uri="{FF2B5EF4-FFF2-40B4-BE49-F238E27FC236}">
                <a16:creationId xmlns:a16="http://schemas.microsoft.com/office/drawing/2014/main" id="{48307A7C-D26C-4F1A-82D4-16E1AFAB5BFC}"/>
              </a:ext>
            </a:extLst>
          </p:cNvPr>
          <p:cNvSpPr txBox="1"/>
          <p:nvPr/>
        </p:nvSpPr>
        <p:spPr>
          <a:xfrm>
            <a:off x="8067556" y="4754721"/>
            <a:ext cx="870029" cy="215444"/>
          </a:xfrm>
          <a:prstGeom prst="rect">
            <a:avLst/>
          </a:prstGeom>
          <a:noFill/>
          <a:ln>
            <a:solidFill>
              <a:srgbClr val="92D050"/>
            </a:solidFill>
          </a:ln>
        </p:spPr>
        <p:txBody>
          <a:bodyPr wrap="square" lIns="0" tIns="0" rIns="0" bIns="0" anchor="t">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err="1">
                <a:ln>
                  <a:noFill/>
                </a:ln>
                <a:solidFill>
                  <a:schemeClr val="tx1"/>
                </a:solidFill>
                <a:effectLst/>
                <a:latin typeface="Arial" panose="020B0604020202020204" pitchFamily="34" charset="0"/>
              </a:rPr>
              <a:t>Streogram</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2FF67410-DC61-4718-82D8-DEDF623FEEBD}"/>
              </a:ext>
            </a:extLst>
          </p:cNvPr>
          <p:cNvSpPr txBox="1"/>
          <p:nvPr/>
        </p:nvSpPr>
        <p:spPr>
          <a:xfrm>
            <a:off x="9261678" y="4792134"/>
            <a:ext cx="870029" cy="215444"/>
          </a:xfrm>
          <a:prstGeom prst="rect">
            <a:avLst/>
          </a:prstGeom>
          <a:noFill/>
          <a:ln>
            <a:solidFill>
              <a:srgbClr val="92D050"/>
            </a:solidFill>
          </a:ln>
        </p:spPr>
        <p:txBody>
          <a:bodyPr wrap="square" lIns="0" tIns="0" rIns="0" bIns="0" anchor="t">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1400" dirty="0">
                <a:latin typeface="Arial" panose="020B0604020202020204" pitchFamily="34" charset="0"/>
              </a:rPr>
              <a:t>Metadata</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654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A8D8B-FDD3-4597-B3C4-7D60EDE062E7}"/>
              </a:ext>
            </a:extLst>
          </p:cNvPr>
          <p:cNvSpPr>
            <a:spLocks noGrp="1"/>
          </p:cNvSpPr>
          <p:nvPr>
            <p:ph type="title"/>
          </p:nvPr>
        </p:nvSpPr>
        <p:spPr/>
        <p:txBody>
          <a:bodyPr/>
          <a:lstStyle/>
          <a:p>
            <a:r>
              <a:rPr lang="en-MY" dirty="0"/>
              <a:t>Digital Mobile </a:t>
            </a:r>
            <a:r>
              <a:rPr lang="en-MY" dirty="0">
                <a:solidFill>
                  <a:srgbClr val="06B6D4"/>
                </a:solidFill>
              </a:rPr>
              <a:t>Forensic Analysis</a:t>
            </a:r>
          </a:p>
        </p:txBody>
      </p:sp>
      <p:sp>
        <p:nvSpPr>
          <p:cNvPr id="4" name="TextBox 3">
            <a:extLst>
              <a:ext uri="{FF2B5EF4-FFF2-40B4-BE49-F238E27FC236}">
                <a16:creationId xmlns:a16="http://schemas.microsoft.com/office/drawing/2014/main" id="{069DC73A-B339-4686-B971-C5CD05CEFFC6}"/>
              </a:ext>
            </a:extLst>
          </p:cNvPr>
          <p:cNvSpPr txBox="1"/>
          <p:nvPr/>
        </p:nvSpPr>
        <p:spPr>
          <a:xfrm>
            <a:off x="341411" y="2780426"/>
            <a:ext cx="2585093" cy="1077218"/>
          </a:xfrm>
          <a:prstGeom prst="rect">
            <a:avLst/>
          </a:prstGeom>
          <a:noFill/>
        </p:spPr>
        <p:txBody>
          <a:bodyPr wrap="square" lIns="0" tIns="0" rIns="0" bIns="0" anchor="t">
            <a:spAutoFit/>
          </a:bodyPr>
          <a:lstStyle/>
          <a:p>
            <a:pPr marL="285750" indent="-285750">
              <a:buFont typeface="Wingdings" panose="05000000000000000000" pitchFamily="2" charset="2"/>
              <a:buChar char="Ø"/>
            </a:pPr>
            <a:r>
              <a:rPr lang="en-MY" sz="1400" dirty="0"/>
              <a:t>Using Oxygen</a:t>
            </a:r>
          </a:p>
          <a:p>
            <a:pPr marL="285750" indent="-285750">
              <a:buFont typeface="Wingdings" panose="05000000000000000000" pitchFamily="2" charset="2"/>
              <a:buChar char="Ø"/>
            </a:pPr>
            <a:r>
              <a:rPr lang="en-MY" sz="1400" dirty="0"/>
              <a:t>Acquisition</a:t>
            </a:r>
          </a:p>
          <a:p>
            <a:pPr marL="285750" indent="-285750">
              <a:buFont typeface="Wingdings" panose="05000000000000000000" pitchFamily="2" charset="2"/>
              <a:buChar char="Ø"/>
            </a:pPr>
            <a:r>
              <a:rPr lang="en-MY" sz="1400" dirty="0"/>
              <a:t>Process</a:t>
            </a:r>
          </a:p>
          <a:p>
            <a:pPr marL="285750" indent="-285750">
              <a:buFont typeface="Wingdings" panose="05000000000000000000" pitchFamily="2" charset="2"/>
              <a:buChar char="Ø"/>
            </a:pPr>
            <a:r>
              <a:rPr lang="en-MY" sz="1400" dirty="0"/>
              <a:t>Examine</a:t>
            </a:r>
          </a:p>
          <a:p>
            <a:pPr marL="285750" indent="-285750">
              <a:buFont typeface="Wingdings" panose="05000000000000000000" pitchFamily="2" charset="2"/>
              <a:buChar char="Ø"/>
            </a:pPr>
            <a:r>
              <a:rPr lang="en-MY" sz="1400" dirty="0"/>
              <a:t>Steps to do </a:t>
            </a:r>
          </a:p>
        </p:txBody>
      </p:sp>
      <p:pic>
        <p:nvPicPr>
          <p:cNvPr id="3074" name="Picture 2" descr="Digital Intelligence">
            <a:extLst>
              <a:ext uri="{FF2B5EF4-FFF2-40B4-BE49-F238E27FC236}">
                <a16:creationId xmlns:a16="http://schemas.microsoft.com/office/drawing/2014/main" id="{21B60D17-DB9C-4FA4-A5C4-87DC3F8CD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19478"/>
            <a:ext cx="7258292" cy="36291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B1F6DD-88F6-40DD-A670-01AE9044CE7A}"/>
              </a:ext>
            </a:extLst>
          </p:cNvPr>
          <p:cNvSpPr txBox="1"/>
          <p:nvPr/>
        </p:nvSpPr>
        <p:spPr>
          <a:xfrm>
            <a:off x="3002738" y="2912299"/>
            <a:ext cx="1986163" cy="507831"/>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Identification of the Device Make, Model, Operating System (Android/iOS)</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711DB3F6-C632-475D-B387-42CF67DFB152}"/>
              </a:ext>
            </a:extLst>
          </p:cNvPr>
          <p:cNvSpPr txBox="1"/>
          <p:nvPr/>
        </p:nvSpPr>
        <p:spPr>
          <a:xfrm>
            <a:off x="5163133" y="2920782"/>
            <a:ext cx="1986163" cy="507831"/>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Identification of the Corresponding Processor Model for the Device</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379A366C-B244-47BE-94AA-9AF38FE4467A}"/>
              </a:ext>
            </a:extLst>
          </p:cNvPr>
          <p:cNvSpPr txBox="1"/>
          <p:nvPr/>
        </p:nvSpPr>
        <p:spPr>
          <a:xfrm>
            <a:off x="7497760" y="2780426"/>
            <a:ext cx="1986163" cy="846386"/>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Select the Appropriate Acquisition Method: Rooted/Non-Rooted (Android) or DFU/Recovery Mode (iOS)</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79D2A3E2-A58E-4EA1-B59F-C1D3E9A2FEFD}"/>
              </a:ext>
            </a:extLst>
          </p:cNvPr>
          <p:cNvSpPr txBox="1"/>
          <p:nvPr/>
        </p:nvSpPr>
        <p:spPr>
          <a:xfrm>
            <a:off x="8193205" y="1840765"/>
            <a:ext cx="900072"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Physical Image</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14D75F86-D402-401D-9973-372715558213}"/>
              </a:ext>
            </a:extLst>
          </p:cNvPr>
          <p:cNvSpPr txBox="1"/>
          <p:nvPr/>
        </p:nvSpPr>
        <p:spPr>
          <a:xfrm>
            <a:off x="8193205" y="2048989"/>
            <a:ext cx="900072"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Full File System</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BA286278-4FFC-42E8-8B0C-7584908B2624}"/>
              </a:ext>
            </a:extLst>
          </p:cNvPr>
          <p:cNvSpPr txBox="1"/>
          <p:nvPr/>
        </p:nvSpPr>
        <p:spPr>
          <a:xfrm>
            <a:off x="8194016" y="2265707"/>
            <a:ext cx="900072"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Android Agent</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37516EDD-CB75-4CB6-9CFB-E581F373CE87}"/>
              </a:ext>
            </a:extLst>
          </p:cNvPr>
          <p:cNvSpPr txBox="1"/>
          <p:nvPr/>
        </p:nvSpPr>
        <p:spPr>
          <a:xfrm>
            <a:off x="8193205" y="2479069"/>
            <a:ext cx="900072"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ADB Backup</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D176BD3F-497C-4627-B467-DE8109CF5A7D}"/>
              </a:ext>
            </a:extLst>
          </p:cNvPr>
          <p:cNvSpPr txBox="1"/>
          <p:nvPr/>
        </p:nvSpPr>
        <p:spPr>
          <a:xfrm>
            <a:off x="8099948" y="1618908"/>
            <a:ext cx="1086585"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Logical extraction</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2F8A6BFC-9640-4E1B-B196-815BAD173F87}"/>
              </a:ext>
            </a:extLst>
          </p:cNvPr>
          <p:cNvSpPr txBox="1"/>
          <p:nvPr/>
        </p:nvSpPr>
        <p:spPr>
          <a:xfrm>
            <a:off x="8361388" y="1397051"/>
            <a:ext cx="563704"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ANDROID</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27" name="TextBox 26">
            <a:extLst>
              <a:ext uri="{FF2B5EF4-FFF2-40B4-BE49-F238E27FC236}">
                <a16:creationId xmlns:a16="http://schemas.microsoft.com/office/drawing/2014/main" id="{92948BC6-E686-4C23-A464-769A28ABF219}"/>
              </a:ext>
            </a:extLst>
          </p:cNvPr>
          <p:cNvSpPr txBox="1"/>
          <p:nvPr/>
        </p:nvSpPr>
        <p:spPr>
          <a:xfrm>
            <a:off x="8361388" y="4616742"/>
            <a:ext cx="563704"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Checkm8</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F12A9B06-D182-4F4B-85FD-05571DB8F179}"/>
              </a:ext>
            </a:extLst>
          </p:cNvPr>
          <p:cNvSpPr txBox="1"/>
          <p:nvPr/>
        </p:nvSpPr>
        <p:spPr>
          <a:xfrm>
            <a:off x="8361387" y="4964942"/>
            <a:ext cx="1222451" cy="338554"/>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SSH/Jailbreak-based extraction</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31" name="TextBox 30">
            <a:extLst>
              <a:ext uri="{FF2B5EF4-FFF2-40B4-BE49-F238E27FC236}">
                <a16:creationId xmlns:a16="http://schemas.microsoft.com/office/drawing/2014/main" id="{3A2CFCFE-0451-4380-AA5A-9C259281A2A6}"/>
              </a:ext>
            </a:extLst>
          </p:cNvPr>
          <p:cNvSpPr txBox="1"/>
          <p:nvPr/>
        </p:nvSpPr>
        <p:spPr>
          <a:xfrm>
            <a:off x="8361387" y="5317667"/>
            <a:ext cx="934913" cy="338554"/>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iTunes/backup extraction</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32" name="TextBox 31">
            <a:extLst>
              <a:ext uri="{FF2B5EF4-FFF2-40B4-BE49-F238E27FC236}">
                <a16:creationId xmlns:a16="http://schemas.microsoft.com/office/drawing/2014/main" id="{A2AC2910-33DB-40F0-8699-FA0EACE2913B}"/>
              </a:ext>
            </a:extLst>
          </p:cNvPr>
          <p:cNvSpPr txBox="1"/>
          <p:nvPr/>
        </p:nvSpPr>
        <p:spPr>
          <a:xfrm>
            <a:off x="8490841" y="5734051"/>
            <a:ext cx="668795" cy="169277"/>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iOS Agent</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33" name="TextBox 32">
            <a:extLst>
              <a:ext uri="{FF2B5EF4-FFF2-40B4-BE49-F238E27FC236}">
                <a16:creationId xmlns:a16="http://schemas.microsoft.com/office/drawing/2014/main" id="{7BA5F516-2C74-4510-9B28-587184F2695F}"/>
              </a:ext>
            </a:extLst>
          </p:cNvPr>
          <p:cNvSpPr txBox="1"/>
          <p:nvPr/>
        </p:nvSpPr>
        <p:spPr>
          <a:xfrm>
            <a:off x="8448994" y="6023118"/>
            <a:ext cx="1222451" cy="338554"/>
          </a:xfrm>
          <a:prstGeom prst="rect">
            <a:avLst/>
          </a:prstGeom>
          <a:noFill/>
          <a:ln>
            <a:solidFill>
              <a:srgbClr val="92D050"/>
            </a:solidFill>
          </a:ln>
        </p:spPr>
        <p:txBody>
          <a:bodyPr wrap="square" lIns="0" tIns="0" rIns="0" bIns="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MY" sz="1100" dirty="0"/>
              <a:t>Logical/public-data methods</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1084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7436-C493-408B-92A4-CC2925CBEEE3}"/>
              </a:ext>
            </a:extLst>
          </p:cNvPr>
          <p:cNvSpPr>
            <a:spLocks noGrp="1"/>
          </p:cNvSpPr>
          <p:nvPr>
            <p:ph type="title"/>
          </p:nvPr>
        </p:nvSpPr>
        <p:spPr>
          <a:xfrm>
            <a:off x="184731" y="43934"/>
            <a:ext cx="10131425" cy="1456267"/>
          </a:xfrm>
        </p:spPr>
        <p:txBody>
          <a:bodyPr/>
          <a:lstStyle/>
          <a:p>
            <a:r>
              <a:rPr lang="en-MY" dirty="0"/>
              <a:t>Logicube </a:t>
            </a:r>
            <a:r>
              <a:rPr lang="en-MY" dirty="0">
                <a:solidFill>
                  <a:srgbClr val="06B6D4"/>
                </a:solidFill>
              </a:rPr>
              <a:t>TX1</a:t>
            </a:r>
          </a:p>
        </p:txBody>
      </p:sp>
      <p:sp>
        <p:nvSpPr>
          <p:cNvPr id="4" name="TextBox 3">
            <a:extLst>
              <a:ext uri="{FF2B5EF4-FFF2-40B4-BE49-F238E27FC236}">
                <a16:creationId xmlns:a16="http://schemas.microsoft.com/office/drawing/2014/main" id="{12F8E0BD-2E69-4FC1-984D-5E09D5ED2885}"/>
              </a:ext>
            </a:extLst>
          </p:cNvPr>
          <p:cNvSpPr txBox="1"/>
          <p:nvPr/>
        </p:nvSpPr>
        <p:spPr>
          <a:xfrm>
            <a:off x="184731" y="1675526"/>
            <a:ext cx="6432026" cy="954107"/>
          </a:xfrm>
          <a:prstGeom prst="rect">
            <a:avLst/>
          </a:prstGeom>
          <a:noFill/>
        </p:spPr>
        <p:txBody>
          <a:bodyPr wrap="square" lIns="0" tIns="0" rIns="0" bIns="0" anchor="t">
            <a:spAutoFit/>
          </a:bodyPr>
          <a:lstStyle/>
          <a:p>
            <a:r>
              <a:rPr kumimoji="0" lang="en-US" altLang="en-US" sz="1200" b="1" i="0" u="none" strike="noStrike" cap="none" normalizeH="0" baseline="0" dirty="0">
                <a:ln>
                  <a:noFill/>
                </a:ln>
                <a:solidFill>
                  <a:schemeClr val="tx1"/>
                </a:solidFill>
                <a:effectLst/>
              </a:rPr>
              <a:t>The Logicube TX1 is used to acquire a forensic image of digital storage media without altering the original evidence. The process involves connecting the source and destination drives, selecting the appropriate acquisition and verification settings, initiating the imaging process, and verifying the acquired data using hash values to ensure integrity.</a:t>
            </a:r>
            <a:endParaRPr kumimoji="0" lang="en-US" altLang="en-US" sz="1200" b="0" i="0" u="none" strike="noStrike" cap="none" normalizeH="0" baseline="0" dirty="0">
              <a:ln>
                <a:noFill/>
              </a:ln>
              <a:solidFill>
                <a:schemeClr val="tx1"/>
              </a:solidFill>
              <a:effectLst/>
            </a:endParaRPr>
          </a:p>
          <a:p>
            <a:endParaRPr lang="en-MY" sz="1400" dirty="0"/>
          </a:p>
        </p:txBody>
      </p:sp>
      <p:pic>
        <p:nvPicPr>
          <p:cNvPr id="10" name="Picture 9">
            <a:extLst>
              <a:ext uri="{FF2B5EF4-FFF2-40B4-BE49-F238E27FC236}">
                <a16:creationId xmlns:a16="http://schemas.microsoft.com/office/drawing/2014/main" id="{5396D6C9-01F1-4B35-ACA7-5A3BCF7F3A65}"/>
              </a:ext>
            </a:extLst>
          </p:cNvPr>
          <p:cNvPicPr>
            <a:picLocks noChangeAspect="1"/>
          </p:cNvPicPr>
          <p:nvPr/>
        </p:nvPicPr>
        <p:blipFill>
          <a:blip r:embed="rId2"/>
          <a:stretch>
            <a:fillRect/>
          </a:stretch>
        </p:blipFill>
        <p:spPr>
          <a:xfrm>
            <a:off x="250500" y="2968188"/>
            <a:ext cx="3890634" cy="1349812"/>
          </a:xfrm>
          <a:prstGeom prst="rect">
            <a:avLst/>
          </a:prstGeom>
        </p:spPr>
      </p:pic>
      <p:sp>
        <p:nvSpPr>
          <p:cNvPr id="12" name="TextBox 11">
            <a:extLst>
              <a:ext uri="{FF2B5EF4-FFF2-40B4-BE49-F238E27FC236}">
                <a16:creationId xmlns:a16="http://schemas.microsoft.com/office/drawing/2014/main" id="{CF257B07-C46F-48E0-B124-1E8229A07BCF}"/>
              </a:ext>
            </a:extLst>
          </p:cNvPr>
          <p:cNvSpPr txBox="1"/>
          <p:nvPr/>
        </p:nvSpPr>
        <p:spPr>
          <a:xfrm>
            <a:off x="4686357" y="3085484"/>
            <a:ext cx="1930400" cy="553998"/>
          </a:xfrm>
          <a:prstGeom prst="rect">
            <a:avLst/>
          </a:prstGeom>
          <a:noFill/>
        </p:spPr>
        <p:txBody>
          <a:bodyPr wrap="square">
            <a:spAutoFit/>
          </a:bodyPr>
          <a:lstStyle/>
          <a:p>
            <a:r>
              <a:rPr lang="en-US" sz="1000" b="1" dirty="0"/>
              <a:t>1. Connect Source Drive</a:t>
            </a:r>
            <a:br>
              <a:rPr lang="en-US" sz="1000" dirty="0"/>
            </a:br>
            <a:r>
              <a:rPr lang="en-US" sz="1000" dirty="0"/>
              <a:t>Connect the original/source drive to the designated source port.</a:t>
            </a:r>
            <a:endParaRPr lang="en-MY" sz="1000" dirty="0"/>
          </a:p>
        </p:txBody>
      </p:sp>
      <p:sp>
        <p:nvSpPr>
          <p:cNvPr id="14" name="TextBox 13">
            <a:extLst>
              <a:ext uri="{FF2B5EF4-FFF2-40B4-BE49-F238E27FC236}">
                <a16:creationId xmlns:a16="http://schemas.microsoft.com/office/drawing/2014/main" id="{41B54D8D-8AE2-4D2F-9ECA-BEFFEA32C204}"/>
              </a:ext>
            </a:extLst>
          </p:cNvPr>
          <p:cNvSpPr txBox="1"/>
          <p:nvPr/>
        </p:nvSpPr>
        <p:spPr>
          <a:xfrm>
            <a:off x="6616757" y="3085484"/>
            <a:ext cx="1727200" cy="707886"/>
          </a:xfrm>
          <a:prstGeom prst="rect">
            <a:avLst/>
          </a:prstGeom>
          <a:noFill/>
        </p:spPr>
        <p:txBody>
          <a:bodyPr wrap="square">
            <a:spAutoFit/>
          </a:bodyPr>
          <a:lstStyle/>
          <a:p>
            <a:r>
              <a:rPr lang="en-US" sz="1000" b="1" dirty="0"/>
              <a:t>2. Connect Destination Drive</a:t>
            </a:r>
            <a:br>
              <a:rPr lang="en-US" sz="1000" dirty="0"/>
            </a:br>
            <a:r>
              <a:rPr lang="en-US" sz="1000" dirty="0"/>
              <a:t>Connect the destination drive where the forensic image will be stored.</a:t>
            </a:r>
            <a:endParaRPr lang="en-MY" sz="1000" dirty="0"/>
          </a:p>
        </p:txBody>
      </p:sp>
      <p:sp>
        <p:nvSpPr>
          <p:cNvPr id="16" name="TextBox 15">
            <a:extLst>
              <a:ext uri="{FF2B5EF4-FFF2-40B4-BE49-F238E27FC236}">
                <a16:creationId xmlns:a16="http://schemas.microsoft.com/office/drawing/2014/main" id="{076D95F9-D1A8-4DC3-B4EA-578088015C88}"/>
              </a:ext>
            </a:extLst>
          </p:cNvPr>
          <p:cNvSpPr txBox="1"/>
          <p:nvPr/>
        </p:nvSpPr>
        <p:spPr>
          <a:xfrm>
            <a:off x="8413750" y="3008540"/>
            <a:ext cx="1771650" cy="861774"/>
          </a:xfrm>
          <a:prstGeom prst="rect">
            <a:avLst/>
          </a:prstGeom>
          <a:noFill/>
        </p:spPr>
        <p:txBody>
          <a:bodyPr wrap="square">
            <a:spAutoFit/>
          </a:bodyPr>
          <a:lstStyle/>
          <a:p>
            <a:r>
              <a:rPr lang="en-US" sz="1000" b="1"/>
              <a:t>3. Select Acquisition Mode</a:t>
            </a:r>
            <a:br>
              <a:rPr lang="en-US" sz="1000"/>
            </a:br>
            <a:r>
              <a:rPr lang="en-US" sz="1000"/>
              <a:t>Choose the appropriate imaging method and configure the required acquisition settings.</a:t>
            </a:r>
            <a:endParaRPr lang="en-MY" sz="1000" dirty="0"/>
          </a:p>
        </p:txBody>
      </p:sp>
      <p:sp>
        <p:nvSpPr>
          <p:cNvPr id="18" name="TextBox 17">
            <a:extLst>
              <a:ext uri="{FF2B5EF4-FFF2-40B4-BE49-F238E27FC236}">
                <a16:creationId xmlns:a16="http://schemas.microsoft.com/office/drawing/2014/main" id="{BDC23209-826D-4A45-933C-170243E6F558}"/>
              </a:ext>
            </a:extLst>
          </p:cNvPr>
          <p:cNvSpPr txBox="1"/>
          <p:nvPr/>
        </p:nvSpPr>
        <p:spPr>
          <a:xfrm>
            <a:off x="10140950" y="3008540"/>
            <a:ext cx="2012950" cy="707886"/>
          </a:xfrm>
          <a:prstGeom prst="rect">
            <a:avLst/>
          </a:prstGeom>
          <a:noFill/>
        </p:spPr>
        <p:txBody>
          <a:bodyPr wrap="square">
            <a:spAutoFit/>
          </a:bodyPr>
          <a:lstStyle/>
          <a:p>
            <a:r>
              <a:rPr lang="en-US" sz="1000" b="1" dirty="0"/>
              <a:t>4. Configure Evidence Details</a:t>
            </a:r>
            <a:br>
              <a:rPr lang="en-US" sz="1000" dirty="0"/>
            </a:br>
            <a:r>
              <a:rPr lang="en-US" sz="1000" dirty="0"/>
              <a:t>Enter case/evidence identifiers and select the required verification and hashing options.</a:t>
            </a:r>
            <a:endParaRPr lang="en-MY" sz="1000" dirty="0"/>
          </a:p>
        </p:txBody>
      </p:sp>
      <p:sp>
        <p:nvSpPr>
          <p:cNvPr id="20" name="TextBox 19">
            <a:extLst>
              <a:ext uri="{FF2B5EF4-FFF2-40B4-BE49-F238E27FC236}">
                <a16:creationId xmlns:a16="http://schemas.microsoft.com/office/drawing/2014/main" id="{433A41E2-E704-4781-BDEE-226E8C159F9D}"/>
              </a:ext>
            </a:extLst>
          </p:cNvPr>
          <p:cNvSpPr txBox="1"/>
          <p:nvPr/>
        </p:nvSpPr>
        <p:spPr>
          <a:xfrm>
            <a:off x="4603807" y="4053184"/>
            <a:ext cx="2012950" cy="707886"/>
          </a:xfrm>
          <a:prstGeom prst="rect">
            <a:avLst/>
          </a:prstGeom>
          <a:noFill/>
        </p:spPr>
        <p:txBody>
          <a:bodyPr wrap="square">
            <a:spAutoFit/>
          </a:bodyPr>
          <a:lstStyle/>
          <a:p>
            <a:r>
              <a:rPr lang="en-US" sz="1000" b="1" dirty="0"/>
              <a:t>5. Start Acquisition</a:t>
            </a:r>
            <a:br>
              <a:rPr lang="en-US" sz="1000" dirty="0"/>
            </a:br>
            <a:r>
              <a:rPr lang="en-US" sz="1000" dirty="0"/>
              <a:t>Initiate the forensic imaging process. The TX1 creates a bit-for-bit copy of the source media.</a:t>
            </a:r>
            <a:endParaRPr lang="en-MY" sz="1000" dirty="0"/>
          </a:p>
        </p:txBody>
      </p:sp>
      <p:sp>
        <p:nvSpPr>
          <p:cNvPr id="22" name="TextBox 21">
            <a:extLst>
              <a:ext uri="{FF2B5EF4-FFF2-40B4-BE49-F238E27FC236}">
                <a16:creationId xmlns:a16="http://schemas.microsoft.com/office/drawing/2014/main" id="{4C3331EC-336A-4095-AC39-9C00978A277F}"/>
              </a:ext>
            </a:extLst>
          </p:cNvPr>
          <p:cNvSpPr txBox="1"/>
          <p:nvPr/>
        </p:nvSpPr>
        <p:spPr>
          <a:xfrm>
            <a:off x="6680200" y="4055068"/>
            <a:ext cx="2197100" cy="707886"/>
          </a:xfrm>
          <a:prstGeom prst="rect">
            <a:avLst/>
          </a:prstGeom>
          <a:noFill/>
        </p:spPr>
        <p:txBody>
          <a:bodyPr wrap="square">
            <a:spAutoFit/>
          </a:bodyPr>
          <a:lstStyle/>
          <a:p>
            <a:r>
              <a:rPr lang="en-US" sz="1000" b="1" dirty="0"/>
              <a:t>6. Verification &amp; Hashing</a:t>
            </a:r>
            <a:br>
              <a:rPr lang="en-US" sz="1000" dirty="0"/>
            </a:br>
            <a:r>
              <a:rPr lang="en-US" sz="1000" dirty="0"/>
              <a:t>The acquired image is verified using cryptographic hash values to confirm data integrity.</a:t>
            </a:r>
            <a:endParaRPr lang="en-MY" sz="1000" dirty="0"/>
          </a:p>
        </p:txBody>
      </p:sp>
      <p:sp>
        <p:nvSpPr>
          <p:cNvPr id="24" name="TextBox 23">
            <a:extLst>
              <a:ext uri="{FF2B5EF4-FFF2-40B4-BE49-F238E27FC236}">
                <a16:creationId xmlns:a16="http://schemas.microsoft.com/office/drawing/2014/main" id="{B7C088BC-2ED6-4C08-9FDC-309A62AA8EF7}"/>
              </a:ext>
            </a:extLst>
          </p:cNvPr>
          <p:cNvSpPr txBox="1"/>
          <p:nvPr/>
        </p:nvSpPr>
        <p:spPr>
          <a:xfrm>
            <a:off x="9105900" y="4053184"/>
            <a:ext cx="1727200" cy="707886"/>
          </a:xfrm>
          <a:prstGeom prst="rect">
            <a:avLst/>
          </a:prstGeom>
          <a:noFill/>
        </p:spPr>
        <p:txBody>
          <a:bodyPr wrap="square">
            <a:spAutoFit/>
          </a:bodyPr>
          <a:lstStyle/>
          <a:p>
            <a:r>
              <a:rPr lang="en-US" sz="1000" b="1" dirty="0"/>
              <a:t>7. Review Results</a:t>
            </a:r>
            <a:br>
              <a:rPr lang="en-US" sz="1000" dirty="0"/>
            </a:br>
            <a:r>
              <a:rPr lang="en-US" sz="1000" dirty="0"/>
              <a:t>Check the acquisition status, hash values, errors, and completion report.</a:t>
            </a:r>
            <a:endParaRPr lang="en-MY" sz="1000" dirty="0"/>
          </a:p>
        </p:txBody>
      </p:sp>
    </p:spTree>
    <p:extLst>
      <p:ext uri="{BB962C8B-B14F-4D97-AF65-F5344CB8AC3E}">
        <p14:creationId xmlns:p14="http://schemas.microsoft.com/office/powerpoint/2010/main" val="2046090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1C881-4D45-49CE-86FD-D67601E985D5}"/>
              </a:ext>
            </a:extLst>
          </p:cNvPr>
          <p:cNvSpPr>
            <a:spLocks noGrp="1"/>
          </p:cNvSpPr>
          <p:nvPr>
            <p:ph type="title"/>
          </p:nvPr>
        </p:nvSpPr>
        <p:spPr>
          <a:xfrm>
            <a:off x="165101" y="177800"/>
            <a:ext cx="10131425" cy="1456267"/>
          </a:xfrm>
        </p:spPr>
        <p:txBody>
          <a:bodyPr/>
          <a:lstStyle/>
          <a:p>
            <a:r>
              <a:rPr lang="en-MY" dirty="0"/>
              <a:t>Social networking analysis </a:t>
            </a:r>
            <a:r>
              <a:rPr lang="en-MY" dirty="0">
                <a:solidFill>
                  <a:srgbClr val="06B6D4"/>
                </a:solidFill>
              </a:rPr>
              <a:t>(</a:t>
            </a:r>
            <a:r>
              <a:rPr lang="en-MY" dirty="0" err="1">
                <a:solidFill>
                  <a:srgbClr val="06B6D4"/>
                </a:solidFill>
              </a:rPr>
              <a:t>sna</a:t>
            </a:r>
            <a:r>
              <a:rPr lang="en-MY" dirty="0">
                <a:solidFill>
                  <a:srgbClr val="06B6D4"/>
                </a:solidFill>
              </a:rPr>
              <a:t>)</a:t>
            </a:r>
          </a:p>
        </p:txBody>
      </p:sp>
      <p:sp>
        <p:nvSpPr>
          <p:cNvPr id="4" name="TextBox 3">
            <a:extLst>
              <a:ext uri="{FF2B5EF4-FFF2-40B4-BE49-F238E27FC236}">
                <a16:creationId xmlns:a16="http://schemas.microsoft.com/office/drawing/2014/main" id="{813ED914-19BB-46A9-8170-BF1A9615EFAA}"/>
              </a:ext>
            </a:extLst>
          </p:cNvPr>
          <p:cNvSpPr txBox="1"/>
          <p:nvPr/>
        </p:nvSpPr>
        <p:spPr>
          <a:xfrm>
            <a:off x="481957" y="1415176"/>
            <a:ext cx="4959993" cy="954107"/>
          </a:xfrm>
          <a:prstGeom prst="rect">
            <a:avLst/>
          </a:prstGeom>
          <a:noFill/>
        </p:spPr>
        <p:txBody>
          <a:bodyPr wrap="square" lIns="0" tIns="0" rIns="0" bIns="0" anchor="t">
            <a:spAutoFit/>
          </a:bodyPr>
          <a:lstStyle/>
          <a:p>
            <a:r>
              <a:rPr kumimoji="0" lang="en-US" altLang="en-US" sz="1200" b="1" i="0" u="none" strike="noStrike" cap="none" normalizeH="0" baseline="0" dirty="0">
                <a:ln>
                  <a:noFill/>
                </a:ln>
                <a:solidFill>
                  <a:schemeClr val="tx1"/>
                </a:solidFill>
                <a:effectLst/>
              </a:rPr>
              <a:t>Maltego is an OSINT and link-analysis tool used to gather, visualize, and correlate information from various sources. It helps investigators identify relationships between people, organizations, domains, IP addresses, social media accounts, and other digital entities.</a:t>
            </a:r>
            <a:endParaRPr kumimoji="0" lang="en-US" altLang="en-US" sz="1200" b="0" i="0" u="none" strike="noStrike" cap="none" normalizeH="0" baseline="0" dirty="0">
              <a:ln>
                <a:noFill/>
              </a:ln>
              <a:solidFill>
                <a:schemeClr val="tx1"/>
              </a:solidFill>
              <a:effectLst/>
            </a:endParaRPr>
          </a:p>
          <a:p>
            <a:endParaRPr lang="en-MY" sz="1400" dirty="0"/>
          </a:p>
        </p:txBody>
      </p:sp>
      <p:pic>
        <p:nvPicPr>
          <p:cNvPr id="5122" name="Picture 2" descr="Collecting Open-Source Intelligence (OSINT) Data with Maltego | by Eric  Clark | Medium">
            <a:extLst>
              <a:ext uri="{FF2B5EF4-FFF2-40B4-BE49-F238E27FC236}">
                <a16:creationId xmlns:a16="http://schemas.microsoft.com/office/drawing/2014/main" id="{237841C6-5DD9-4765-91CD-F1C764044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957" y="3004253"/>
            <a:ext cx="3647877" cy="12121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4192589-0167-4AEA-BE81-90ED9270D430}"/>
              </a:ext>
            </a:extLst>
          </p:cNvPr>
          <p:cNvSpPr txBox="1"/>
          <p:nvPr/>
        </p:nvSpPr>
        <p:spPr>
          <a:xfrm>
            <a:off x="4830763" y="3030356"/>
            <a:ext cx="2281237" cy="707886"/>
          </a:xfrm>
          <a:prstGeom prst="rect">
            <a:avLst/>
          </a:prstGeom>
          <a:noFill/>
        </p:spPr>
        <p:txBody>
          <a:bodyPr wrap="square">
            <a:spAutoFit/>
          </a:bodyPr>
          <a:lstStyle/>
          <a:p>
            <a:r>
              <a:rPr lang="en-US" sz="1000" b="1" dirty="0"/>
              <a:t>1. Define the Target</a:t>
            </a:r>
            <a:br>
              <a:rPr lang="en-US" sz="1000" dirty="0"/>
            </a:br>
            <a:r>
              <a:rPr lang="en-US" sz="1000" dirty="0"/>
              <a:t>Identify the person, organization, domain, IP address, or other entity to be investigated.</a:t>
            </a:r>
            <a:endParaRPr lang="en-MY" sz="1000" dirty="0"/>
          </a:p>
        </p:txBody>
      </p:sp>
      <p:sp>
        <p:nvSpPr>
          <p:cNvPr id="10" name="TextBox 9">
            <a:extLst>
              <a:ext uri="{FF2B5EF4-FFF2-40B4-BE49-F238E27FC236}">
                <a16:creationId xmlns:a16="http://schemas.microsoft.com/office/drawing/2014/main" id="{CFF556F1-5F61-49B1-B69A-7ED19CC30312}"/>
              </a:ext>
            </a:extLst>
          </p:cNvPr>
          <p:cNvSpPr txBox="1"/>
          <p:nvPr/>
        </p:nvSpPr>
        <p:spPr>
          <a:xfrm>
            <a:off x="7112000" y="3030356"/>
            <a:ext cx="2058987" cy="553998"/>
          </a:xfrm>
          <a:prstGeom prst="rect">
            <a:avLst/>
          </a:prstGeom>
          <a:noFill/>
        </p:spPr>
        <p:txBody>
          <a:bodyPr wrap="square">
            <a:spAutoFit/>
          </a:bodyPr>
          <a:lstStyle/>
          <a:p>
            <a:r>
              <a:rPr lang="en-US" sz="1000" b="1" dirty="0"/>
              <a:t>2. Create a New Graph</a:t>
            </a:r>
            <a:br>
              <a:rPr lang="en-US" sz="1000" dirty="0"/>
            </a:br>
            <a:r>
              <a:rPr lang="en-US" sz="1000" dirty="0"/>
              <a:t>Open Maltego and create a new graph for the investigation.</a:t>
            </a:r>
            <a:endParaRPr lang="en-MY" sz="1000" dirty="0"/>
          </a:p>
        </p:txBody>
      </p:sp>
      <p:sp>
        <p:nvSpPr>
          <p:cNvPr id="12" name="TextBox 11">
            <a:extLst>
              <a:ext uri="{FF2B5EF4-FFF2-40B4-BE49-F238E27FC236}">
                <a16:creationId xmlns:a16="http://schemas.microsoft.com/office/drawing/2014/main" id="{6E755837-51D5-407D-95CB-64D35F5B15FA}"/>
              </a:ext>
            </a:extLst>
          </p:cNvPr>
          <p:cNvSpPr txBox="1"/>
          <p:nvPr/>
        </p:nvSpPr>
        <p:spPr>
          <a:xfrm>
            <a:off x="8958263" y="2987087"/>
            <a:ext cx="1862137" cy="707886"/>
          </a:xfrm>
          <a:prstGeom prst="rect">
            <a:avLst/>
          </a:prstGeom>
          <a:noFill/>
        </p:spPr>
        <p:txBody>
          <a:bodyPr wrap="square">
            <a:spAutoFit/>
          </a:bodyPr>
          <a:lstStyle/>
          <a:p>
            <a:r>
              <a:rPr lang="en-US" sz="1000" b="1" dirty="0"/>
              <a:t>3. Add the Target Entity</a:t>
            </a:r>
            <a:br>
              <a:rPr lang="en-US" sz="1000" dirty="0"/>
            </a:br>
            <a:r>
              <a:rPr lang="en-US" sz="1000" dirty="0"/>
              <a:t>Select the appropriate entity type and enter the known information.</a:t>
            </a:r>
            <a:endParaRPr lang="en-MY" sz="1000" dirty="0"/>
          </a:p>
        </p:txBody>
      </p:sp>
      <p:sp>
        <p:nvSpPr>
          <p:cNvPr id="14" name="TextBox 13">
            <a:extLst>
              <a:ext uri="{FF2B5EF4-FFF2-40B4-BE49-F238E27FC236}">
                <a16:creationId xmlns:a16="http://schemas.microsoft.com/office/drawing/2014/main" id="{D4A18A9B-1697-454D-A77D-D2DB12A4AC30}"/>
              </a:ext>
            </a:extLst>
          </p:cNvPr>
          <p:cNvSpPr txBox="1"/>
          <p:nvPr/>
        </p:nvSpPr>
        <p:spPr>
          <a:xfrm>
            <a:off x="4767263" y="3951584"/>
            <a:ext cx="2179637" cy="707886"/>
          </a:xfrm>
          <a:prstGeom prst="rect">
            <a:avLst/>
          </a:prstGeom>
          <a:noFill/>
        </p:spPr>
        <p:txBody>
          <a:bodyPr wrap="square">
            <a:spAutoFit/>
          </a:bodyPr>
          <a:lstStyle/>
          <a:p>
            <a:r>
              <a:rPr lang="en-US" sz="1000" b="1"/>
              <a:t>4. Run Transforms</a:t>
            </a:r>
            <a:br>
              <a:rPr lang="en-US" sz="1000"/>
            </a:br>
            <a:r>
              <a:rPr lang="en-US" sz="1000"/>
              <a:t>Run relevant Transforms to collect information from available data sources.</a:t>
            </a:r>
            <a:endParaRPr lang="en-MY" sz="1000" dirty="0"/>
          </a:p>
        </p:txBody>
      </p:sp>
      <p:sp>
        <p:nvSpPr>
          <p:cNvPr id="16" name="TextBox 15">
            <a:extLst>
              <a:ext uri="{FF2B5EF4-FFF2-40B4-BE49-F238E27FC236}">
                <a16:creationId xmlns:a16="http://schemas.microsoft.com/office/drawing/2014/main" id="{40CF75CA-43E8-403A-B621-C6010C2DBCCB}"/>
              </a:ext>
            </a:extLst>
          </p:cNvPr>
          <p:cNvSpPr txBox="1"/>
          <p:nvPr/>
        </p:nvSpPr>
        <p:spPr>
          <a:xfrm>
            <a:off x="6826250" y="3797696"/>
            <a:ext cx="2058987" cy="861774"/>
          </a:xfrm>
          <a:prstGeom prst="rect">
            <a:avLst/>
          </a:prstGeom>
          <a:noFill/>
        </p:spPr>
        <p:txBody>
          <a:bodyPr wrap="square">
            <a:spAutoFit/>
          </a:bodyPr>
          <a:lstStyle/>
          <a:p>
            <a:r>
              <a:rPr lang="en-US" sz="1000" b="1" dirty="0"/>
              <a:t>5. Analyse Relationships</a:t>
            </a:r>
            <a:br>
              <a:rPr lang="en-US" sz="1000" dirty="0"/>
            </a:br>
            <a:r>
              <a:rPr lang="en-US" sz="1000" dirty="0"/>
              <a:t>Review the connections between entities such as domains, email addresses, IPs, organizations, and social profiles.</a:t>
            </a:r>
            <a:endParaRPr lang="en-MY" sz="1000" dirty="0"/>
          </a:p>
        </p:txBody>
      </p:sp>
      <p:sp>
        <p:nvSpPr>
          <p:cNvPr id="18" name="TextBox 17">
            <a:extLst>
              <a:ext uri="{FF2B5EF4-FFF2-40B4-BE49-F238E27FC236}">
                <a16:creationId xmlns:a16="http://schemas.microsoft.com/office/drawing/2014/main" id="{A2112378-E0AE-413D-9799-C6995D629CF9}"/>
              </a:ext>
            </a:extLst>
          </p:cNvPr>
          <p:cNvSpPr txBox="1"/>
          <p:nvPr/>
        </p:nvSpPr>
        <p:spPr>
          <a:xfrm>
            <a:off x="8885237" y="3874640"/>
            <a:ext cx="2224089" cy="707886"/>
          </a:xfrm>
          <a:prstGeom prst="rect">
            <a:avLst/>
          </a:prstGeom>
          <a:noFill/>
        </p:spPr>
        <p:txBody>
          <a:bodyPr wrap="square">
            <a:spAutoFit/>
          </a:bodyPr>
          <a:lstStyle/>
          <a:p>
            <a:r>
              <a:rPr lang="en-US" sz="1000" b="1" dirty="0"/>
              <a:t>6. Correlate &amp; Verify</a:t>
            </a:r>
            <a:br>
              <a:rPr lang="en-US" sz="1000" dirty="0"/>
            </a:br>
            <a:r>
              <a:rPr lang="en-US" sz="1000" dirty="0"/>
              <a:t>Cross-check important findings against reliable sources to reduce false positives.</a:t>
            </a:r>
            <a:endParaRPr lang="en-MY" sz="1000" dirty="0"/>
          </a:p>
        </p:txBody>
      </p:sp>
      <p:sp>
        <p:nvSpPr>
          <p:cNvPr id="20" name="TextBox 19">
            <a:extLst>
              <a:ext uri="{FF2B5EF4-FFF2-40B4-BE49-F238E27FC236}">
                <a16:creationId xmlns:a16="http://schemas.microsoft.com/office/drawing/2014/main" id="{14BA1B4E-562B-43EA-99EB-D300AC2EF705}"/>
              </a:ext>
            </a:extLst>
          </p:cNvPr>
          <p:cNvSpPr txBox="1"/>
          <p:nvPr/>
        </p:nvSpPr>
        <p:spPr>
          <a:xfrm>
            <a:off x="5230813" y="4889656"/>
            <a:ext cx="2490787" cy="553998"/>
          </a:xfrm>
          <a:prstGeom prst="rect">
            <a:avLst/>
          </a:prstGeom>
          <a:noFill/>
        </p:spPr>
        <p:txBody>
          <a:bodyPr wrap="square">
            <a:spAutoFit/>
          </a:bodyPr>
          <a:lstStyle/>
          <a:p>
            <a:r>
              <a:rPr lang="en-MY" sz="1000" b="1" dirty="0"/>
              <a:t>7. Document Findings</a:t>
            </a:r>
            <a:br>
              <a:rPr lang="en-MY" sz="1000" dirty="0"/>
            </a:br>
            <a:r>
              <a:rPr lang="en-MY" sz="1000" dirty="0"/>
              <a:t>Record relevant entities, relationships, sources, timestamps, and observations.</a:t>
            </a:r>
          </a:p>
        </p:txBody>
      </p:sp>
    </p:spTree>
    <p:extLst>
      <p:ext uri="{BB962C8B-B14F-4D97-AF65-F5344CB8AC3E}">
        <p14:creationId xmlns:p14="http://schemas.microsoft.com/office/powerpoint/2010/main" val="2578557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E537-4EC3-4849-97DA-261194430CDF}"/>
              </a:ext>
            </a:extLst>
          </p:cNvPr>
          <p:cNvSpPr>
            <a:spLocks noGrp="1"/>
          </p:cNvSpPr>
          <p:nvPr>
            <p:ph type="title"/>
          </p:nvPr>
        </p:nvSpPr>
        <p:spPr/>
        <p:txBody>
          <a:bodyPr/>
          <a:lstStyle/>
          <a:p>
            <a:r>
              <a:rPr lang="en-MY" dirty="0"/>
              <a:t>SOCIAL NETWORK ANALYSIS USING </a:t>
            </a:r>
            <a:r>
              <a:rPr lang="en-MY" dirty="0">
                <a:solidFill>
                  <a:srgbClr val="06B6D4"/>
                </a:solidFill>
              </a:rPr>
              <a:t>KALI LINUX</a:t>
            </a:r>
          </a:p>
        </p:txBody>
      </p:sp>
      <p:pic>
        <p:nvPicPr>
          <p:cNvPr id="6152" name="Picture 8" descr="GitHub - smicallef/spiderfoot: SpiderFoot automates OSINT for threat intelligence and mapping your attack surface. · GitHub">
            <a:extLst>
              <a:ext uri="{FF2B5EF4-FFF2-40B4-BE49-F238E27FC236}">
                <a16:creationId xmlns:a16="http://schemas.microsoft.com/office/drawing/2014/main" id="{4D54908F-6BD9-4996-A992-53EA0E3BE2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27" y="2814594"/>
            <a:ext cx="779462" cy="77946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810553D-E2C8-4A9F-B319-C1DD14366F5C}"/>
              </a:ext>
            </a:extLst>
          </p:cNvPr>
          <p:cNvSpPr txBox="1"/>
          <p:nvPr/>
        </p:nvSpPr>
        <p:spPr>
          <a:xfrm>
            <a:off x="1375808" y="2814594"/>
            <a:ext cx="193040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i="0" u="none" strike="noStrike" cap="none" normalizeH="0" baseline="0" dirty="0">
                <a:ln>
                  <a:noFill/>
                </a:ln>
                <a:solidFill>
                  <a:srgbClr val="06B6D4"/>
                </a:solidFill>
                <a:effectLst/>
              </a:rPr>
              <a:t>SpiderFoot</a:t>
            </a:r>
            <a:r>
              <a:rPr kumimoji="0" lang="en-US" altLang="en-US" sz="1200" b="0" i="0" u="none" strike="noStrike" cap="none" normalizeH="0" baseline="0" dirty="0">
                <a:ln>
                  <a:noFill/>
                </a:ln>
                <a:solidFill>
                  <a:schemeClr val="tx1"/>
                </a:solidFill>
                <a:effectLst/>
              </a:rPr>
              <a:t> </a:t>
            </a:r>
            <a:r>
              <a:rPr lang="en-US" sz="1200" dirty="0"/>
              <a:t>— username searches across social platforms</a:t>
            </a:r>
            <a:endParaRPr kumimoji="0" lang="en-US" altLang="en-US" sz="1200" b="0" i="0" u="none" strike="noStrike" cap="none" normalizeH="0" baseline="0" dirty="0">
              <a:ln>
                <a:noFill/>
              </a:ln>
              <a:solidFill>
                <a:schemeClr val="tx1"/>
              </a:solidFill>
              <a:effectLst/>
            </a:endParaRPr>
          </a:p>
        </p:txBody>
      </p:sp>
      <p:pic>
        <p:nvPicPr>
          <p:cNvPr id="6156" name="Picture 12" descr="sherlock logo - Google Search">
            <a:extLst>
              <a:ext uri="{FF2B5EF4-FFF2-40B4-BE49-F238E27FC236}">
                <a16:creationId xmlns:a16="http://schemas.microsoft.com/office/drawing/2014/main" id="{E46C4E70-F673-445D-A380-382B18F44E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27" y="3767094"/>
            <a:ext cx="779462" cy="77946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8BD3FD7-91E9-42B2-B19A-A71C4BCDBEC3}"/>
              </a:ext>
            </a:extLst>
          </p:cNvPr>
          <p:cNvSpPr txBox="1"/>
          <p:nvPr/>
        </p:nvSpPr>
        <p:spPr>
          <a:xfrm>
            <a:off x="1458358" y="3767094"/>
            <a:ext cx="19304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i="0" u="none" strike="noStrike" cap="none" normalizeH="0" baseline="0" dirty="0">
                <a:ln>
                  <a:noFill/>
                </a:ln>
                <a:solidFill>
                  <a:srgbClr val="06B6D4"/>
                </a:solidFill>
                <a:effectLst/>
              </a:rPr>
              <a:t>Sherlock</a:t>
            </a:r>
            <a:r>
              <a:rPr lang="en-MY" sz="1200" dirty="0"/>
              <a:t>— username and account discovery</a:t>
            </a:r>
            <a:endParaRPr kumimoji="0" lang="en-US" altLang="en-US" sz="1200" i="0" u="none" strike="noStrike" cap="none" normalizeH="0" baseline="0" dirty="0">
              <a:ln>
                <a:noFill/>
              </a:ln>
              <a:solidFill>
                <a:schemeClr val="tx1"/>
              </a:solidFill>
              <a:effectLst/>
            </a:endParaRPr>
          </a:p>
        </p:txBody>
      </p:sp>
      <p:pic>
        <p:nvPicPr>
          <p:cNvPr id="6160" name="Picture 16" descr="GitHub - laramies/theHarvester: E-mails, subdomains and names Harvester - OSINT · GitHub">
            <a:extLst>
              <a:ext uri="{FF2B5EF4-FFF2-40B4-BE49-F238E27FC236}">
                <a16:creationId xmlns:a16="http://schemas.microsoft.com/office/drawing/2014/main" id="{DA539C36-6CAB-4EEE-B2C8-7FAC6BF17B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727" y="4719594"/>
            <a:ext cx="779462" cy="77946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90B1979-BF08-4583-BECD-BC67B411F916}"/>
              </a:ext>
            </a:extLst>
          </p:cNvPr>
          <p:cNvSpPr txBox="1"/>
          <p:nvPr/>
        </p:nvSpPr>
        <p:spPr>
          <a:xfrm>
            <a:off x="1458358" y="4786159"/>
            <a:ext cx="193040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i="0" u="none" strike="noStrike" cap="none" normalizeH="0" baseline="0" dirty="0">
                <a:ln>
                  <a:noFill/>
                </a:ln>
                <a:solidFill>
                  <a:srgbClr val="06B6D4"/>
                </a:solidFill>
                <a:effectLst/>
                <a:latin typeface="Arial" panose="020B0604020202020204" pitchFamily="34" charset="0"/>
              </a:rPr>
              <a:t>theHarvester</a:t>
            </a:r>
            <a:r>
              <a:rPr lang="en-US" sz="1200" dirty="0"/>
              <a:t>— emails, domains, and related information</a:t>
            </a:r>
            <a:endParaRPr kumimoji="0" lang="en-US" altLang="en-US" sz="1200" i="0" u="none" strike="noStrike" cap="none" normalizeH="0" baseline="0" dirty="0">
              <a:ln>
                <a:noFill/>
              </a:ln>
              <a:solidFill>
                <a:schemeClr val="tx1"/>
              </a:solidFill>
              <a:effectLst/>
              <a:latin typeface="Arial" panose="020B0604020202020204" pitchFamily="34" charset="0"/>
            </a:endParaRPr>
          </a:p>
        </p:txBody>
      </p:sp>
      <p:pic>
        <p:nvPicPr>
          <p:cNvPr id="6164" name="Picture 20" descr="Medium">
            <a:extLst>
              <a:ext uri="{FF2B5EF4-FFF2-40B4-BE49-F238E27FC236}">
                <a16:creationId xmlns:a16="http://schemas.microsoft.com/office/drawing/2014/main" id="{922A52A9-6B5E-49FD-B75F-B024304DF3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4632" y="2814594"/>
            <a:ext cx="1818684" cy="73731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D15087C4-F72F-417A-95A4-5B0599E7D1B2}"/>
              </a:ext>
            </a:extLst>
          </p:cNvPr>
          <p:cNvSpPr txBox="1"/>
          <p:nvPr/>
        </p:nvSpPr>
        <p:spPr>
          <a:xfrm>
            <a:off x="6019873" y="2906376"/>
            <a:ext cx="19304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i="0" u="none" strike="noStrike" cap="none" normalizeH="0" baseline="0" dirty="0">
                <a:ln>
                  <a:noFill/>
                </a:ln>
                <a:solidFill>
                  <a:srgbClr val="06B6D4"/>
                </a:solidFill>
                <a:effectLst/>
                <a:latin typeface="Arial" panose="020B0604020202020204" pitchFamily="34" charset="0"/>
              </a:rPr>
              <a:t>Recon-ng</a:t>
            </a:r>
            <a:r>
              <a:rPr lang="en-MY" sz="1200" dirty="0"/>
              <a:t>— modular reconnaissance framework</a:t>
            </a:r>
            <a:endParaRPr kumimoji="0" lang="en-US" altLang="en-US" sz="1200" i="0" u="none" strike="noStrike" cap="none" normalizeH="0" baseline="0" dirty="0">
              <a:ln>
                <a:noFill/>
              </a:ln>
              <a:solidFill>
                <a:schemeClr val="tx1"/>
              </a:solidFill>
              <a:effectLst/>
              <a:latin typeface="Arial" panose="020B0604020202020204" pitchFamily="34" charset="0"/>
            </a:endParaRPr>
          </a:p>
        </p:txBody>
      </p:sp>
      <p:pic>
        <p:nvPicPr>
          <p:cNvPr id="6166" name="Picture 22" descr="Whois Lookup | DNS.Tools">
            <a:extLst>
              <a:ext uri="{FF2B5EF4-FFF2-40B4-BE49-F238E27FC236}">
                <a16:creationId xmlns:a16="http://schemas.microsoft.com/office/drawing/2014/main" id="{6AA10146-A8D5-4D1F-8CD1-22AE23AEB2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4632" y="3747983"/>
            <a:ext cx="1818683" cy="737317"/>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48C28AAF-7A56-4C23-AB16-7B6DF2FE0AA5}"/>
              </a:ext>
            </a:extLst>
          </p:cNvPr>
          <p:cNvSpPr txBox="1"/>
          <p:nvPr/>
        </p:nvSpPr>
        <p:spPr>
          <a:xfrm>
            <a:off x="5893315" y="3880231"/>
            <a:ext cx="19304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06B6D4"/>
                </a:solidFill>
                <a:effectLst/>
              </a:rPr>
              <a:t>DNS tools</a:t>
            </a:r>
            <a:r>
              <a:rPr lang="en-US" sz="1200" dirty="0"/>
              <a:t>— web crawling and information extraction</a:t>
            </a:r>
            <a:endParaRPr kumimoji="0" lang="en-US" altLang="en-US" sz="1200" b="1" i="0" u="none" strike="noStrike" cap="none" normalizeH="0" baseline="0" dirty="0">
              <a:ln>
                <a:noFill/>
              </a:ln>
              <a:solidFill>
                <a:schemeClr val="tx1"/>
              </a:solidFill>
              <a:effectLst/>
            </a:endParaRPr>
          </a:p>
        </p:txBody>
      </p:sp>
      <p:pic>
        <p:nvPicPr>
          <p:cNvPr id="6170" name="Picture 26" descr="Menggodam dengan Google Dorks - CyberHoot">
            <a:extLst>
              <a:ext uri="{FF2B5EF4-FFF2-40B4-BE49-F238E27FC236}">
                <a16:creationId xmlns:a16="http://schemas.microsoft.com/office/drawing/2014/main" id="{91C13D6A-A5A3-4646-B5BA-31A1D39990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74632" y="4670216"/>
            <a:ext cx="1818683" cy="738656"/>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93EFD466-E0DD-41C5-92A7-CF46B53524AA}"/>
              </a:ext>
            </a:extLst>
          </p:cNvPr>
          <p:cNvSpPr txBox="1"/>
          <p:nvPr/>
        </p:nvSpPr>
        <p:spPr>
          <a:xfrm>
            <a:off x="5893315" y="4699040"/>
            <a:ext cx="19304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200" b="1" dirty="0">
                <a:solidFill>
                  <a:srgbClr val="06B6D4"/>
                </a:solidFill>
              </a:rPr>
              <a:t>Google Dorks</a:t>
            </a:r>
            <a:r>
              <a:rPr lang="en-US" sz="1200" dirty="0">
                <a:solidFill>
                  <a:srgbClr val="06B6D4"/>
                </a:solidFill>
              </a:rPr>
              <a:t> </a:t>
            </a:r>
            <a:r>
              <a:rPr lang="en-US" sz="1200" dirty="0"/>
              <a:t>— targeted search-engine queries</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6172" name="Picture 28" descr="GitHub - splitsploit/holehe: holehe allows you to check if the mail is used on different sites like twitter, instagram and will retrieve information on sites with the forgotten password function. Cloned from">
            <a:extLst>
              <a:ext uri="{FF2B5EF4-FFF2-40B4-BE49-F238E27FC236}">
                <a16:creationId xmlns:a16="http://schemas.microsoft.com/office/drawing/2014/main" id="{D3B19EE2-6980-46CB-A689-8012CDB6EC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0792" y="2785166"/>
            <a:ext cx="1845821" cy="73520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4E62B915-E11F-4896-AE1F-32F75C350764}"/>
              </a:ext>
            </a:extLst>
          </p:cNvPr>
          <p:cNvSpPr txBox="1"/>
          <p:nvPr/>
        </p:nvSpPr>
        <p:spPr>
          <a:xfrm>
            <a:off x="10230365" y="2906375"/>
            <a:ext cx="193040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1200" dirty="0">
                <a:solidFill>
                  <a:srgbClr val="06B6D4"/>
                </a:solidFill>
              </a:rPr>
              <a:t>Holehe</a:t>
            </a:r>
            <a:r>
              <a:rPr lang="en-US" sz="1200" dirty="0"/>
              <a:t> — checks whether an email is associated with supported online services</a:t>
            </a:r>
            <a:endParaRPr kumimoji="0" lang="en-US" altLang="en-US" sz="1200" i="0" u="none" strike="noStrike" cap="none" normalizeH="0" baseline="0" dirty="0">
              <a:ln>
                <a:noFill/>
              </a:ln>
              <a:solidFill>
                <a:schemeClr val="tx1"/>
              </a:solidFill>
              <a:effectLst/>
              <a:latin typeface="Arial" panose="020B0604020202020204" pitchFamily="34" charset="0"/>
            </a:endParaRPr>
          </a:p>
        </p:txBody>
      </p:sp>
      <p:pic>
        <p:nvPicPr>
          <p:cNvPr id="6174" name="Picture 30" descr="Pull requests · mxrch/GHunt · GitHub">
            <a:extLst>
              <a:ext uri="{FF2B5EF4-FFF2-40B4-BE49-F238E27FC236}">
                <a16:creationId xmlns:a16="http://schemas.microsoft.com/office/drawing/2014/main" id="{C6A4DAD1-EC5D-4533-BDF6-38313CF152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50792" y="3868875"/>
            <a:ext cx="1825608" cy="741579"/>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02A8A23F-5333-4045-AC18-159BB6F1AD77}"/>
              </a:ext>
            </a:extLst>
          </p:cNvPr>
          <p:cNvSpPr txBox="1"/>
          <p:nvPr/>
        </p:nvSpPr>
        <p:spPr>
          <a:xfrm>
            <a:off x="10096613" y="4023635"/>
            <a:ext cx="19304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MY" sz="1200" dirty="0">
                <a:solidFill>
                  <a:srgbClr val="06B6D4"/>
                </a:solidFill>
              </a:rPr>
              <a:t>GHunt</a:t>
            </a:r>
            <a:r>
              <a:rPr lang="en-MY" sz="1200" dirty="0"/>
              <a:t> — Google-account-related OSINT</a:t>
            </a:r>
            <a:endParaRPr kumimoji="0" lang="en-US" altLang="en-US" sz="12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6705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8ED84-C8DC-4CB4-BAE1-A91CA2AF9C3B}"/>
              </a:ext>
            </a:extLst>
          </p:cNvPr>
          <p:cNvSpPr>
            <a:spLocks noGrp="1"/>
          </p:cNvSpPr>
          <p:nvPr>
            <p:ph type="title"/>
          </p:nvPr>
        </p:nvSpPr>
        <p:spPr>
          <a:xfrm>
            <a:off x="463551" y="234950"/>
            <a:ext cx="10131425" cy="1456267"/>
          </a:xfrm>
        </p:spPr>
        <p:txBody>
          <a:bodyPr/>
          <a:lstStyle/>
          <a:p>
            <a:r>
              <a:rPr lang="en-MY" dirty="0" err="1"/>
              <a:t>On-SITE</a:t>
            </a:r>
            <a:r>
              <a:rPr lang="en-MY" dirty="0"/>
              <a:t> </a:t>
            </a:r>
            <a:r>
              <a:rPr lang="en-MY" dirty="0">
                <a:solidFill>
                  <a:srgbClr val="06B6D4"/>
                </a:solidFill>
              </a:rPr>
              <a:t>Collection</a:t>
            </a:r>
          </a:p>
        </p:txBody>
      </p:sp>
      <p:sp>
        <p:nvSpPr>
          <p:cNvPr id="8" name="TextBox 7">
            <a:extLst>
              <a:ext uri="{FF2B5EF4-FFF2-40B4-BE49-F238E27FC236}">
                <a16:creationId xmlns:a16="http://schemas.microsoft.com/office/drawing/2014/main" id="{FEE18C82-2B1D-4944-AC7B-AA545FA7167E}"/>
              </a:ext>
            </a:extLst>
          </p:cNvPr>
          <p:cNvSpPr txBox="1"/>
          <p:nvPr/>
        </p:nvSpPr>
        <p:spPr>
          <a:xfrm>
            <a:off x="3287713" y="3146985"/>
            <a:ext cx="2281237" cy="553998"/>
          </a:xfrm>
          <a:prstGeom prst="rect">
            <a:avLst/>
          </a:prstGeom>
          <a:noFill/>
        </p:spPr>
        <p:txBody>
          <a:bodyPr wrap="square">
            <a:spAutoFit/>
          </a:bodyPr>
          <a:lstStyle/>
          <a:p>
            <a:r>
              <a:rPr lang="en-US" sz="1000" b="1" dirty="0">
                <a:solidFill>
                  <a:srgbClr val="06B6D4"/>
                </a:solidFill>
              </a:rPr>
              <a:t>1. Identify the Evidence</a:t>
            </a:r>
            <a:br>
              <a:rPr lang="en-US" sz="1000" dirty="0"/>
            </a:br>
            <a:r>
              <a:rPr lang="en-US" sz="1000" dirty="0"/>
              <a:t>Identify the relevant device, media, or digital evidence at the scene.</a:t>
            </a:r>
            <a:endParaRPr lang="en-MY" sz="1000" dirty="0"/>
          </a:p>
        </p:txBody>
      </p:sp>
      <p:sp>
        <p:nvSpPr>
          <p:cNvPr id="9" name="TextBox 8">
            <a:extLst>
              <a:ext uri="{FF2B5EF4-FFF2-40B4-BE49-F238E27FC236}">
                <a16:creationId xmlns:a16="http://schemas.microsoft.com/office/drawing/2014/main" id="{3B03F2D0-4385-4855-9B5E-92BCDCA3E8A8}"/>
              </a:ext>
            </a:extLst>
          </p:cNvPr>
          <p:cNvSpPr txBox="1"/>
          <p:nvPr/>
        </p:nvSpPr>
        <p:spPr>
          <a:xfrm>
            <a:off x="9890126" y="3113317"/>
            <a:ext cx="2281237" cy="553998"/>
          </a:xfrm>
          <a:prstGeom prst="rect">
            <a:avLst/>
          </a:prstGeom>
          <a:noFill/>
        </p:spPr>
        <p:txBody>
          <a:bodyPr wrap="square">
            <a:spAutoFit/>
          </a:bodyPr>
          <a:lstStyle/>
          <a:p>
            <a:r>
              <a:rPr lang="en-US" sz="1000" b="1" dirty="0">
                <a:solidFill>
                  <a:srgbClr val="06B6D4"/>
                </a:solidFill>
              </a:rPr>
              <a:t>4. Secure the Evidence</a:t>
            </a:r>
            <a:br>
              <a:rPr lang="en-US" sz="1000" dirty="0"/>
            </a:br>
            <a:r>
              <a:rPr lang="en-US" sz="1000" dirty="0"/>
              <a:t>Package, label, and securely transport the evidence as required.</a:t>
            </a:r>
            <a:endParaRPr lang="en-MY" sz="1000" dirty="0"/>
          </a:p>
        </p:txBody>
      </p:sp>
      <p:sp>
        <p:nvSpPr>
          <p:cNvPr id="10" name="TextBox 9">
            <a:extLst>
              <a:ext uri="{FF2B5EF4-FFF2-40B4-BE49-F238E27FC236}">
                <a16:creationId xmlns:a16="http://schemas.microsoft.com/office/drawing/2014/main" id="{0F93295D-635B-4F6D-8FB1-B54330CA57F3}"/>
              </a:ext>
            </a:extLst>
          </p:cNvPr>
          <p:cNvSpPr txBox="1"/>
          <p:nvPr/>
        </p:nvSpPr>
        <p:spPr>
          <a:xfrm>
            <a:off x="5426076" y="3146985"/>
            <a:ext cx="2281237" cy="553998"/>
          </a:xfrm>
          <a:prstGeom prst="rect">
            <a:avLst/>
          </a:prstGeom>
          <a:noFill/>
        </p:spPr>
        <p:txBody>
          <a:bodyPr wrap="square">
            <a:spAutoFit/>
          </a:bodyPr>
          <a:lstStyle/>
          <a:p>
            <a:r>
              <a:rPr lang="en-US" sz="1000" b="1" dirty="0">
                <a:solidFill>
                  <a:srgbClr val="06B6D4"/>
                </a:solidFill>
              </a:rPr>
              <a:t>2. Document the Evidence</a:t>
            </a:r>
            <a:br>
              <a:rPr lang="en-US" sz="1000" dirty="0"/>
            </a:br>
            <a:r>
              <a:rPr lang="en-US" sz="1000" dirty="0"/>
              <a:t>Record the device details, condition, identifiers, and scene information.</a:t>
            </a:r>
            <a:endParaRPr lang="en-MY" sz="1000" dirty="0"/>
          </a:p>
        </p:txBody>
      </p:sp>
      <p:sp>
        <p:nvSpPr>
          <p:cNvPr id="11" name="TextBox 10">
            <a:extLst>
              <a:ext uri="{FF2B5EF4-FFF2-40B4-BE49-F238E27FC236}">
                <a16:creationId xmlns:a16="http://schemas.microsoft.com/office/drawing/2014/main" id="{62555BB1-67D8-4F00-86A1-26EC89D53CDB}"/>
              </a:ext>
            </a:extLst>
          </p:cNvPr>
          <p:cNvSpPr txBox="1"/>
          <p:nvPr/>
        </p:nvSpPr>
        <p:spPr>
          <a:xfrm>
            <a:off x="7707313" y="3113317"/>
            <a:ext cx="2281237" cy="553998"/>
          </a:xfrm>
          <a:prstGeom prst="rect">
            <a:avLst/>
          </a:prstGeom>
          <a:noFill/>
        </p:spPr>
        <p:txBody>
          <a:bodyPr wrap="square">
            <a:spAutoFit/>
          </a:bodyPr>
          <a:lstStyle/>
          <a:p>
            <a:r>
              <a:rPr lang="en-US" sz="1000" b="1" dirty="0">
                <a:solidFill>
                  <a:srgbClr val="06B6D4"/>
                </a:solidFill>
              </a:rPr>
              <a:t>3. Preserve the Evidence</a:t>
            </a:r>
            <a:br>
              <a:rPr lang="en-US" sz="1000" dirty="0"/>
            </a:br>
            <a:r>
              <a:rPr lang="en-US" sz="1000" dirty="0"/>
              <a:t>Prevent alteration or contamination of the original evidence.</a:t>
            </a:r>
            <a:endParaRPr lang="en-MY" sz="1000" dirty="0"/>
          </a:p>
        </p:txBody>
      </p:sp>
      <p:sp>
        <p:nvSpPr>
          <p:cNvPr id="19" name="TextBox 18">
            <a:extLst>
              <a:ext uri="{FF2B5EF4-FFF2-40B4-BE49-F238E27FC236}">
                <a16:creationId xmlns:a16="http://schemas.microsoft.com/office/drawing/2014/main" id="{25DE26F4-8B1D-4F47-94BF-6B7FE2EB73D5}"/>
              </a:ext>
            </a:extLst>
          </p:cNvPr>
          <p:cNvSpPr txBox="1"/>
          <p:nvPr/>
        </p:nvSpPr>
        <p:spPr>
          <a:xfrm>
            <a:off x="3248026" y="4145855"/>
            <a:ext cx="2281237" cy="553998"/>
          </a:xfrm>
          <a:prstGeom prst="rect">
            <a:avLst/>
          </a:prstGeom>
          <a:noFill/>
        </p:spPr>
        <p:txBody>
          <a:bodyPr wrap="square">
            <a:spAutoFit/>
          </a:bodyPr>
          <a:lstStyle/>
          <a:p>
            <a:r>
              <a:rPr lang="en-US" sz="1000" b="1" dirty="0">
                <a:solidFill>
                  <a:srgbClr val="06B6D4"/>
                </a:solidFill>
              </a:rPr>
              <a:t>5. Maintain Chain of Custody</a:t>
            </a:r>
            <a:br>
              <a:rPr lang="en-US" sz="1000" dirty="0"/>
            </a:br>
            <a:r>
              <a:rPr lang="en-US" sz="1000" dirty="0"/>
              <a:t>Record each transfer, handling activity, and person responsible.</a:t>
            </a:r>
            <a:endParaRPr lang="en-MY" sz="1000" dirty="0"/>
          </a:p>
        </p:txBody>
      </p:sp>
      <p:sp>
        <p:nvSpPr>
          <p:cNvPr id="20" name="TextBox 19">
            <a:extLst>
              <a:ext uri="{FF2B5EF4-FFF2-40B4-BE49-F238E27FC236}">
                <a16:creationId xmlns:a16="http://schemas.microsoft.com/office/drawing/2014/main" id="{EF9E34ED-F345-45AA-9162-A7C2FBFD6F89}"/>
              </a:ext>
            </a:extLst>
          </p:cNvPr>
          <p:cNvSpPr txBox="1"/>
          <p:nvPr/>
        </p:nvSpPr>
        <p:spPr>
          <a:xfrm>
            <a:off x="5675313" y="4145855"/>
            <a:ext cx="2281237" cy="553998"/>
          </a:xfrm>
          <a:prstGeom prst="rect">
            <a:avLst/>
          </a:prstGeom>
          <a:noFill/>
        </p:spPr>
        <p:txBody>
          <a:bodyPr wrap="square">
            <a:spAutoFit/>
          </a:bodyPr>
          <a:lstStyle/>
          <a:p>
            <a:r>
              <a:rPr lang="en-US" sz="1000" b="1" dirty="0">
                <a:solidFill>
                  <a:srgbClr val="06B6D4"/>
                </a:solidFill>
              </a:rPr>
              <a:t>Final Output:</a:t>
            </a:r>
            <a:br>
              <a:rPr lang="en-US" sz="1000" dirty="0"/>
            </a:br>
            <a:r>
              <a:rPr lang="en-US" sz="1000" b="1" dirty="0"/>
              <a:t>Documented + Preserved + Secured Digital Evidence</a:t>
            </a:r>
            <a:endParaRPr lang="en-MY" sz="1000" dirty="0"/>
          </a:p>
        </p:txBody>
      </p:sp>
      <p:sp>
        <p:nvSpPr>
          <p:cNvPr id="21" name="TextBox 20">
            <a:extLst>
              <a:ext uri="{FF2B5EF4-FFF2-40B4-BE49-F238E27FC236}">
                <a16:creationId xmlns:a16="http://schemas.microsoft.com/office/drawing/2014/main" id="{0B663439-446A-4B7B-A82C-9CE9F8B6F4B2}"/>
              </a:ext>
            </a:extLst>
          </p:cNvPr>
          <p:cNvSpPr txBox="1"/>
          <p:nvPr/>
        </p:nvSpPr>
        <p:spPr>
          <a:xfrm>
            <a:off x="463551" y="3700983"/>
            <a:ext cx="2281237" cy="246221"/>
          </a:xfrm>
          <a:prstGeom prst="rect">
            <a:avLst/>
          </a:prstGeom>
          <a:noFill/>
        </p:spPr>
        <p:txBody>
          <a:bodyPr wrap="square">
            <a:spAutoFit/>
          </a:bodyPr>
          <a:lstStyle/>
          <a:p>
            <a:r>
              <a:rPr lang="en-MY" sz="1000" dirty="0">
                <a:solidFill>
                  <a:srgbClr val="06B6D4"/>
                </a:solidFill>
              </a:rPr>
              <a:t>Digital Evidence Collection Workflow</a:t>
            </a:r>
          </a:p>
        </p:txBody>
      </p:sp>
      <p:sp>
        <p:nvSpPr>
          <p:cNvPr id="23" name="TextBox 22">
            <a:extLst>
              <a:ext uri="{FF2B5EF4-FFF2-40B4-BE49-F238E27FC236}">
                <a16:creationId xmlns:a16="http://schemas.microsoft.com/office/drawing/2014/main" id="{CBB1FC74-1A77-4FA0-93F9-FD5D71B8CB26}"/>
              </a:ext>
            </a:extLst>
          </p:cNvPr>
          <p:cNvSpPr txBox="1"/>
          <p:nvPr/>
        </p:nvSpPr>
        <p:spPr>
          <a:xfrm>
            <a:off x="406400" y="1295000"/>
            <a:ext cx="6096000"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6B6D4"/>
                </a:solidFill>
                <a:effectLst/>
                <a:latin typeface="Arial" panose="020B0604020202020204" pitchFamily="34" charset="0"/>
              </a:rPr>
              <a:t>On-Site Collection</a:t>
            </a:r>
            <a:r>
              <a:rPr kumimoji="0" lang="en-US" altLang="en-US" sz="1800" b="0" i="0" u="none" strike="noStrike" cap="none" normalizeH="0" baseline="0" dirty="0">
                <a:ln>
                  <a:noFill/>
                </a:ln>
                <a:solidFill>
                  <a:srgbClr val="06B6D4"/>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involves identifying, documenting, preserving, and securing digital devices or media at the scene. The process ensures that evidence is properly handled, protected from alteration, and maintained with a documented chain of custody.</a:t>
            </a:r>
          </a:p>
        </p:txBody>
      </p:sp>
    </p:spTree>
    <p:extLst>
      <p:ext uri="{BB962C8B-B14F-4D97-AF65-F5344CB8AC3E}">
        <p14:creationId xmlns:p14="http://schemas.microsoft.com/office/powerpoint/2010/main" val="253072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464C-BC13-42F9-A8DE-A1E1A5774724}"/>
              </a:ext>
            </a:extLst>
          </p:cNvPr>
          <p:cNvSpPr>
            <a:spLocks noGrp="1"/>
          </p:cNvSpPr>
          <p:nvPr>
            <p:ph type="title"/>
          </p:nvPr>
        </p:nvSpPr>
        <p:spPr>
          <a:xfrm>
            <a:off x="533401" y="311150"/>
            <a:ext cx="10131425" cy="1456267"/>
          </a:xfrm>
        </p:spPr>
        <p:txBody>
          <a:bodyPr/>
          <a:lstStyle/>
          <a:p>
            <a:r>
              <a:rPr lang="en-MY" dirty="0"/>
              <a:t>On-site </a:t>
            </a:r>
            <a:r>
              <a:rPr kumimoji="0" lang="en-US" altLang="en-US" sz="3600" b="1" i="0" u="none" strike="noStrike" cap="none" normalizeH="0" baseline="0" dirty="0">
                <a:ln>
                  <a:noFill/>
                </a:ln>
                <a:solidFill>
                  <a:srgbClr val="06B6D4"/>
                </a:solidFill>
                <a:effectLst/>
                <a:latin typeface="Arial" panose="020B0604020202020204" pitchFamily="34" charset="0"/>
              </a:rPr>
              <a:t>Acquisition</a:t>
            </a:r>
            <a:endParaRPr lang="en-MY" dirty="0">
              <a:solidFill>
                <a:srgbClr val="06B6D4"/>
              </a:solidFill>
            </a:endParaRPr>
          </a:p>
        </p:txBody>
      </p:sp>
      <p:sp>
        <p:nvSpPr>
          <p:cNvPr id="5" name="TextBox 4">
            <a:extLst>
              <a:ext uri="{FF2B5EF4-FFF2-40B4-BE49-F238E27FC236}">
                <a16:creationId xmlns:a16="http://schemas.microsoft.com/office/drawing/2014/main" id="{7168F651-001F-4ECA-B69E-B808C5ACA961}"/>
              </a:ext>
            </a:extLst>
          </p:cNvPr>
          <p:cNvSpPr txBox="1"/>
          <p:nvPr/>
        </p:nvSpPr>
        <p:spPr>
          <a:xfrm>
            <a:off x="107951" y="4107383"/>
            <a:ext cx="2281237" cy="246221"/>
          </a:xfrm>
          <a:prstGeom prst="rect">
            <a:avLst/>
          </a:prstGeom>
          <a:noFill/>
        </p:spPr>
        <p:txBody>
          <a:bodyPr wrap="square">
            <a:spAutoFit/>
          </a:bodyPr>
          <a:lstStyle/>
          <a:p>
            <a:r>
              <a:rPr lang="en-MY" sz="1000" dirty="0">
                <a:solidFill>
                  <a:srgbClr val="06B6D4"/>
                </a:solidFill>
              </a:rPr>
              <a:t>Digital Evidence Acquisition Workflow</a:t>
            </a:r>
          </a:p>
        </p:txBody>
      </p:sp>
      <p:sp>
        <p:nvSpPr>
          <p:cNvPr id="8" name="TextBox 7">
            <a:extLst>
              <a:ext uri="{FF2B5EF4-FFF2-40B4-BE49-F238E27FC236}">
                <a16:creationId xmlns:a16="http://schemas.microsoft.com/office/drawing/2014/main" id="{BF9C0DF9-3B42-4FF2-AE61-98CDF12179AB}"/>
              </a:ext>
            </a:extLst>
          </p:cNvPr>
          <p:cNvSpPr txBox="1"/>
          <p:nvPr/>
        </p:nvSpPr>
        <p:spPr>
          <a:xfrm>
            <a:off x="685801" y="1397675"/>
            <a:ext cx="6096000"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6B6D4"/>
                </a:solidFill>
                <a:effectLst/>
                <a:latin typeface="Arial" panose="020B0604020202020204" pitchFamily="34" charset="0"/>
              </a:rPr>
              <a:t>On-Site Digital Forensic Acquisition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On-Site Acquisition</a:t>
            </a:r>
            <a:r>
              <a:rPr kumimoji="0" lang="en-US" altLang="en-US" sz="1800" b="0" i="0" u="none" strike="noStrike" cap="none" normalizeH="0" baseline="0" dirty="0">
                <a:ln>
                  <a:noFill/>
                </a:ln>
                <a:solidFill>
                  <a:schemeClr val="tx1"/>
                </a:solidFill>
                <a:effectLst/>
                <a:latin typeface="Arial" panose="020B0604020202020204" pitchFamily="34" charset="0"/>
              </a:rPr>
              <a:t> involves the forensic extraction or imaging of digital evidence at the location of an incident. The process focuses on safely acquiring data from devices while preserving the original evidence, maintaining integrity, and documenting the acquisition for further forensic examination.</a:t>
            </a:r>
          </a:p>
        </p:txBody>
      </p:sp>
      <p:sp>
        <p:nvSpPr>
          <p:cNvPr id="9" name="TextBox 8">
            <a:extLst>
              <a:ext uri="{FF2B5EF4-FFF2-40B4-BE49-F238E27FC236}">
                <a16:creationId xmlns:a16="http://schemas.microsoft.com/office/drawing/2014/main" id="{E2CA8644-E2A6-4D3D-9432-131CFE3ACCC9}"/>
              </a:ext>
            </a:extLst>
          </p:cNvPr>
          <p:cNvSpPr txBox="1"/>
          <p:nvPr/>
        </p:nvSpPr>
        <p:spPr>
          <a:xfrm>
            <a:off x="2811463" y="3676495"/>
            <a:ext cx="2281237" cy="553998"/>
          </a:xfrm>
          <a:prstGeom prst="rect">
            <a:avLst/>
          </a:prstGeom>
          <a:noFill/>
        </p:spPr>
        <p:txBody>
          <a:bodyPr wrap="square">
            <a:spAutoFit/>
          </a:bodyPr>
          <a:lstStyle/>
          <a:p>
            <a:r>
              <a:rPr lang="en-US" sz="1000" b="1" dirty="0">
                <a:solidFill>
                  <a:srgbClr val="06B6D4"/>
                </a:solidFill>
              </a:rPr>
              <a:t>1. Identify the Source</a:t>
            </a:r>
            <a:br>
              <a:rPr lang="en-US" sz="1000" dirty="0"/>
            </a:br>
            <a:r>
              <a:rPr lang="en-US" sz="1000" dirty="0"/>
              <a:t>Select the device or storage media to be acquired.</a:t>
            </a:r>
          </a:p>
        </p:txBody>
      </p:sp>
      <p:sp>
        <p:nvSpPr>
          <p:cNvPr id="10" name="TextBox 9">
            <a:extLst>
              <a:ext uri="{FF2B5EF4-FFF2-40B4-BE49-F238E27FC236}">
                <a16:creationId xmlns:a16="http://schemas.microsoft.com/office/drawing/2014/main" id="{8BF4D577-DC43-4D42-A111-3AF0BAF61597}"/>
              </a:ext>
            </a:extLst>
          </p:cNvPr>
          <p:cNvSpPr txBox="1"/>
          <p:nvPr/>
        </p:nvSpPr>
        <p:spPr>
          <a:xfrm>
            <a:off x="5224465" y="3551896"/>
            <a:ext cx="2281237" cy="707886"/>
          </a:xfrm>
          <a:prstGeom prst="rect">
            <a:avLst/>
          </a:prstGeom>
          <a:noFill/>
        </p:spPr>
        <p:txBody>
          <a:bodyPr wrap="square">
            <a:spAutoFit/>
          </a:bodyPr>
          <a:lstStyle/>
          <a:p>
            <a:r>
              <a:rPr lang="en-US" sz="1000" b="1" dirty="0">
                <a:solidFill>
                  <a:srgbClr val="06B6D4"/>
                </a:solidFill>
              </a:rPr>
              <a:t>2. Connect the Evidence</a:t>
            </a:r>
            <a:br>
              <a:rPr lang="en-US" sz="1000" dirty="0"/>
            </a:br>
            <a:r>
              <a:rPr lang="en-US" sz="1000" dirty="0"/>
              <a:t>Connect the source device to the appropriate forensic acquisition equipment.</a:t>
            </a:r>
          </a:p>
        </p:txBody>
      </p:sp>
      <p:sp>
        <p:nvSpPr>
          <p:cNvPr id="11" name="TextBox 10">
            <a:extLst>
              <a:ext uri="{FF2B5EF4-FFF2-40B4-BE49-F238E27FC236}">
                <a16:creationId xmlns:a16="http://schemas.microsoft.com/office/drawing/2014/main" id="{0DFCE794-C9A8-4D7E-9F69-3ED38F160C3B}"/>
              </a:ext>
            </a:extLst>
          </p:cNvPr>
          <p:cNvSpPr txBox="1"/>
          <p:nvPr/>
        </p:nvSpPr>
        <p:spPr>
          <a:xfrm>
            <a:off x="7505702" y="3573192"/>
            <a:ext cx="2281237" cy="553998"/>
          </a:xfrm>
          <a:prstGeom prst="rect">
            <a:avLst/>
          </a:prstGeom>
          <a:noFill/>
        </p:spPr>
        <p:txBody>
          <a:bodyPr wrap="square">
            <a:spAutoFit/>
          </a:bodyPr>
          <a:lstStyle/>
          <a:p>
            <a:r>
              <a:rPr lang="en-US" sz="1000" b="1" dirty="0">
                <a:solidFill>
                  <a:srgbClr val="06B6D4"/>
                </a:solidFill>
              </a:rPr>
              <a:t>3. Select Acquisition Method</a:t>
            </a:r>
            <a:br>
              <a:rPr lang="en-US" sz="1000" dirty="0"/>
            </a:br>
            <a:r>
              <a:rPr lang="en-US" sz="1000" dirty="0"/>
              <a:t>Choose the appropriate logical, file-system, or physical acquisition method.</a:t>
            </a:r>
          </a:p>
        </p:txBody>
      </p:sp>
      <p:sp>
        <p:nvSpPr>
          <p:cNvPr id="12" name="TextBox 11">
            <a:extLst>
              <a:ext uri="{FF2B5EF4-FFF2-40B4-BE49-F238E27FC236}">
                <a16:creationId xmlns:a16="http://schemas.microsoft.com/office/drawing/2014/main" id="{1DCE8AD2-0DE6-4EBD-9651-3BA379DD0605}"/>
              </a:ext>
            </a:extLst>
          </p:cNvPr>
          <p:cNvSpPr txBox="1"/>
          <p:nvPr/>
        </p:nvSpPr>
        <p:spPr>
          <a:xfrm>
            <a:off x="2811463" y="4659481"/>
            <a:ext cx="2281237" cy="553998"/>
          </a:xfrm>
          <a:prstGeom prst="rect">
            <a:avLst/>
          </a:prstGeom>
          <a:noFill/>
        </p:spPr>
        <p:txBody>
          <a:bodyPr wrap="square">
            <a:spAutoFit/>
          </a:bodyPr>
          <a:lstStyle/>
          <a:p>
            <a:r>
              <a:rPr lang="en-US" sz="1000" b="1" dirty="0">
                <a:solidFill>
                  <a:srgbClr val="06B6D4"/>
                </a:solidFill>
              </a:rPr>
              <a:t>5. Acquire the Data</a:t>
            </a:r>
            <a:br>
              <a:rPr lang="en-US" sz="1000" dirty="0"/>
            </a:br>
            <a:r>
              <a:rPr lang="en-US" sz="1000" dirty="0"/>
              <a:t>Create a forensic copy or extraction of the source data.</a:t>
            </a:r>
          </a:p>
        </p:txBody>
      </p:sp>
      <p:sp>
        <p:nvSpPr>
          <p:cNvPr id="13" name="TextBox 12">
            <a:extLst>
              <a:ext uri="{FF2B5EF4-FFF2-40B4-BE49-F238E27FC236}">
                <a16:creationId xmlns:a16="http://schemas.microsoft.com/office/drawing/2014/main" id="{87232EBA-2C09-4C68-B598-DAEA150EDF1D}"/>
              </a:ext>
            </a:extLst>
          </p:cNvPr>
          <p:cNvSpPr txBox="1"/>
          <p:nvPr/>
        </p:nvSpPr>
        <p:spPr>
          <a:xfrm>
            <a:off x="9786939" y="3573192"/>
            <a:ext cx="2281237" cy="553998"/>
          </a:xfrm>
          <a:prstGeom prst="rect">
            <a:avLst/>
          </a:prstGeom>
          <a:noFill/>
        </p:spPr>
        <p:txBody>
          <a:bodyPr wrap="square">
            <a:spAutoFit/>
          </a:bodyPr>
          <a:lstStyle/>
          <a:p>
            <a:r>
              <a:rPr lang="en-US" sz="1000" b="1" dirty="0">
                <a:solidFill>
                  <a:srgbClr val="06B6D4"/>
                </a:solidFill>
              </a:rPr>
              <a:t>4. Configure Acquisition</a:t>
            </a:r>
            <a:br>
              <a:rPr lang="en-US" sz="1000" dirty="0"/>
            </a:br>
            <a:r>
              <a:rPr lang="en-US" sz="1000" dirty="0"/>
              <a:t>Enter case details and enable required hashing and verification options.</a:t>
            </a:r>
          </a:p>
        </p:txBody>
      </p:sp>
      <p:sp>
        <p:nvSpPr>
          <p:cNvPr id="14" name="TextBox 13">
            <a:extLst>
              <a:ext uri="{FF2B5EF4-FFF2-40B4-BE49-F238E27FC236}">
                <a16:creationId xmlns:a16="http://schemas.microsoft.com/office/drawing/2014/main" id="{188F86B6-1B32-429F-91E8-391E309099AB}"/>
              </a:ext>
            </a:extLst>
          </p:cNvPr>
          <p:cNvSpPr txBox="1"/>
          <p:nvPr/>
        </p:nvSpPr>
        <p:spPr>
          <a:xfrm>
            <a:off x="5453063" y="4615031"/>
            <a:ext cx="2281237" cy="553998"/>
          </a:xfrm>
          <a:prstGeom prst="rect">
            <a:avLst/>
          </a:prstGeom>
          <a:noFill/>
        </p:spPr>
        <p:txBody>
          <a:bodyPr wrap="square">
            <a:spAutoFit/>
          </a:bodyPr>
          <a:lstStyle/>
          <a:p>
            <a:r>
              <a:rPr lang="en-US" sz="1000" b="1" dirty="0">
                <a:solidFill>
                  <a:srgbClr val="06B6D4"/>
                </a:solidFill>
              </a:rPr>
              <a:t>6. Verify Integrity</a:t>
            </a:r>
            <a:br>
              <a:rPr lang="en-US" sz="1000" dirty="0"/>
            </a:br>
            <a:r>
              <a:rPr lang="en-US" sz="1000" dirty="0"/>
              <a:t>Calculate and verify cryptographic hash values to confirm data integrity.</a:t>
            </a:r>
          </a:p>
        </p:txBody>
      </p:sp>
      <p:sp>
        <p:nvSpPr>
          <p:cNvPr id="15" name="TextBox 14">
            <a:extLst>
              <a:ext uri="{FF2B5EF4-FFF2-40B4-BE49-F238E27FC236}">
                <a16:creationId xmlns:a16="http://schemas.microsoft.com/office/drawing/2014/main" id="{CE21DB06-3D2E-43EF-91B5-710001C66F83}"/>
              </a:ext>
            </a:extLst>
          </p:cNvPr>
          <p:cNvSpPr txBox="1"/>
          <p:nvPr/>
        </p:nvSpPr>
        <p:spPr>
          <a:xfrm>
            <a:off x="7897813" y="4570581"/>
            <a:ext cx="2281237" cy="553998"/>
          </a:xfrm>
          <a:prstGeom prst="rect">
            <a:avLst/>
          </a:prstGeom>
          <a:noFill/>
        </p:spPr>
        <p:txBody>
          <a:bodyPr wrap="square">
            <a:spAutoFit/>
          </a:bodyPr>
          <a:lstStyle/>
          <a:p>
            <a:r>
              <a:rPr lang="en-US" sz="1000" b="1" dirty="0">
                <a:solidFill>
                  <a:srgbClr val="06B6D4"/>
                </a:solidFill>
              </a:rPr>
              <a:t>7. Document Results</a:t>
            </a:r>
            <a:br>
              <a:rPr lang="en-US" sz="1000" dirty="0"/>
            </a:br>
            <a:r>
              <a:rPr lang="en-US" sz="1000" dirty="0"/>
              <a:t>Record acquisition details, hash values, errors, and completion status.</a:t>
            </a:r>
          </a:p>
        </p:txBody>
      </p:sp>
      <p:sp>
        <p:nvSpPr>
          <p:cNvPr id="16" name="TextBox 15">
            <a:extLst>
              <a:ext uri="{FF2B5EF4-FFF2-40B4-BE49-F238E27FC236}">
                <a16:creationId xmlns:a16="http://schemas.microsoft.com/office/drawing/2014/main" id="{6EDECF08-FA66-48EF-A47C-42497893250C}"/>
              </a:ext>
            </a:extLst>
          </p:cNvPr>
          <p:cNvSpPr txBox="1"/>
          <p:nvPr/>
        </p:nvSpPr>
        <p:spPr>
          <a:xfrm>
            <a:off x="6951663" y="5567970"/>
            <a:ext cx="2281237" cy="553998"/>
          </a:xfrm>
          <a:prstGeom prst="rect">
            <a:avLst/>
          </a:prstGeom>
          <a:noFill/>
        </p:spPr>
        <p:txBody>
          <a:bodyPr wrap="square">
            <a:spAutoFit/>
          </a:bodyPr>
          <a:lstStyle/>
          <a:p>
            <a:r>
              <a:rPr lang="en-MY" sz="1000" b="1" dirty="0">
                <a:solidFill>
                  <a:srgbClr val="06B6D4"/>
                </a:solidFill>
              </a:rPr>
              <a:t>Final Output:</a:t>
            </a:r>
            <a:br>
              <a:rPr lang="en-MY" sz="1000" dirty="0"/>
            </a:br>
            <a:r>
              <a:rPr lang="en-MY" sz="1000" b="1" dirty="0"/>
              <a:t>Forensic Image/Extraction + Hash Values + Acquisition Report</a:t>
            </a:r>
            <a:endParaRPr lang="en-US" sz="1000" dirty="0"/>
          </a:p>
        </p:txBody>
      </p:sp>
    </p:spTree>
    <p:extLst>
      <p:ext uri="{BB962C8B-B14F-4D97-AF65-F5344CB8AC3E}">
        <p14:creationId xmlns:p14="http://schemas.microsoft.com/office/powerpoint/2010/main" val="487944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0FF755-2406-45D6-B619-8FB5A7C52164}"/>
              </a:ext>
            </a:extLst>
          </p:cNvPr>
          <p:cNvSpPr>
            <a:spLocks noGrp="1"/>
          </p:cNvSpPr>
          <p:nvPr>
            <p:ph idx="1"/>
          </p:nvPr>
        </p:nvSpPr>
        <p:spPr/>
        <p:txBody>
          <a:bodyPr/>
          <a:lstStyle/>
          <a:p>
            <a:endParaRPr lang="en-MY" dirty="0"/>
          </a:p>
        </p:txBody>
      </p:sp>
      <p:sp>
        <p:nvSpPr>
          <p:cNvPr id="4" name="Rectangle 1">
            <a:extLst>
              <a:ext uri="{FF2B5EF4-FFF2-40B4-BE49-F238E27FC236}">
                <a16:creationId xmlns:a16="http://schemas.microsoft.com/office/drawing/2014/main" id="{9688E8F4-3ABF-40BC-8241-EC01B8105B73}"/>
              </a:ext>
            </a:extLst>
          </p:cNvPr>
          <p:cNvSpPr>
            <a:spLocks noGrp="1" noChangeArrowheads="1"/>
          </p:cNvSpPr>
          <p:nvPr>
            <p:ph type="title"/>
          </p:nvPr>
        </p:nvSpPr>
        <p:spPr bwMode="auto">
          <a:xfrm>
            <a:off x="685801" y="968401"/>
            <a:ext cx="811151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Key Learnings and Skills Gained During My Internship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43626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369</TotalTime>
  <Words>1883</Words>
  <Application>Microsoft Office PowerPoint</Application>
  <PresentationFormat>Widescreen</PresentationFormat>
  <Paragraphs>181</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Inter</vt:lpstr>
      <vt:lpstr>Inter SemiBold</vt:lpstr>
      <vt:lpstr>Space Grotesk</vt:lpstr>
      <vt:lpstr>Wingdings</vt:lpstr>
      <vt:lpstr>Celestial</vt:lpstr>
      <vt:lpstr>INTERNSHIP Presentation</vt:lpstr>
      <vt:lpstr>COMPANY BACKGROUND OG IT FORENSIC SERVICES (M) SDN.BHD</vt:lpstr>
      <vt:lpstr>Mission and vision of og it forensic services</vt:lpstr>
      <vt:lpstr>PowerPoint Presentation</vt:lpstr>
      <vt:lpstr>PowerPoint Presentation</vt:lpstr>
      <vt:lpstr>PowerPoint Presentation</vt:lpstr>
      <vt:lpstr>Organization chart of og it forensic (m) sdn. Bhd.</vt:lpstr>
      <vt:lpstr>tasks and accountabilities of the roles in Digital Forensics</vt:lpstr>
      <vt:lpstr>Digital Forensic Software used   </vt:lpstr>
      <vt:lpstr>Digital Audio Forensic Analysis </vt:lpstr>
      <vt:lpstr>Digital Video forensic analysis</vt:lpstr>
      <vt:lpstr>Digital Photo forensic analysis</vt:lpstr>
      <vt:lpstr>Digital Mobile Forensic Analysis</vt:lpstr>
      <vt:lpstr>Logicube TX1</vt:lpstr>
      <vt:lpstr>Social networking analysis (sna)</vt:lpstr>
      <vt:lpstr>SOCIAL NETWORK ANALYSIS USING KALI LINUX</vt:lpstr>
      <vt:lpstr>On-SITE Collection</vt:lpstr>
      <vt:lpstr>On-site Acquisition</vt:lpstr>
      <vt:lpstr>Key Learnings and Skills Gained During My Internship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Xenon Plays</dc:creator>
  <cp:lastModifiedBy>Xenon Plays</cp:lastModifiedBy>
  <cp:revision>27</cp:revision>
  <dcterms:created xsi:type="dcterms:W3CDTF">2026-08-05T21:51:15Z</dcterms:created>
  <dcterms:modified xsi:type="dcterms:W3CDTF">2026-08-10T08:37:15Z</dcterms:modified>
</cp:coreProperties>
</file>