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23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5882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112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4679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894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1890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9565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517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026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9819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4238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8764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70721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4794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19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6505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8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5743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E8804D-122A-4F2B-AE7A-EA61BD8E030B}" type="datetimeFigureOut">
              <a:rPr lang="en-MY" smtClean="0"/>
              <a:t>7/8/2026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1180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EE3F-9894-45AD-8F06-4763A7540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3518703"/>
            <a:ext cx="7197726" cy="867027"/>
          </a:xfrm>
        </p:spPr>
        <p:txBody>
          <a:bodyPr>
            <a:normAutofit/>
          </a:bodyPr>
          <a:lstStyle/>
          <a:p>
            <a:r>
              <a:rPr lang="en-MY" dirty="0"/>
              <a:t>INTERNSHIP</a:t>
            </a:r>
            <a:r>
              <a:rPr lang="en-MY" dirty="0">
                <a:ln w="3175" cmpd="sng">
                  <a:solidFill>
                    <a:srgbClr val="FF0000"/>
                  </a:solidFill>
                </a:ln>
              </a:rPr>
              <a:t>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12427-CCCE-498A-9B88-D78AA5E95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5781" y="4385732"/>
            <a:ext cx="6854343" cy="1405467"/>
          </a:xfrm>
        </p:spPr>
        <p:txBody>
          <a:bodyPr>
            <a:normAutofit/>
          </a:bodyPr>
          <a:lstStyle/>
          <a:p>
            <a:pPr algn="l"/>
            <a:r>
              <a:rPr lang="en-MY" dirty="0"/>
              <a:t>NAME: </a:t>
            </a:r>
            <a:r>
              <a:rPr lang="en-MY" dirty="0" err="1"/>
              <a:t>uthayakumaar</a:t>
            </a:r>
            <a:r>
              <a:rPr lang="en-MY" dirty="0"/>
              <a:t> s/O KRISHNAN</a:t>
            </a:r>
          </a:p>
          <a:p>
            <a:pPr algn="l"/>
            <a:r>
              <a:rPr lang="en-MY" dirty="0"/>
              <a:t>BATCH FEBRUARY 2026</a:t>
            </a:r>
          </a:p>
          <a:p>
            <a:pPr algn="l"/>
            <a:r>
              <a:rPr lang="en-MY" dirty="0"/>
              <a:t>STUDENT ID: 012024971304</a:t>
            </a:r>
          </a:p>
        </p:txBody>
      </p:sp>
    </p:spTree>
    <p:extLst>
      <p:ext uri="{BB962C8B-B14F-4D97-AF65-F5344CB8AC3E}">
        <p14:creationId xmlns:p14="http://schemas.microsoft.com/office/powerpoint/2010/main" val="367740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5C546D-B51B-4A5E-9C54-C87C077B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COMPANY BACKGROUND</a:t>
            </a:r>
            <a:br>
              <a:rPr lang="en-MY" dirty="0"/>
            </a:br>
            <a:r>
              <a:rPr lang="en-MY" dirty="0"/>
              <a:t>OG IT FORENSIC SERVICES (M) SDN.BHD</a:t>
            </a:r>
          </a:p>
        </p:txBody>
      </p:sp>
      <p:pic>
        <p:nvPicPr>
          <p:cNvPr id="1028" name="Picture 4" descr="Forensic Accounting Services Kuala Lumpur (KL), Forensic Audit Firm Selangor, Litigation Support Services Malaysia, India ~ Alliance IFA (M) Sdn Bhd">
            <a:extLst>
              <a:ext uri="{FF2B5EF4-FFF2-40B4-BE49-F238E27FC236}">
                <a16:creationId xmlns:a16="http://schemas.microsoft.com/office/drawing/2014/main" id="{4DEA695D-542E-44A3-B44B-D12A2BB077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065867"/>
            <a:ext cx="3340254" cy="153193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D1B484-B9CD-4025-ABC0-F83454499127}"/>
              </a:ext>
            </a:extLst>
          </p:cNvPr>
          <p:cNvSpPr txBox="1"/>
          <p:nvPr/>
        </p:nvSpPr>
        <p:spPr>
          <a:xfrm>
            <a:off x="685801" y="3714516"/>
            <a:ext cx="554069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B6D4"/>
                </a:solidFill>
                <a:latin typeface="Space Grotesk"/>
              </a:rPr>
              <a:t>Pioneers in Malaysia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36C7D-F8A8-499B-912E-7A2A51E1D742}"/>
              </a:ext>
            </a:extLst>
          </p:cNvPr>
          <p:cNvSpPr txBox="1"/>
          <p:nvPr/>
        </p:nvSpPr>
        <p:spPr>
          <a:xfrm>
            <a:off x="685801" y="4095636"/>
            <a:ext cx="4476508" cy="972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sz="1650" b="0" i="0" u="none" dirty="0">
                <a:solidFill>
                  <a:srgbClr val="94A3B8"/>
                </a:solidFill>
                <a:latin typeface="Inter"/>
              </a:rPr>
              <a:t>Founded in 2010, OG IT Forensic Services is Malaysia's very first private digital forensic investigation firm.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A8710-028C-45D5-AA0A-8567303E3B01}"/>
              </a:ext>
            </a:extLst>
          </p:cNvPr>
          <p:cNvSpPr txBox="1"/>
          <p:nvPr/>
        </p:nvSpPr>
        <p:spPr>
          <a:xfrm>
            <a:off x="685801" y="5068403"/>
            <a:ext cx="44765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sz="1650" b="0" i="0" u="none" dirty="0">
                <a:solidFill>
                  <a:srgbClr val="94A3B8"/>
                </a:solidFill>
                <a:latin typeface="Inter"/>
              </a:rPr>
              <a:t>We specialize in bringing fraud, identity theft, and complex cybercrimes to justice through meticulous, court-ready digital evidence analysis and retrieval.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8AEBE6-37DD-4B79-A9A8-394731C0893F}"/>
              </a:ext>
            </a:extLst>
          </p:cNvPr>
          <p:cNvSpPr txBox="1"/>
          <p:nvPr/>
        </p:nvSpPr>
        <p:spPr>
          <a:xfrm>
            <a:off x="7628538" y="1953162"/>
            <a:ext cx="2669899" cy="1467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sz="11250" b="1" i="0" u="none" dirty="0">
                <a:solidFill>
                  <a:srgbClr val="06B6D4"/>
                </a:solidFill>
                <a:latin typeface="Space Grotesk"/>
              </a:rPr>
              <a:t>16+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62BAC-6A2D-48E7-B8F9-308735B65DBD}"/>
              </a:ext>
            </a:extLst>
          </p:cNvPr>
          <p:cNvSpPr txBox="1"/>
          <p:nvPr/>
        </p:nvSpPr>
        <p:spPr>
          <a:xfrm>
            <a:off x="6518536" y="3772008"/>
            <a:ext cx="253208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Established Expertise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13640A-94F5-4017-A708-58C6773A9BC9}"/>
              </a:ext>
            </a:extLst>
          </p:cNvPr>
          <p:cNvSpPr txBox="1"/>
          <p:nvPr/>
        </p:nvSpPr>
        <p:spPr>
          <a:xfrm>
            <a:off x="6518536" y="4210930"/>
            <a:ext cx="52768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Since 2010, the firm has reliably conducted court-ordered evidence seizures, corporate financial fraud investigations, and sophisticated cyber intrusion forensics.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26C5A2-CEF3-49D6-B6B8-26DACE8E9EC9}"/>
              </a:ext>
            </a:extLst>
          </p:cNvPr>
          <p:cNvSpPr txBox="1"/>
          <p:nvPr/>
        </p:nvSpPr>
        <p:spPr>
          <a:xfrm>
            <a:off x="7911336" y="3119746"/>
            <a:ext cx="210430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 dirty="0">
                <a:solidFill>
                  <a:srgbClr val="F8FAFC"/>
                </a:solidFill>
                <a:latin typeface="Inter SemiBold"/>
              </a:rPr>
              <a:t>Years in Practice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5C7052-D05A-45E7-8C79-EACEDDE3CB3C}"/>
              </a:ext>
            </a:extLst>
          </p:cNvPr>
          <p:cNvSpPr txBox="1"/>
          <p:nvPr/>
        </p:nvSpPr>
        <p:spPr>
          <a:xfrm>
            <a:off x="6518536" y="5095396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We have a recognized courtroom track record, successfully providing expert testimony in highly critical, sensitive legal disputes globally.</a:t>
            </a:r>
          </a:p>
        </p:txBody>
      </p:sp>
    </p:spTree>
    <p:extLst>
      <p:ext uri="{BB962C8B-B14F-4D97-AF65-F5344CB8AC3E}">
        <p14:creationId xmlns:p14="http://schemas.microsoft.com/office/powerpoint/2010/main" val="106288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7483-8736-4F3D-83DB-706BDCBD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Mission and vision of og it forensic services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C740BD9-3B07-4DEB-B8EB-577DD05EC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852" y="1992969"/>
            <a:ext cx="3486150" cy="403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3DC2F-3420-42B2-B84D-75A536671BD0}"/>
              </a:ext>
            </a:extLst>
          </p:cNvPr>
          <p:cNvSpPr txBox="1"/>
          <p:nvPr/>
        </p:nvSpPr>
        <p:spPr>
          <a:xfrm>
            <a:off x="2100112" y="3607194"/>
            <a:ext cx="3253630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100" dirty="0"/>
              <a:t>To bring fraud, identity theft, and cybercrime to justice through the rigorous identification, collection, acquisition, and preservation of digital evidence.</a:t>
            </a:r>
          </a:p>
          <a:p>
            <a:pPr marL="342900" indent="-342900">
              <a:buAutoNum type="arabicPeriod"/>
            </a:pPr>
            <a:endParaRPr lang="en-US" sz="1100" dirty="0"/>
          </a:p>
          <a:p>
            <a:pPr marL="342900" indent="-342900">
              <a:buFontTx/>
              <a:buAutoNum type="arabicPeriod"/>
            </a:pPr>
            <a:r>
              <a:rPr lang="en-US" sz="1100" dirty="0"/>
              <a:t>To ensure absolute legal readiness by conducting every engagement with the strict purpose of producing admissible, court-ready digital evidence.</a:t>
            </a:r>
            <a:endParaRPr lang="en-US" sz="1100" i="0" u="none" dirty="0">
              <a:solidFill>
                <a:srgbClr val="94A3B8"/>
              </a:solidFill>
              <a:latin typeface="Inter"/>
            </a:endParaRPr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1A0A626-920F-42FD-B1D5-86261EC3F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537" y="1992969"/>
            <a:ext cx="3486150" cy="403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508239-8BEE-42D3-A3DB-C3E27AD763CE}"/>
              </a:ext>
            </a:extLst>
          </p:cNvPr>
          <p:cNvSpPr txBox="1"/>
          <p:nvPr/>
        </p:nvSpPr>
        <p:spPr>
          <a:xfrm>
            <a:off x="6447884" y="3607194"/>
            <a:ext cx="3229457" cy="1523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/>
              <a:t>To maintain the highest standard of evidence integrity by operating in full compliance with ISO/IEC 27037 standards for digital forensic investigations.</a:t>
            </a:r>
          </a:p>
          <a:p>
            <a:pPr marL="228600" indent="-228600">
              <a:buAutoNum type="arabicPeriod"/>
            </a:pPr>
            <a:endParaRPr lang="en-US" sz="1100" dirty="0"/>
          </a:p>
          <a:p>
            <a:pPr marL="228600" indent="-228600">
              <a:buFontTx/>
              <a:buAutoNum type="arabicPeriod"/>
            </a:pPr>
            <a:r>
              <a:rPr lang="en-US" sz="1100" dirty="0"/>
              <a:t>To serve as the most reliable digital forensic service provider, supporting litigation, incident response, and complex investigations across diverse global jurisdictions with undisputed expert testimony.</a:t>
            </a:r>
            <a:endParaRPr lang="en-US" sz="1100" i="0" u="none" dirty="0">
              <a:solidFill>
                <a:srgbClr val="94A3B8"/>
              </a:solidFill>
              <a:latin typeface="Inter"/>
            </a:endParaRPr>
          </a:p>
          <a:p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BFB81-856C-4224-92C1-35BD2A7DDEB1}"/>
              </a:ext>
            </a:extLst>
          </p:cNvPr>
          <p:cNvSpPr txBox="1"/>
          <p:nvPr/>
        </p:nvSpPr>
        <p:spPr>
          <a:xfrm>
            <a:off x="2786809" y="2785520"/>
            <a:ext cx="188023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F8FAFC"/>
                </a:solidFill>
                <a:latin typeface="Space Grotesk"/>
              </a:rPr>
              <a:t>Mission</a:t>
            </a:r>
            <a:endParaRPr sz="21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D7467-287D-429C-8AE9-76ED61552F4C}"/>
              </a:ext>
            </a:extLst>
          </p:cNvPr>
          <p:cNvSpPr txBox="1"/>
          <p:nvPr/>
        </p:nvSpPr>
        <p:spPr>
          <a:xfrm>
            <a:off x="7072488" y="2765785"/>
            <a:ext cx="19802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F8FAFC"/>
                </a:solidFill>
                <a:latin typeface="Space Grotesk"/>
              </a:rPr>
              <a:t>Goal</a:t>
            </a:r>
            <a:endParaRPr sz="2100" b="1" i="0" u="none" dirty="0">
              <a:solidFill>
                <a:srgbClr val="F8FAFC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7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0C797E-ABF7-4B73-A5D1-683B34A80774}"/>
              </a:ext>
            </a:extLst>
          </p:cNvPr>
          <p:cNvSpPr txBox="1"/>
          <p:nvPr/>
        </p:nvSpPr>
        <p:spPr>
          <a:xfrm>
            <a:off x="685801" y="899329"/>
            <a:ext cx="1143142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Space Grotesk"/>
              </a:rPr>
              <a:t>Core Forensic </a:t>
            </a:r>
            <a:r>
              <a:rPr sz="3300" b="1" i="0" u="none" dirty="0">
                <a:solidFill>
                  <a:srgbClr val="06B6D4"/>
                </a:solidFill>
                <a:latin typeface="Space Grotesk"/>
              </a:rPr>
              <a:t>Capabilities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B9752-C704-4D73-BFE7-004E01080CA0}"/>
              </a:ext>
            </a:extLst>
          </p:cNvPr>
          <p:cNvSpPr/>
          <p:nvPr/>
        </p:nvSpPr>
        <p:spPr>
          <a:xfrm>
            <a:off x="536054" y="899329"/>
            <a:ext cx="57150" cy="533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91A78F8A-D1ED-480D-A0B8-BB0B366A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4" y="1920071"/>
            <a:ext cx="3486150" cy="4038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D6CA00-749E-4484-A634-D57DE2FEFADC}"/>
              </a:ext>
            </a:extLst>
          </p:cNvPr>
          <p:cNvSpPr txBox="1"/>
          <p:nvPr/>
        </p:nvSpPr>
        <p:spPr>
          <a:xfrm>
            <a:off x="831327" y="3429000"/>
            <a:ext cx="289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Investigating Business Email Compromise (BEC), insider threats, money laundering, intellectual property theft, and sophisticated corporate espionage.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E5B71-F842-40C3-9EBE-4D3EFCBC6D2E}"/>
              </a:ext>
            </a:extLst>
          </p:cNvPr>
          <p:cNvSpPr txBox="1"/>
          <p:nvPr/>
        </p:nvSpPr>
        <p:spPr>
          <a:xfrm>
            <a:off x="1339010" y="3057525"/>
            <a:ext cx="188023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Cyber &amp; Fraud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6170D050-1A03-42FD-B3BB-A4CC7252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50" y="2305050"/>
            <a:ext cx="571500" cy="4572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C423A096-243D-4654-81FB-729FC8B03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648" y="1914405"/>
            <a:ext cx="3486150" cy="40386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0B612CA4-2AE3-45D8-88C2-B9F12F65B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796" y="1914405"/>
            <a:ext cx="3486150" cy="40386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F3CCB9C3-BC9C-476F-BD73-109C13B19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2305050"/>
            <a:ext cx="342900" cy="4572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CCA36B9-0161-4F2B-9B86-144DFBE54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300" y="2305050"/>
            <a:ext cx="457200" cy="457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B16056-7798-4B41-98F4-9FE6DF73FB5A}"/>
              </a:ext>
            </a:extLst>
          </p:cNvPr>
          <p:cNvSpPr txBox="1"/>
          <p:nvPr/>
        </p:nvSpPr>
        <p:spPr>
          <a:xfrm>
            <a:off x="4648200" y="3543300"/>
            <a:ext cx="28956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Specialized extraction of crucial evidence from mobile devices, cloud storage, encrypted messaging apps, and recovery of digital assets.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3A0765-5979-415D-A5E1-B5036EAA4C70}"/>
              </a:ext>
            </a:extLst>
          </p:cNvPr>
          <p:cNvSpPr txBox="1"/>
          <p:nvPr/>
        </p:nvSpPr>
        <p:spPr>
          <a:xfrm>
            <a:off x="5105876" y="3057525"/>
            <a:ext cx="198024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Mobile &amp; Cloud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126A2-E122-4035-A826-62CE175E9C5E}"/>
              </a:ext>
            </a:extLst>
          </p:cNvPr>
          <p:cNvSpPr txBox="1"/>
          <p:nvPr/>
        </p:nvSpPr>
        <p:spPr>
          <a:xfrm>
            <a:off x="8727757" y="3057525"/>
            <a:ext cx="228028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Crypto Forensics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DD3CA-DBD8-4A99-8974-F289C34E11DF}"/>
              </a:ext>
            </a:extLst>
          </p:cNvPr>
          <p:cNvSpPr txBox="1"/>
          <p:nvPr/>
        </p:nvSpPr>
        <p:spPr>
          <a:xfrm>
            <a:off x="8420099" y="3543300"/>
            <a:ext cx="289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Tracing and proving crypto-related crime, analyzing blockchain transactions, investigating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DeFi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exploits, and recovering stolen digital assets.</a:t>
            </a:r>
          </a:p>
        </p:txBody>
      </p:sp>
    </p:spTree>
    <p:extLst>
      <p:ext uri="{BB962C8B-B14F-4D97-AF65-F5344CB8AC3E}">
        <p14:creationId xmlns:p14="http://schemas.microsoft.com/office/powerpoint/2010/main" val="266753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2E2453-965B-4AA4-B48A-56461305D169}"/>
              </a:ext>
            </a:extLst>
          </p:cNvPr>
          <p:cNvSpPr txBox="1"/>
          <p:nvPr/>
        </p:nvSpPr>
        <p:spPr>
          <a:xfrm>
            <a:off x="723900" y="581025"/>
            <a:ext cx="1143142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Space Grotesk"/>
              </a:rPr>
              <a:t>Advanced </a:t>
            </a:r>
            <a:r>
              <a:rPr sz="3300" b="1" i="0" u="none" dirty="0">
                <a:solidFill>
                  <a:srgbClr val="06B6D4"/>
                </a:solidFill>
                <a:latin typeface="Space Grotesk"/>
              </a:rPr>
              <a:t>Investigation Domains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35950-10D6-48A2-9196-DC49B8B8CA9B}"/>
              </a:ext>
            </a:extLst>
          </p:cNvPr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81D2FE7A-2624-4B12-8F11-9CE909FD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195512"/>
            <a:ext cx="5276850" cy="338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1BAEB8-7B40-47F2-8430-BD69DC6CFCBD}"/>
              </a:ext>
            </a:extLst>
          </p:cNvPr>
          <p:cNvSpPr txBox="1"/>
          <p:nvPr/>
        </p:nvSpPr>
        <p:spPr>
          <a:xfrm>
            <a:off x="859154" y="2586037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6B6D4"/>
                </a:solidFill>
                <a:latin typeface="Space Grotesk"/>
              </a:rPr>
              <a:t>Multimedia &amp; Dark Web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51067-A9F9-425A-8F72-D7F63A37DBBB}"/>
              </a:ext>
            </a:extLst>
          </p:cNvPr>
          <p:cNvSpPr txBox="1"/>
          <p:nvPr/>
        </p:nvSpPr>
        <p:spPr>
          <a:xfrm>
            <a:off x="971550" y="30718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Beyond traditional devices, we provide rigorous authentication and analysis of audio, video, and photographs.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4A90C-C141-488A-9574-AE04BE600489}"/>
              </a:ext>
            </a:extLst>
          </p:cNvPr>
          <p:cNvSpPr txBox="1"/>
          <p:nvPr/>
        </p:nvSpPr>
        <p:spPr>
          <a:xfrm>
            <a:off x="971550" y="4129087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Our threat intelligence actively tracks malicious actors, data breaches, and illegal activity across hidden networks and the Dark Web.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041A8B4-76F4-4989-8992-581C441C2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95512"/>
            <a:ext cx="5276850" cy="33813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A15BF-63B8-4FFD-9258-AA9C53E1E602}"/>
              </a:ext>
            </a:extLst>
          </p:cNvPr>
          <p:cNvSpPr txBox="1"/>
          <p:nvPr/>
        </p:nvSpPr>
        <p:spPr>
          <a:xfrm>
            <a:off x="6612255" y="2586037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6B6D4"/>
                </a:solidFill>
                <a:latin typeface="Space Grotesk"/>
              </a:rPr>
              <a:t>Emerging Technologies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D0581-F9DC-407B-A3D0-3BE7E0C5D0D4}"/>
              </a:ext>
            </a:extLst>
          </p:cNvPr>
          <p:cNvSpPr txBox="1"/>
          <p:nvPr/>
        </p:nvSpPr>
        <p:spPr>
          <a:xfrm>
            <a:off x="6724650" y="30718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The digital landscape is rapidly evolving. We examine digital footprints left by cutting-edge automated systems.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01ACC6-94D0-4291-A258-278455C6EF0A}"/>
              </a:ext>
            </a:extLst>
          </p:cNvPr>
          <p:cNvSpPr txBox="1"/>
          <p:nvPr/>
        </p:nvSpPr>
        <p:spPr>
          <a:xfrm>
            <a:off x="6724650" y="4129087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This includes forensics on AI Agents, Internet of Things (IoT) devices, commercial drones, and satellite communications data.</a:t>
            </a:r>
          </a:p>
        </p:txBody>
      </p:sp>
    </p:spTree>
    <p:extLst>
      <p:ext uri="{BB962C8B-B14F-4D97-AF65-F5344CB8AC3E}">
        <p14:creationId xmlns:p14="http://schemas.microsoft.com/office/powerpoint/2010/main" val="108570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8FEE8-255C-4EAF-A098-62E599FBC5F8}"/>
              </a:ext>
            </a:extLst>
          </p:cNvPr>
          <p:cNvSpPr txBox="1"/>
          <p:nvPr/>
        </p:nvSpPr>
        <p:spPr>
          <a:xfrm>
            <a:off x="723900" y="514350"/>
            <a:ext cx="1143142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Space Grotesk"/>
              </a:rPr>
              <a:t>Uncompromising </a:t>
            </a:r>
            <a:r>
              <a:rPr sz="3300" b="1" i="0" u="none" dirty="0">
                <a:solidFill>
                  <a:srgbClr val="06B6D4"/>
                </a:solidFill>
                <a:latin typeface="Space Grotesk"/>
              </a:rPr>
              <a:t>Legal Standards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D119B4-2183-46AA-AB1D-043202599214}"/>
              </a:ext>
            </a:extLst>
          </p:cNvPr>
          <p:cNvSpPr/>
          <p:nvPr/>
        </p:nvSpPr>
        <p:spPr>
          <a:xfrm>
            <a:off x="581025" y="514350"/>
            <a:ext cx="57150" cy="533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F20F7-9A0F-4E07-8F1E-E748DA9FBAA5}"/>
              </a:ext>
            </a:extLst>
          </p:cNvPr>
          <p:cNvSpPr txBox="1"/>
          <p:nvPr/>
        </p:nvSpPr>
        <p:spPr>
          <a:xfrm>
            <a:off x="914400" y="14287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ISO/IEC 27037 Compliant: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Strict adherence to global standards for identifying, collecting, and preserving digital evidence.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5326CD88-455D-4D85-87EC-79A280837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47800"/>
            <a:ext cx="95250" cy="1524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F8526F60-6453-4E8A-940F-596FC97C9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600325"/>
            <a:ext cx="95250" cy="15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D1825C-D6D4-409C-BFCF-D488CD00F649}"/>
              </a:ext>
            </a:extLst>
          </p:cNvPr>
          <p:cNvSpPr txBox="1"/>
          <p:nvPr/>
        </p:nvSpPr>
        <p:spPr>
          <a:xfrm>
            <a:off x="914400" y="25812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Court-Ready Integrity: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Guaranteeing the absolute authenticity and legal admissibility of extracted data in court.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CCE269A9-96FF-4CFE-BA48-643ECC21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752850"/>
            <a:ext cx="95250" cy="152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73ECC4-7493-4775-BC14-B0A64A32B129}"/>
              </a:ext>
            </a:extLst>
          </p:cNvPr>
          <p:cNvSpPr txBox="1"/>
          <p:nvPr/>
        </p:nvSpPr>
        <p:spPr>
          <a:xfrm>
            <a:off x="914400" y="373380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Anton </a:t>
            </a:r>
            <a:r>
              <a:rPr sz="1500" b="1" i="0" u="none" dirty="0" err="1">
                <a:solidFill>
                  <a:srgbClr val="94A3B8"/>
                </a:solidFill>
                <a:latin typeface="Inter"/>
              </a:rPr>
              <a:t>Piller</a:t>
            </a:r>
            <a:r>
              <a:rPr sz="1500" b="1" i="0" u="none" dirty="0">
                <a:solidFill>
                  <a:srgbClr val="94A3B8"/>
                </a:solidFill>
                <a:latin typeface="Inter"/>
              </a:rPr>
              <a:t> Orders: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Extensive experience in court-sanctioned, immediate seizure of digital evidence without prior warning.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F7E2661-8E19-4376-BB1D-90B3BA226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905375"/>
            <a:ext cx="95250" cy="152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374C14-0AA4-4057-B208-FDE68BAC018B}"/>
              </a:ext>
            </a:extLst>
          </p:cNvPr>
          <p:cNvSpPr txBox="1"/>
          <p:nvPr/>
        </p:nvSpPr>
        <p:spPr>
          <a:xfrm>
            <a:off x="914400" y="4886325"/>
            <a:ext cx="49434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Expert Witness Services: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Independent forensic advisory and expert rebuttal services designed to support legal teams and challenge opposing evidence.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2E74B414-9AFF-4827-ABDC-F0B4D320B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38275"/>
            <a:ext cx="52578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A496-674B-43CB-9B5F-CA00D976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57828"/>
          </a:xfrm>
        </p:spPr>
        <p:txBody>
          <a:bodyPr>
            <a:normAutofit fontScale="90000"/>
          </a:bodyPr>
          <a:lstStyle/>
          <a:p>
            <a:r>
              <a:rPr lang="en-MY" dirty="0"/>
              <a:t>Organization chart of </a:t>
            </a:r>
            <a:r>
              <a:rPr lang="en-MY" dirty="0" err="1"/>
              <a:t>of</a:t>
            </a:r>
            <a:r>
              <a:rPr lang="en-MY" dirty="0"/>
              <a:t> it forensic (m) </a:t>
            </a:r>
            <a:r>
              <a:rPr lang="en-MY" dirty="0" err="1"/>
              <a:t>sdn</a:t>
            </a:r>
            <a:r>
              <a:rPr lang="en-MY" dirty="0"/>
              <a:t> </a:t>
            </a:r>
            <a:r>
              <a:rPr lang="en-MY" dirty="0" err="1"/>
              <a:t>bhd</a:t>
            </a:r>
            <a:endParaRPr lang="en-MY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C4ACBC-1C62-4800-9CA1-38EA2558C1FB}"/>
              </a:ext>
            </a:extLst>
          </p:cNvPr>
          <p:cNvSpPr/>
          <p:nvPr/>
        </p:nvSpPr>
        <p:spPr>
          <a:xfrm>
            <a:off x="1898247" y="2844479"/>
            <a:ext cx="2997843" cy="10185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bg1"/>
                </a:solidFill>
              </a:rPr>
              <a:t>Senior Digital Forensic Investigator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8B2D30-E697-4228-A79D-B2E32D58FE9E}"/>
              </a:ext>
            </a:extLst>
          </p:cNvPr>
          <p:cNvSpPr/>
          <p:nvPr/>
        </p:nvSpPr>
        <p:spPr>
          <a:xfrm>
            <a:off x="6498081" y="3727049"/>
            <a:ext cx="3293000" cy="10185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bg1"/>
                </a:solidFill>
              </a:rPr>
              <a:t>UTHAYAKUMAAR S/O KRISHNAN</a:t>
            </a:r>
          </a:p>
          <a:p>
            <a:pPr algn="ctr"/>
            <a:r>
              <a:rPr lang="en-MY" dirty="0">
                <a:solidFill>
                  <a:schemeClr val="bg1"/>
                </a:solidFill>
              </a:rPr>
              <a:t>(Junior Digital Forensic Analyst)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52961E-AA33-413F-9C08-015BC99408D6}"/>
              </a:ext>
            </a:extLst>
          </p:cNvPr>
          <p:cNvSpPr/>
          <p:nvPr/>
        </p:nvSpPr>
        <p:spPr>
          <a:xfrm>
            <a:off x="6498081" y="2112380"/>
            <a:ext cx="2997843" cy="10185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bg1"/>
                </a:solidFill>
              </a:rPr>
              <a:t>Ahmad </a:t>
            </a:r>
            <a:r>
              <a:rPr lang="en-MY" dirty="0" err="1">
                <a:solidFill>
                  <a:schemeClr val="bg1"/>
                </a:solidFill>
              </a:rPr>
              <a:t>Luqman</a:t>
            </a:r>
            <a:r>
              <a:rPr lang="en-MY" dirty="0">
                <a:solidFill>
                  <a:schemeClr val="bg1"/>
                </a:solidFill>
              </a:rPr>
              <a:t> Hanafi </a:t>
            </a:r>
          </a:p>
          <a:p>
            <a:pPr algn="ctr"/>
            <a:r>
              <a:rPr lang="en-MY" dirty="0">
                <a:solidFill>
                  <a:schemeClr val="bg1"/>
                </a:solidFill>
              </a:rPr>
              <a:t>(Digital Forensic Analyst)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3BDC8D-B7AC-4866-A207-D5086B7FAD67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4896090" y="2621666"/>
            <a:ext cx="1601991" cy="7320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4F279B2-3CB4-4AC2-A06E-CDCCD888F12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896090" y="3353765"/>
            <a:ext cx="1601991" cy="8825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5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237-5032-436E-B51B-FB74F7C6E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03" y="369385"/>
            <a:ext cx="10721050" cy="1456267"/>
          </a:xfrm>
        </p:spPr>
        <p:txBody>
          <a:bodyPr/>
          <a:lstStyle/>
          <a:p>
            <a:r>
              <a:rPr lang="en-MY" dirty="0"/>
              <a:t>tasks and accountabilities of the roles in Digital Forensics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F582F83-41C2-4B4D-9413-D70D3188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4" y="1920071"/>
            <a:ext cx="3486150" cy="403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0B6159-0BFF-4421-BCEE-02FD2769A5D5}"/>
              </a:ext>
            </a:extLst>
          </p:cNvPr>
          <p:cNvSpPr txBox="1"/>
          <p:nvPr/>
        </p:nvSpPr>
        <p:spPr>
          <a:xfrm>
            <a:off x="685801" y="3052047"/>
            <a:ext cx="3266953" cy="2708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US" sz="1100" b="1" dirty="0"/>
              <a:t>Operational Command:</a:t>
            </a:r>
            <a:r>
              <a:rPr lang="en-US" sz="1100" dirty="0"/>
              <a:t> Oversee the entirety of digital forensic operations, delegate tasks, and supervise the forensic unit.</a:t>
            </a:r>
          </a:p>
          <a:p>
            <a:pPr marL="228600" indent="-228600">
              <a:buAutoNum type="arabicPeriod"/>
            </a:pPr>
            <a:r>
              <a:rPr lang="en-US" sz="1100" b="1" dirty="0"/>
              <a:t>Quality Assurance:</a:t>
            </a:r>
            <a:r>
              <a:rPr lang="en-US" sz="1100" dirty="0"/>
              <a:t> Serve as the final review and approval authority for all forensic reports and findings to guarantee absolute quality and legal integrity.</a:t>
            </a:r>
          </a:p>
          <a:p>
            <a:pPr marL="228600" indent="-228600">
              <a:buAutoNum type="arabicPeriod"/>
            </a:pPr>
            <a:r>
              <a:rPr lang="en-US" sz="1100" b="1" dirty="0"/>
              <a:t>Strategic Direction:</a:t>
            </a:r>
            <a:r>
              <a:rPr lang="en-US" sz="1100" dirty="0"/>
              <a:t> Drive the overarching investigative strategy and make executive technical calls.</a:t>
            </a:r>
            <a:endParaRPr lang="en-US" sz="1100" dirty="0">
              <a:solidFill>
                <a:srgbClr val="94A3B8"/>
              </a:solidFill>
              <a:latin typeface="Inter"/>
            </a:endParaRPr>
          </a:p>
          <a:p>
            <a:pPr marL="228600" indent="-228600">
              <a:buAutoNum type="arabicPeriod"/>
            </a:pPr>
            <a:r>
              <a:rPr lang="en-US" sz="1100" b="1" dirty="0"/>
              <a:t>Mentorship:</a:t>
            </a:r>
            <a:r>
              <a:rPr lang="en-US" sz="1100" dirty="0"/>
              <a:t> Act as a dedicated mentor to both analysts and junior analysts to elevate the team's overall capabilities.</a:t>
            </a:r>
            <a:endParaRPr lang="en-US" sz="1100" dirty="0">
              <a:solidFill>
                <a:srgbClr val="94A3B8"/>
              </a:solidFill>
              <a:latin typeface="Inter"/>
            </a:endParaRPr>
          </a:p>
          <a:p>
            <a:pPr marL="228600" indent="-228600">
              <a:buAutoNum type="arabicPeriod"/>
            </a:pPr>
            <a:r>
              <a:rPr lang="en-US" sz="1100" b="1" dirty="0"/>
              <a:t>Liaison Duties:</a:t>
            </a:r>
            <a:r>
              <a:rPr lang="en-US" sz="1100" dirty="0"/>
              <a:t> Act as the primary point of contact coordinating with clients, legal counsel, and external stakeholders.</a:t>
            </a:r>
            <a:endParaRPr lang="en-US" sz="11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10EC7-3782-477B-9BB5-33A56C4B2413}"/>
              </a:ext>
            </a:extLst>
          </p:cNvPr>
          <p:cNvSpPr txBox="1"/>
          <p:nvPr/>
        </p:nvSpPr>
        <p:spPr>
          <a:xfrm>
            <a:off x="831327" y="2192139"/>
            <a:ext cx="28956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F8FAFC"/>
                </a:solidFill>
                <a:latin typeface="Space Grotesk"/>
              </a:rPr>
              <a:t>Senior Digital forensic Investigator</a:t>
            </a:r>
            <a:endParaRPr sz="2100" b="1" i="0" u="none" dirty="0">
              <a:solidFill>
                <a:srgbClr val="F8FAFC"/>
              </a:solidFill>
              <a:latin typeface="Space Grotesk"/>
            </a:endParaRP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F9091E4-7F8E-42AD-A0CD-2FE228CFD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669" y="1920071"/>
            <a:ext cx="3486150" cy="40386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F330C7B-CF89-4E12-BBEB-02920D99D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523" y="1896708"/>
            <a:ext cx="3486150" cy="403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C4A11F-9F59-4B02-A52D-A9E91FC628A9}"/>
              </a:ext>
            </a:extLst>
          </p:cNvPr>
          <p:cNvSpPr txBox="1"/>
          <p:nvPr/>
        </p:nvSpPr>
        <p:spPr>
          <a:xfrm>
            <a:off x="4606767" y="2192139"/>
            <a:ext cx="268319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F8FAFC"/>
                </a:solidFill>
                <a:latin typeface="Space Grotesk"/>
              </a:rPr>
              <a:t>Digital Forensic Analyst</a:t>
            </a:r>
            <a:endParaRPr sz="21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3AD9BC-47BD-43E6-8DB8-608D5345DB33}"/>
              </a:ext>
            </a:extLst>
          </p:cNvPr>
          <p:cNvSpPr txBox="1"/>
          <p:nvPr/>
        </p:nvSpPr>
        <p:spPr>
          <a:xfrm>
            <a:off x="8364008" y="2192140"/>
            <a:ext cx="25071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F8FAFC"/>
                </a:solidFill>
                <a:latin typeface="Space Grotesk"/>
              </a:rPr>
              <a:t>Junior Digital Forensic Analyst</a:t>
            </a:r>
            <a:endParaRPr sz="21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AEBD67-5928-43C1-9478-E99DFF3EAAAC}"/>
              </a:ext>
            </a:extLst>
          </p:cNvPr>
          <p:cNvSpPr txBox="1"/>
          <p:nvPr/>
        </p:nvSpPr>
        <p:spPr>
          <a:xfrm>
            <a:off x="4371239" y="3052047"/>
            <a:ext cx="3320138" cy="236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100" b="1" dirty="0"/>
              <a:t>Active Investigation:</a:t>
            </a:r>
            <a:r>
              <a:rPr lang="en-US" sz="1100" dirty="0"/>
              <a:t> Execute direct forensic examinations and drive end-to-end case investigations.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Evidence Processing:</a:t>
            </a:r>
            <a:r>
              <a:rPr lang="en-US" sz="1100" dirty="0"/>
              <a:t> Handle the full lifecycle of digital evidence identifying, acquiring, recovering, preserving, and analyzing critical artifacts.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Case Management:</a:t>
            </a:r>
            <a:r>
              <a:rPr lang="en-US" sz="1100" dirty="0"/>
              <a:t> Take ownership of assigned cases, guaranteeing they hit completion deadlines.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Documentation:</a:t>
            </a:r>
            <a:r>
              <a:rPr lang="en-US" sz="1100" dirty="0"/>
              <a:t> Author comprehensive forensic reports and formal documentation.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Team &amp; Case Support:</a:t>
            </a:r>
            <a:r>
              <a:rPr lang="en-US" sz="1100" dirty="0"/>
              <a:t> Lend expertise to high-stakes, complex investigations, assist with compiling case presentations, and provide guidance to junior team members.</a:t>
            </a:r>
            <a:endParaRPr sz="11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54EDDC-A6CF-4EB4-94CB-0D78626C8B21}"/>
              </a:ext>
            </a:extLst>
          </p:cNvPr>
          <p:cNvSpPr txBox="1"/>
          <p:nvPr/>
        </p:nvSpPr>
        <p:spPr>
          <a:xfrm>
            <a:off x="8038921" y="3052048"/>
            <a:ext cx="3275332" cy="220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US" sz="1100" b="1" dirty="0"/>
              <a:t>Technical Support:</a:t>
            </a:r>
            <a:r>
              <a:rPr lang="en-US" sz="1100" dirty="0"/>
              <a:t> Provide foundational technical   backing for ongoing forensic investigations.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Evidence Handling:</a:t>
            </a:r>
            <a:r>
              <a:rPr lang="en-US" sz="1100" dirty="0"/>
              <a:t> Aid in the examination and analysis of digital evidence, while supporting its meticulous collection, preservation, and organization.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Operational Readiness:</a:t>
            </a:r>
            <a:r>
              <a:rPr lang="en-US" sz="1100" dirty="0"/>
              <a:t> Prepare and maintain necessary forensic hardware, software tools, and documentation.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Reporting Support:</a:t>
            </a:r>
            <a:r>
              <a:rPr lang="en-US" sz="1100" dirty="0"/>
              <a:t> Contribute to the drafting and preparation of formal forensic reports.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Continuous Development:</a:t>
            </a:r>
            <a:r>
              <a:rPr lang="en-US" sz="1100" dirty="0"/>
              <a:t> Actively absorb and implement standard digital forensic methodologies and operational procedures.</a:t>
            </a:r>
          </a:p>
        </p:txBody>
      </p:sp>
    </p:spTree>
    <p:extLst>
      <p:ext uri="{BB962C8B-B14F-4D97-AF65-F5344CB8AC3E}">
        <p14:creationId xmlns:p14="http://schemas.microsoft.com/office/powerpoint/2010/main" val="291871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955B-92F7-49AA-8D4E-A6D298EB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3E21-8BEE-4FDA-8476-2E1017B9A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5188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8BBD-4F61-4946-BF29-DE8D6B8E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9E9D6-2382-483B-BAD7-3241733B1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9446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5658-AD70-4374-B218-425073E4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191A3-4ECD-47B0-8EEA-882A65CE2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973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2E2-CBD9-4FA3-8A3B-4C726334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647CE-2C69-4A42-909E-FA4F9D601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96548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8D8B-FDD3-4597-B3C4-7D60EDE0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9AA6-45BF-446C-8EE7-2857708E8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108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7436-C493-408B-92A4-CC2925CB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906FA-3479-43B2-B60D-6A190BEC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6090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C881-4D45-49CE-86FD-D67601E9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8070-3DC4-4FB6-9CF7-CBF6F25BE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8557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E537-4EC3-4849-97DA-26119443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2CE6-D69A-411F-A126-48F8EAFF3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6705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194</TotalTime>
  <Words>801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Inter</vt:lpstr>
      <vt:lpstr>Inter SemiBold</vt:lpstr>
      <vt:lpstr>Space Grotesk</vt:lpstr>
      <vt:lpstr>Celestial</vt:lpstr>
      <vt:lpstr>INTERNSHIP PRESENTATION</vt:lpstr>
      <vt:lpstr>COMPANY BACKGROUND OG IT FORENSIC SERVICES (M) SDN.BHD</vt:lpstr>
      <vt:lpstr>Mission and vision of og it forensic services</vt:lpstr>
      <vt:lpstr>PowerPoint Presentation</vt:lpstr>
      <vt:lpstr>PowerPoint Presentation</vt:lpstr>
      <vt:lpstr>PowerPoint Presentation</vt:lpstr>
      <vt:lpstr>Organization chart of of it forensic (m) sdn bhd</vt:lpstr>
      <vt:lpstr>tasks and accountabilities of the roles in Digital Forensics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Xenon Plays</dc:creator>
  <cp:lastModifiedBy>Xenon Plays</cp:lastModifiedBy>
  <cp:revision>11</cp:revision>
  <dcterms:created xsi:type="dcterms:W3CDTF">2026-08-05T21:51:15Z</dcterms:created>
  <dcterms:modified xsi:type="dcterms:W3CDTF">2026-08-06T23:09:57Z</dcterms:modified>
</cp:coreProperties>
</file>