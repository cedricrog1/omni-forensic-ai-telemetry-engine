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8" r:id="rId1"/>
  </p:sldMasterIdLst>
  <p:sldIdLst>
    <p:sldId id="256" r:id="rId2"/>
    <p:sldId id="257" r:id="rId3"/>
    <p:sldId id="271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6B6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/>
  </p:normalViewPr>
  <p:slideViewPr>
    <p:cSldViewPr snapToGrid="0">
      <p:cViewPr>
        <p:scale>
          <a:sx n="150" d="100"/>
          <a:sy n="150" d="100"/>
        </p:scale>
        <p:origin x="2946" y="4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71E8804D-122A-4F2B-AE7A-EA61BD8E030B}" type="datetimeFigureOut">
              <a:rPr lang="en-MY" smtClean="0"/>
              <a:t>9/8/2026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71A2B656-60DB-4944-B144-991B81F3A856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1558820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8804D-122A-4F2B-AE7A-EA61BD8E030B}" type="datetimeFigureOut">
              <a:rPr lang="en-MY" smtClean="0"/>
              <a:t>9/8/2026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2B656-60DB-4944-B144-991B81F3A856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1711282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8804D-122A-4F2B-AE7A-EA61BD8E030B}" type="datetimeFigureOut">
              <a:rPr lang="en-MY" smtClean="0"/>
              <a:t>9/8/2026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2B656-60DB-4944-B144-991B81F3A856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9467936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8804D-122A-4F2B-AE7A-EA61BD8E030B}" type="datetimeFigureOut">
              <a:rPr lang="en-MY" smtClean="0"/>
              <a:t>9/8/2026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2B656-60DB-4944-B144-991B81F3A856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1089427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8804D-122A-4F2B-AE7A-EA61BD8E030B}" type="datetimeFigureOut">
              <a:rPr lang="en-MY" smtClean="0"/>
              <a:t>9/8/2026</a:t>
            </a:fld>
            <a:endParaRPr lang="en-MY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2B656-60DB-4944-B144-991B81F3A856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3189036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8804D-122A-4F2B-AE7A-EA61BD8E030B}" type="datetimeFigureOut">
              <a:rPr lang="en-MY" smtClean="0"/>
              <a:t>9/8/2026</a:t>
            </a:fld>
            <a:endParaRPr lang="en-MY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2B656-60DB-4944-B144-991B81F3A856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7956506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8804D-122A-4F2B-AE7A-EA61BD8E030B}" type="datetimeFigureOut">
              <a:rPr lang="en-MY" smtClean="0"/>
              <a:t>9/8/2026</a:t>
            </a:fld>
            <a:endParaRPr lang="en-MY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2B656-60DB-4944-B144-991B81F3A856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435174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8804D-122A-4F2B-AE7A-EA61BD8E030B}" type="datetimeFigureOut">
              <a:rPr lang="en-MY" smtClean="0"/>
              <a:t>9/8/2026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2B656-60DB-4944-B144-991B81F3A856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620266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8804D-122A-4F2B-AE7A-EA61BD8E030B}" type="datetimeFigureOut">
              <a:rPr lang="en-MY" smtClean="0"/>
              <a:t>9/8/2026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2B656-60DB-4944-B144-991B81F3A856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9981948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8804D-122A-4F2B-AE7A-EA61BD8E030B}" type="datetimeFigureOut">
              <a:rPr lang="en-MY" smtClean="0"/>
              <a:t>9/8/2026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2B656-60DB-4944-B144-991B81F3A856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9423871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8804D-122A-4F2B-AE7A-EA61BD8E030B}" type="datetimeFigureOut">
              <a:rPr lang="en-MY" smtClean="0"/>
              <a:t>9/8/2026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2B656-60DB-4944-B144-991B81F3A856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9087642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8804D-122A-4F2B-AE7A-EA61BD8E030B}" type="datetimeFigureOut">
              <a:rPr lang="en-MY" smtClean="0"/>
              <a:t>9/8/2026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2B656-60DB-4944-B144-991B81F3A856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5707212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8804D-122A-4F2B-AE7A-EA61BD8E030B}" type="datetimeFigureOut">
              <a:rPr lang="en-MY" smtClean="0"/>
              <a:t>9/8/2026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2B656-60DB-4944-B144-991B81F3A856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04479438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8804D-122A-4F2B-AE7A-EA61BD8E030B}" type="datetimeFigureOut">
              <a:rPr lang="en-MY" smtClean="0"/>
              <a:t>9/8/2026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2B656-60DB-4944-B144-991B81F3A856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95199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8804D-122A-4F2B-AE7A-EA61BD8E030B}" type="datetimeFigureOut">
              <a:rPr lang="en-MY" smtClean="0"/>
              <a:t>9/8/2026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2B656-60DB-4944-B144-991B81F3A856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4565053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8804D-122A-4F2B-AE7A-EA61BD8E030B}" type="datetimeFigureOut">
              <a:rPr lang="en-MY" smtClean="0"/>
              <a:t>9/8/2026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2B656-60DB-4944-B144-991B81F3A856}" type="slidenum">
              <a:rPr lang="en-MY" smtClean="0"/>
              <a:t>‹#›</a:t>
            </a:fld>
            <a:endParaRPr lang="en-MY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71835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8804D-122A-4F2B-AE7A-EA61BD8E030B}" type="datetimeFigureOut">
              <a:rPr lang="en-MY" smtClean="0"/>
              <a:t>9/8/2026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2B656-60DB-4944-B144-991B81F3A856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057435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71E8804D-122A-4F2B-AE7A-EA61BD8E030B}" type="datetimeFigureOut">
              <a:rPr lang="en-MY" smtClean="0"/>
              <a:t>9/8/2026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71A2B656-60DB-4944-B144-991B81F3A856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25118053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99" r:id="rId1"/>
    <p:sldLayoutId id="2147483800" r:id="rId2"/>
    <p:sldLayoutId id="2147483801" r:id="rId3"/>
    <p:sldLayoutId id="2147483802" r:id="rId4"/>
    <p:sldLayoutId id="2147483803" r:id="rId5"/>
    <p:sldLayoutId id="2147483804" r:id="rId6"/>
    <p:sldLayoutId id="2147483805" r:id="rId7"/>
    <p:sldLayoutId id="2147483806" r:id="rId8"/>
    <p:sldLayoutId id="2147483807" r:id="rId9"/>
    <p:sldLayoutId id="2147483808" r:id="rId10"/>
    <p:sldLayoutId id="2147483809" r:id="rId11"/>
    <p:sldLayoutId id="2147483810" r:id="rId12"/>
    <p:sldLayoutId id="2147483811" r:id="rId13"/>
    <p:sldLayoutId id="2147483812" r:id="rId14"/>
    <p:sldLayoutId id="2147483813" r:id="rId15"/>
    <p:sldLayoutId id="2147483814" r:id="rId16"/>
    <p:sldLayoutId id="214748381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73EE3F-9894-45AD-8F06-4763A75407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62399" y="3518703"/>
            <a:ext cx="7197726" cy="867027"/>
          </a:xfrm>
          <a:noFill/>
          <a:ln>
            <a:solidFill>
              <a:srgbClr val="06B6D4"/>
            </a:solidFill>
          </a:ln>
        </p:spPr>
        <p:txBody>
          <a:bodyPr>
            <a:normAutofit/>
          </a:bodyPr>
          <a:lstStyle/>
          <a:p>
            <a:r>
              <a:rPr lang="en-MY" dirty="0"/>
              <a:t>INTERNSHIP </a:t>
            </a:r>
            <a:r>
              <a:rPr lang="en-MY" dirty="0">
                <a:solidFill>
                  <a:srgbClr val="06B6D4"/>
                </a:solidFill>
              </a:rPr>
              <a:t>Presentation</a:t>
            </a:r>
            <a:endParaRPr lang="en-MY" dirty="0">
              <a:ln w="3175" cmpd="sng">
                <a:solidFill>
                  <a:srgbClr val="FF0000"/>
                </a:solidFill>
              </a:ln>
              <a:solidFill>
                <a:srgbClr val="06B6D4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A12427-CCCE-498A-9B88-D78AA5E952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05781" y="4385732"/>
            <a:ext cx="6854343" cy="1405467"/>
          </a:xfrm>
        </p:spPr>
        <p:txBody>
          <a:bodyPr>
            <a:normAutofit/>
          </a:bodyPr>
          <a:lstStyle/>
          <a:p>
            <a:pPr algn="l"/>
            <a:r>
              <a:rPr lang="en-MY" dirty="0"/>
              <a:t>NAME: uthayakumaar s/O KRISHNAN</a:t>
            </a:r>
          </a:p>
          <a:p>
            <a:pPr algn="l"/>
            <a:r>
              <a:rPr lang="en-MY" dirty="0"/>
              <a:t>BATCH FEBRUARY 2026</a:t>
            </a:r>
          </a:p>
          <a:p>
            <a:pPr algn="l"/>
            <a:r>
              <a:rPr lang="en-MY" dirty="0"/>
              <a:t>STUDENT ID: 012024971304</a:t>
            </a:r>
          </a:p>
        </p:txBody>
      </p:sp>
    </p:spTree>
    <p:extLst>
      <p:ext uri="{BB962C8B-B14F-4D97-AF65-F5344CB8AC3E}">
        <p14:creationId xmlns:p14="http://schemas.microsoft.com/office/powerpoint/2010/main" val="36774049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15C546D-B51B-4A5E-9C54-C87C077B27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COMPANY BACKGROUND</a:t>
            </a:r>
            <a:br>
              <a:rPr lang="en-MY" dirty="0"/>
            </a:br>
            <a:r>
              <a:rPr lang="en-MY" dirty="0">
                <a:solidFill>
                  <a:srgbClr val="06B6D4"/>
                </a:solidFill>
              </a:rPr>
              <a:t>OG IT FORENSIC SERVICES (M) SDN.BHD</a:t>
            </a:r>
          </a:p>
        </p:txBody>
      </p:sp>
      <p:pic>
        <p:nvPicPr>
          <p:cNvPr id="1028" name="Picture 4" descr="Forensic Accounting Services Kuala Lumpur (KL), Forensic Audit Firm Selangor, Litigation Support Services Malaysia, India ~ Alliance IFA (M) Sdn Bhd">
            <a:extLst>
              <a:ext uri="{FF2B5EF4-FFF2-40B4-BE49-F238E27FC236}">
                <a16:creationId xmlns:a16="http://schemas.microsoft.com/office/drawing/2014/main" id="{4DEA695D-542E-44A3-B44B-D12A2BB0770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1" y="2065867"/>
            <a:ext cx="3340254" cy="1531937"/>
          </a:xfrm>
          <a:prstGeom prst="rect">
            <a:avLst/>
          </a:prstGeom>
          <a:solidFill>
            <a:schemeClr val="bg2"/>
          </a:solidFill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AD1B484-B9CD-4025-ABC0-F83454499127}"/>
              </a:ext>
            </a:extLst>
          </p:cNvPr>
          <p:cNvSpPr txBox="1"/>
          <p:nvPr/>
        </p:nvSpPr>
        <p:spPr>
          <a:xfrm>
            <a:off x="685801" y="3714516"/>
            <a:ext cx="5540692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 dirty="0">
                <a:solidFill>
                  <a:srgbClr val="06B6D4"/>
                </a:solidFill>
                <a:latin typeface="Space Grotesk"/>
              </a:rPr>
              <a:t>Pioneers in Malaysia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8E36C7D-F8A8-499B-912E-7A2A51E1D742}"/>
              </a:ext>
            </a:extLst>
          </p:cNvPr>
          <p:cNvSpPr txBox="1"/>
          <p:nvPr/>
        </p:nvSpPr>
        <p:spPr>
          <a:xfrm>
            <a:off x="685801" y="4095636"/>
            <a:ext cx="4476508" cy="9727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2640"/>
              </a:lnSpc>
            </a:pPr>
            <a:r>
              <a:rPr sz="1650" b="0" i="0" u="none" dirty="0">
                <a:latin typeface="Inter"/>
              </a:rPr>
              <a:t>Founded in 2010, OG IT Forensic Services is Malaysia's very first private digital forensic investigation firm.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D1A8710-028C-45D5-AA0A-8567303E3B01}"/>
              </a:ext>
            </a:extLst>
          </p:cNvPr>
          <p:cNvSpPr txBox="1"/>
          <p:nvPr/>
        </p:nvSpPr>
        <p:spPr>
          <a:xfrm>
            <a:off x="685801" y="5068403"/>
            <a:ext cx="4476508" cy="100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2640"/>
              </a:lnSpc>
            </a:pPr>
            <a:r>
              <a:rPr sz="1650" b="0" i="0" u="none" dirty="0">
                <a:latin typeface="Inter"/>
              </a:rPr>
              <a:t>We specialize in bringing fraud, identity theft, and complex cybercrimes to justice through meticulous, court-ready digital evidence analysis and retrieval.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08AEBE6-37DD-4B79-A9A8-394731C0893F}"/>
              </a:ext>
            </a:extLst>
          </p:cNvPr>
          <p:cNvSpPr txBox="1"/>
          <p:nvPr/>
        </p:nvSpPr>
        <p:spPr>
          <a:xfrm>
            <a:off x="7628538" y="1953162"/>
            <a:ext cx="2669899" cy="146770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1250"/>
              </a:lnSpc>
            </a:pPr>
            <a:r>
              <a:rPr sz="11250" b="1" i="0" u="none" dirty="0">
                <a:solidFill>
                  <a:srgbClr val="06B6D4"/>
                </a:solidFill>
                <a:latin typeface="Space Grotesk"/>
              </a:rPr>
              <a:t>16+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3762BAC-6A2D-48E7-B8F9-308735B65DBD}"/>
              </a:ext>
            </a:extLst>
          </p:cNvPr>
          <p:cNvSpPr txBox="1"/>
          <p:nvPr/>
        </p:nvSpPr>
        <p:spPr>
          <a:xfrm>
            <a:off x="6518536" y="3772008"/>
            <a:ext cx="2532083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 dirty="0">
                <a:solidFill>
                  <a:srgbClr val="F8FAFC"/>
                </a:solidFill>
                <a:latin typeface="Space Grotesk"/>
              </a:rPr>
              <a:t>Established Expertise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F13640A-94F5-4017-A708-58C6773A9BC9}"/>
              </a:ext>
            </a:extLst>
          </p:cNvPr>
          <p:cNvSpPr txBox="1"/>
          <p:nvPr/>
        </p:nvSpPr>
        <p:spPr>
          <a:xfrm>
            <a:off x="6518536" y="4210930"/>
            <a:ext cx="5276850" cy="89716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 dirty="0">
                <a:latin typeface="Inter"/>
              </a:rPr>
              <a:t>Since 2010, the firm has reliably conducted court-ordered evidence seizures, corporate financial fraud investigations, and sophisticated cyber intrusion forensics.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326C5A2-CEF3-49D6-B6B8-26DACE8E9EC9}"/>
              </a:ext>
            </a:extLst>
          </p:cNvPr>
          <p:cNvSpPr txBox="1"/>
          <p:nvPr/>
        </p:nvSpPr>
        <p:spPr>
          <a:xfrm>
            <a:off x="7911336" y="3119746"/>
            <a:ext cx="2104301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0" i="0" u="none" dirty="0">
                <a:solidFill>
                  <a:srgbClr val="F8FAFC"/>
                </a:solidFill>
                <a:latin typeface="Inter SemiBold"/>
              </a:rPr>
              <a:t>Years in Practice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B5C7052-D05A-45E7-8C79-EACEDDE3CB3C}"/>
              </a:ext>
            </a:extLst>
          </p:cNvPr>
          <p:cNvSpPr txBox="1"/>
          <p:nvPr/>
        </p:nvSpPr>
        <p:spPr>
          <a:xfrm>
            <a:off x="6518536" y="5095396"/>
            <a:ext cx="527685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 dirty="0">
                <a:latin typeface="Inter"/>
              </a:rPr>
              <a:t>We have a recognized courtroom track record, successfully providing expert testimony in highly critical, sensitive legal disputes globally.</a:t>
            </a:r>
          </a:p>
        </p:txBody>
      </p:sp>
    </p:spTree>
    <p:extLst>
      <p:ext uri="{BB962C8B-B14F-4D97-AF65-F5344CB8AC3E}">
        <p14:creationId xmlns:p14="http://schemas.microsoft.com/office/powerpoint/2010/main" val="10628854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687483-8736-4F3D-83DB-706BDCBDE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Mission and vision of </a:t>
            </a:r>
            <a:r>
              <a:rPr lang="en-MY" dirty="0">
                <a:solidFill>
                  <a:srgbClr val="06B6D4"/>
                </a:solidFill>
              </a:rPr>
              <a:t>og it forensic services</a:t>
            </a:r>
          </a:p>
        </p:txBody>
      </p:sp>
      <p:pic>
        <p:nvPicPr>
          <p:cNvPr id="4" name="Picture 3" descr="image.png">
            <a:extLst>
              <a:ext uri="{FF2B5EF4-FFF2-40B4-BE49-F238E27FC236}">
                <a16:creationId xmlns:a16="http://schemas.microsoft.com/office/drawing/2014/main" id="{BC740BD9-3B07-4DEB-B8EB-577DD05EC3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3852" y="1992969"/>
            <a:ext cx="3486150" cy="40386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ED3DC2F-3420-42B2-B84D-75A536671BD0}"/>
              </a:ext>
            </a:extLst>
          </p:cNvPr>
          <p:cNvSpPr txBox="1"/>
          <p:nvPr/>
        </p:nvSpPr>
        <p:spPr>
          <a:xfrm>
            <a:off x="2100112" y="3607194"/>
            <a:ext cx="3253630" cy="16927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42900" indent="-342900">
              <a:buAutoNum type="arabicPeriod"/>
            </a:pPr>
            <a:r>
              <a:rPr lang="en-US" sz="1100" dirty="0"/>
              <a:t>To bring fraud, identity theft, and cybercrime to justice through the rigorous identification, collection, acquisition, and preservation of digital evidence.</a:t>
            </a:r>
          </a:p>
          <a:p>
            <a:pPr marL="342900" indent="-342900">
              <a:buAutoNum type="arabicPeriod"/>
            </a:pPr>
            <a:endParaRPr lang="en-US" sz="1100" dirty="0"/>
          </a:p>
          <a:p>
            <a:pPr marL="342900" indent="-342900">
              <a:buFontTx/>
              <a:buAutoNum type="arabicPeriod"/>
            </a:pPr>
            <a:r>
              <a:rPr lang="en-US" sz="1100" dirty="0"/>
              <a:t>To ensure absolute legal readiness by conducting every engagement with the strict purpose of producing admissible, court-ready digital evidence.</a:t>
            </a:r>
            <a:endParaRPr lang="en-US" sz="1100" i="0" u="none" dirty="0">
              <a:solidFill>
                <a:srgbClr val="94A3B8"/>
              </a:solidFill>
              <a:latin typeface="Inter"/>
            </a:endParaRPr>
          </a:p>
          <a:p>
            <a:endParaRPr lang="en-US" sz="1100" dirty="0"/>
          </a:p>
          <a:p>
            <a:endParaRPr lang="en-US" sz="1100" dirty="0"/>
          </a:p>
        </p:txBody>
      </p:sp>
      <p:pic>
        <p:nvPicPr>
          <p:cNvPr id="6" name="Picture 5" descr="image.png">
            <a:extLst>
              <a:ext uri="{FF2B5EF4-FFF2-40B4-BE49-F238E27FC236}">
                <a16:creationId xmlns:a16="http://schemas.microsoft.com/office/drawing/2014/main" id="{61A0A626-920F-42FD-B1D5-86261EC3F2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9537" y="1992969"/>
            <a:ext cx="3486150" cy="40386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D508239-8BEE-42D3-A3DB-C3E27AD763CE}"/>
              </a:ext>
            </a:extLst>
          </p:cNvPr>
          <p:cNvSpPr txBox="1"/>
          <p:nvPr/>
        </p:nvSpPr>
        <p:spPr>
          <a:xfrm>
            <a:off x="6447884" y="3607194"/>
            <a:ext cx="3229457" cy="15234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28600" indent="-228600">
              <a:buAutoNum type="arabicPeriod"/>
            </a:pPr>
            <a:r>
              <a:rPr lang="en-US" sz="1100" dirty="0"/>
              <a:t>To maintain the highest standard of evidence integrity by operating in full compliance with ISO/IEC 27037 standards for digital forensic investigations.</a:t>
            </a:r>
          </a:p>
          <a:p>
            <a:pPr marL="228600" indent="-228600">
              <a:buAutoNum type="arabicPeriod"/>
            </a:pPr>
            <a:endParaRPr lang="en-US" sz="1100" dirty="0"/>
          </a:p>
          <a:p>
            <a:pPr marL="228600" indent="-228600">
              <a:buFontTx/>
              <a:buAutoNum type="arabicPeriod"/>
            </a:pPr>
            <a:r>
              <a:rPr lang="en-US" sz="1100" dirty="0"/>
              <a:t>To serve as the most reliable digital forensic service provider, supporting litigation, incident response, and complex investigations across diverse global jurisdictions with undisputed expert testimony.</a:t>
            </a:r>
            <a:endParaRPr lang="en-US" sz="1100" i="0" u="none" dirty="0">
              <a:solidFill>
                <a:srgbClr val="94A3B8"/>
              </a:solidFill>
              <a:latin typeface="Inter"/>
            </a:endParaRPr>
          </a:p>
          <a:p>
            <a:endParaRPr lang="en-US" sz="11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BBFB81-856C-4224-92C1-35BD2A7DDEB1}"/>
              </a:ext>
            </a:extLst>
          </p:cNvPr>
          <p:cNvSpPr txBox="1"/>
          <p:nvPr/>
        </p:nvSpPr>
        <p:spPr>
          <a:xfrm>
            <a:off x="2786809" y="2785520"/>
            <a:ext cx="1880235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MY" sz="2100" b="1" i="0" u="none" dirty="0">
                <a:solidFill>
                  <a:srgbClr val="06B6D4"/>
                </a:solidFill>
                <a:latin typeface="Space Grotesk"/>
              </a:rPr>
              <a:t>Mission</a:t>
            </a:r>
            <a:endParaRPr sz="2100" b="1" i="0" u="none" dirty="0">
              <a:solidFill>
                <a:srgbClr val="06B6D4"/>
              </a:solidFill>
              <a:latin typeface="Space Grotesk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5D7467-287D-429C-8AE9-76ED61552F4C}"/>
              </a:ext>
            </a:extLst>
          </p:cNvPr>
          <p:cNvSpPr txBox="1"/>
          <p:nvPr/>
        </p:nvSpPr>
        <p:spPr>
          <a:xfrm>
            <a:off x="7072488" y="2765785"/>
            <a:ext cx="1980247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MY" sz="2100" b="1" i="0" u="none" dirty="0">
                <a:solidFill>
                  <a:srgbClr val="06B6D4"/>
                </a:solidFill>
                <a:latin typeface="Space Grotesk"/>
              </a:rPr>
              <a:t>Goal</a:t>
            </a:r>
            <a:endParaRPr sz="2100" b="1" i="0" u="none" dirty="0">
              <a:solidFill>
                <a:srgbClr val="06B6D4"/>
              </a:solidFill>
              <a:latin typeface="Space Grotesk"/>
            </a:endParaRPr>
          </a:p>
        </p:txBody>
      </p:sp>
    </p:spTree>
    <p:extLst>
      <p:ext uri="{BB962C8B-B14F-4D97-AF65-F5344CB8AC3E}">
        <p14:creationId xmlns:p14="http://schemas.microsoft.com/office/powerpoint/2010/main" val="207386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80C797E-ABF7-4B73-A5D1-683B34A80774}"/>
              </a:ext>
            </a:extLst>
          </p:cNvPr>
          <p:cNvSpPr txBox="1"/>
          <p:nvPr/>
        </p:nvSpPr>
        <p:spPr>
          <a:xfrm>
            <a:off x="685801" y="899329"/>
            <a:ext cx="11431428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 u="none" dirty="0">
                <a:solidFill>
                  <a:srgbClr val="F8FAFC"/>
                </a:solidFill>
                <a:latin typeface="Space Grotesk"/>
              </a:rPr>
              <a:t>Core Forensic </a:t>
            </a:r>
            <a:r>
              <a:rPr sz="3300" b="1" i="0" u="none" dirty="0">
                <a:solidFill>
                  <a:srgbClr val="06B6D4"/>
                </a:solidFill>
                <a:latin typeface="Space Grotesk"/>
              </a:rPr>
              <a:t>Capabilities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C9B9752-C704-4D73-BFE7-004E01080CA0}"/>
              </a:ext>
            </a:extLst>
          </p:cNvPr>
          <p:cNvSpPr/>
          <p:nvPr/>
        </p:nvSpPr>
        <p:spPr>
          <a:xfrm>
            <a:off x="536054" y="899329"/>
            <a:ext cx="57150" cy="5334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pic>
        <p:nvPicPr>
          <p:cNvPr id="8" name="Picture 7" descr="image.png">
            <a:extLst>
              <a:ext uri="{FF2B5EF4-FFF2-40B4-BE49-F238E27FC236}">
                <a16:creationId xmlns:a16="http://schemas.microsoft.com/office/drawing/2014/main" id="{91A78F8A-D1ED-480D-A0B8-BB0B366A89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054" y="1920071"/>
            <a:ext cx="3486150" cy="40386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0D6CA00-749E-4484-A634-D57DE2FEFADC}"/>
              </a:ext>
            </a:extLst>
          </p:cNvPr>
          <p:cNvSpPr txBox="1"/>
          <p:nvPr/>
        </p:nvSpPr>
        <p:spPr>
          <a:xfrm>
            <a:off x="831327" y="3429000"/>
            <a:ext cx="289560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0" i="0" u="none" dirty="0">
                <a:solidFill>
                  <a:srgbClr val="94A3B8"/>
                </a:solidFill>
                <a:latin typeface="Inter"/>
              </a:rPr>
              <a:t>Investigating Business Email Compromise (BEC), insider threats, money laundering, intellectual property theft, and sophisticated corporate espionage.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5CE5B71-F842-40C3-9EBE-4D3EFCBC6D2E}"/>
              </a:ext>
            </a:extLst>
          </p:cNvPr>
          <p:cNvSpPr txBox="1"/>
          <p:nvPr/>
        </p:nvSpPr>
        <p:spPr>
          <a:xfrm>
            <a:off x="1339010" y="3057525"/>
            <a:ext cx="1880235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1" i="0" u="none" dirty="0">
                <a:solidFill>
                  <a:srgbClr val="F8FAFC"/>
                </a:solidFill>
                <a:latin typeface="Space Grotesk"/>
              </a:rPr>
              <a:t>Cyber &amp; Fraud</a:t>
            </a:r>
          </a:p>
        </p:txBody>
      </p:sp>
      <p:pic>
        <p:nvPicPr>
          <p:cNvPr id="11" name="Picture 10" descr="image.png">
            <a:extLst>
              <a:ext uri="{FF2B5EF4-FFF2-40B4-BE49-F238E27FC236}">
                <a16:creationId xmlns:a16="http://schemas.microsoft.com/office/drawing/2014/main" id="{6170D050-1A03-42FD-B3BB-A4CC725274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1250" y="2305050"/>
            <a:ext cx="571500" cy="457200"/>
          </a:xfrm>
          <a:prstGeom prst="rect">
            <a:avLst/>
          </a:prstGeom>
        </p:spPr>
      </p:pic>
      <p:pic>
        <p:nvPicPr>
          <p:cNvPr id="12" name="Picture 11" descr="image.png">
            <a:extLst>
              <a:ext uri="{FF2B5EF4-FFF2-40B4-BE49-F238E27FC236}">
                <a16:creationId xmlns:a16="http://schemas.microsoft.com/office/drawing/2014/main" id="{C423A096-243D-4654-81FB-729FC8B03B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0648" y="1914405"/>
            <a:ext cx="3486150" cy="4038600"/>
          </a:xfrm>
          <a:prstGeom prst="rect">
            <a:avLst/>
          </a:prstGeom>
        </p:spPr>
      </p:pic>
      <p:pic>
        <p:nvPicPr>
          <p:cNvPr id="13" name="Picture 12" descr="image.png">
            <a:extLst>
              <a:ext uri="{FF2B5EF4-FFF2-40B4-BE49-F238E27FC236}">
                <a16:creationId xmlns:a16="http://schemas.microsoft.com/office/drawing/2014/main" id="{0B612CA4-2AE3-45D8-88C2-B9F12F65B0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9796" y="1914405"/>
            <a:ext cx="3486150" cy="4038600"/>
          </a:xfrm>
          <a:prstGeom prst="rect">
            <a:avLst/>
          </a:prstGeom>
        </p:spPr>
      </p:pic>
      <p:pic>
        <p:nvPicPr>
          <p:cNvPr id="14" name="Picture 13" descr="image.png">
            <a:extLst>
              <a:ext uri="{FF2B5EF4-FFF2-40B4-BE49-F238E27FC236}">
                <a16:creationId xmlns:a16="http://schemas.microsoft.com/office/drawing/2014/main" id="{F3CCB9C3-BC9C-476F-BD73-109C13B196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24550" y="2305050"/>
            <a:ext cx="342900" cy="457200"/>
          </a:xfrm>
          <a:prstGeom prst="rect">
            <a:avLst/>
          </a:prstGeom>
        </p:spPr>
      </p:pic>
      <p:pic>
        <p:nvPicPr>
          <p:cNvPr id="15" name="Picture 14" descr="image.png">
            <a:extLst>
              <a:ext uri="{FF2B5EF4-FFF2-40B4-BE49-F238E27FC236}">
                <a16:creationId xmlns:a16="http://schemas.microsoft.com/office/drawing/2014/main" id="{2CCA36B9-0161-4F2B-9B86-144DFBE5483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39300" y="2305050"/>
            <a:ext cx="457200" cy="45720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95B16056-7798-4B41-98F4-9FE6DF73FB5A}"/>
              </a:ext>
            </a:extLst>
          </p:cNvPr>
          <p:cNvSpPr txBox="1"/>
          <p:nvPr/>
        </p:nvSpPr>
        <p:spPr>
          <a:xfrm>
            <a:off x="4648200" y="3543300"/>
            <a:ext cx="2895600" cy="152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0" i="0" u="none" dirty="0">
                <a:solidFill>
                  <a:srgbClr val="94A3B8"/>
                </a:solidFill>
                <a:latin typeface="Inter"/>
              </a:rPr>
              <a:t>Specialized extraction of crucial evidence from mobile devices, cloud storage, encrypted messaging apps, and recovery of digital assets.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63A0765-5979-415D-A5E1-B5036EAA4C70}"/>
              </a:ext>
            </a:extLst>
          </p:cNvPr>
          <p:cNvSpPr txBox="1"/>
          <p:nvPr/>
        </p:nvSpPr>
        <p:spPr>
          <a:xfrm>
            <a:off x="5105876" y="3057525"/>
            <a:ext cx="1980247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1" i="0" u="none" dirty="0">
                <a:solidFill>
                  <a:srgbClr val="F8FAFC"/>
                </a:solidFill>
                <a:latin typeface="Space Grotesk"/>
              </a:rPr>
              <a:t>Mobile &amp; Cloud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8C126A2-E122-4035-A826-62CE175E9C5E}"/>
              </a:ext>
            </a:extLst>
          </p:cNvPr>
          <p:cNvSpPr txBox="1"/>
          <p:nvPr/>
        </p:nvSpPr>
        <p:spPr>
          <a:xfrm>
            <a:off x="8727757" y="3057525"/>
            <a:ext cx="2280285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1" i="0" u="none" dirty="0">
                <a:solidFill>
                  <a:srgbClr val="F8FAFC"/>
                </a:solidFill>
                <a:latin typeface="Space Grotesk"/>
              </a:rPr>
              <a:t>Crypto Forensics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EADD3CA-DBD8-4A99-8974-F289C34E11DF}"/>
              </a:ext>
            </a:extLst>
          </p:cNvPr>
          <p:cNvSpPr txBox="1"/>
          <p:nvPr/>
        </p:nvSpPr>
        <p:spPr>
          <a:xfrm>
            <a:off x="8420099" y="3543300"/>
            <a:ext cx="289560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0" i="0" u="none" dirty="0">
                <a:solidFill>
                  <a:srgbClr val="94A3B8"/>
                </a:solidFill>
                <a:latin typeface="Inter"/>
              </a:rPr>
              <a:t>Tracing and proving crypto-related crime, analyzing blockchain transactions, investigating </a:t>
            </a:r>
            <a:r>
              <a:rPr sz="1500" b="0" i="0" u="none" dirty="0" err="1">
                <a:solidFill>
                  <a:srgbClr val="94A3B8"/>
                </a:solidFill>
                <a:latin typeface="Inter"/>
              </a:rPr>
              <a:t>DeFi</a:t>
            </a:r>
            <a:r>
              <a:rPr sz="1500" b="0" i="0" u="none" dirty="0">
                <a:solidFill>
                  <a:srgbClr val="94A3B8"/>
                </a:solidFill>
                <a:latin typeface="Inter"/>
              </a:rPr>
              <a:t> exploits, and recovering stolen digital assets.</a:t>
            </a:r>
          </a:p>
        </p:txBody>
      </p:sp>
    </p:spTree>
    <p:extLst>
      <p:ext uri="{BB962C8B-B14F-4D97-AF65-F5344CB8AC3E}">
        <p14:creationId xmlns:p14="http://schemas.microsoft.com/office/powerpoint/2010/main" val="26675306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E2E2453-965B-4AA4-B48A-56461305D169}"/>
              </a:ext>
            </a:extLst>
          </p:cNvPr>
          <p:cNvSpPr txBox="1"/>
          <p:nvPr/>
        </p:nvSpPr>
        <p:spPr>
          <a:xfrm>
            <a:off x="723900" y="581025"/>
            <a:ext cx="11431428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 u="none" dirty="0">
                <a:solidFill>
                  <a:srgbClr val="F8FAFC"/>
                </a:solidFill>
                <a:latin typeface="Space Grotesk"/>
              </a:rPr>
              <a:t>Advanced </a:t>
            </a:r>
            <a:r>
              <a:rPr sz="3300" b="1" i="0" u="none" dirty="0">
                <a:solidFill>
                  <a:srgbClr val="06B6D4"/>
                </a:solidFill>
                <a:latin typeface="Space Grotesk"/>
              </a:rPr>
              <a:t>Investigation Domains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F135950-10D6-48A2-9196-DC49B8B8CA9B}"/>
              </a:ext>
            </a:extLst>
          </p:cNvPr>
          <p:cNvSpPr/>
          <p:nvPr/>
        </p:nvSpPr>
        <p:spPr>
          <a:xfrm>
            <a:off x="581025" y="581025"/>
            <a:ext cx="57150" cy="5334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>
            <a:extLst>
              <a:ext uri="{FF2B5EF4-FFF2-40B4-BE49-F238E27FC236}">
                <a16:creationId xmlns:a16="http://schemas.microsoft.com/office/drawing/2014/main" id="{81D2FE7A-2624-4B12-8F11-9CE909FD88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025" y="2195512"/>
            <a:ext cx="5276850" cy="338137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D1BAEB8-7B40-47F2-8430-BD69DC6CFCBD}"/>
              </a:ext>
            </a:extLst>
          </p:cNvPr>
          <p:cNvSpPr txBox="1"/>
          <p:nvPr/>
        </p:nvSpPr>
        <p:spPr>
          <a:xfrm>
            <a:off x="859154" y="2586037"/>
            <a:ext cx="472059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1" i="0" u="none" dirty="0">
                <a:solidFill>
                  <a:srgbClr val="06B6D4"/>
                </a:solidFill>
                <a:latin typeface="Space Grotesk"/>
              </a:rPr>
              <a:t>Multimedia &amp; Dark Web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4751067-A9F9-425A-8F72-D7F63A37DBBB}"/>
              </a:ext>
            </a:extLst>
          </p:cNvPr>
          <p:cNvSpPr txBox="1"/>
          <p:nvPr/>
        </p:nvSpPr>
        <p:spPr>
          <a:xfrm>
            <a:off x="971550" y="3071812"/>
            <a:ext cx="4495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0" i="0" u="none" dirty="0">
                <a:solidFill>
                  <a:srgbClr val="94A3B8"/>
                </a:solidFill>
                <a:latin typeface="Inter"/>
              </a:rPr>
              <a:t>Beyond traditional devices, we provide rigorous authentication and analysis of audio, video, and photographs.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DA4A90C-C141-488A-9574-AE04BE600489}"/>
              </a:ext>
            </a:extLst>
          </p:cNvPr>
          <p:cNvSpPr txBox="1"/>
          <p:nvPr/>
        </p:nvSpPr>
        <p:spPr>
          <a:xfrm>
            <a:off x="971550" y="4129087"/>
            <a:ext cx="4495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0" i="0" u="none" dirty="0">
                <a:solidFill>
                  <a:srgbClr val="94A3B8"/>
                </a:solidFill>
                <a:latin typeface="Inter"/>
              </a:rPr>
              <a:t>Our threat intelligence actively tracks malicious actors, data breaches, and illegal activity across hidden networks and the Dark Web.</a:t>
            </a:r>
          </a:p>
        </p:txBody>
      </p:sp>
      <p:pic>
        <p:nvPicPr>
          <p:cNvPr id="11" name="Picture 10" descr="image.png">
            <a:extLst>
              <a:ext uri="{FF2B5EF4-FFF2-40B4-BE49-F238E27FC236}">
                <a16:creationId xmlns:a16="http://schemas.microsoft.com/office/drawing/2014/main" id="{7041A8B4-76F4-4989-8992-581C441C29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2195512"/>
            <a:ext cx="5276850" cy="338137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15A15BF-63B8-4FFD-9258-AA9C53E1E602}"/>
              </a:ext>
            </a:extLst>
          </p:cNvPr>
          <p:cNvSpPr txBox="1"/>
          <p:nvPr/>
        </p:nvSpPr>
        <p:spPr>
          <a:xfrm>
            <a:off x="6612255" y="2586037"/>
            <a:ext cx="472059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1" i="0" u="none" dirty="0">
                <a:solidFill>
                  <a:srgbClr val="06B6D4"/>
                </a:solidFill>
                <a:latin typeface="Space Grotesk"/>
              </a:rPr>
              <a:t>Emerging Technologies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EDD0581-F9DC-407B-A3D0-3BE7E0C5D0D4}"/>
              </a:ext>
            </a:extLst>
          </p:cNvPr>
          <p:cNvSpPr txBox="1"/>
          <p:nvPr/>
        </p:nvSpPr>
        <p:spPr>
          <a:xfrm>
            <a:off x="6724650" y="3071812"/>
            <a:ext cx="4495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0" i="0" u="none" dirty="0">
                <a:solidFill>
                  <a:srgbClr val="94A3B8"/>
                </a:solidFill>
                <a:latin typeface="Inter"/>
              </a:rPr>
              <a:t>The digital landscape is rapidly evolving. We examine digital footprints left by cutting-edge automated systems.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C01ACC6-94D0-4291-A258-278455C6EF0A}"/>
              </a:ext>
            </a:extLst>
          </p:cNvPr>
          <p:cNvSpPr txBox="1"/>
          <p:nvPr/>
        </p:nvSpPr>
        <p:spPr>
          <a:xfrm>
            <a:off x="6724650" y="4129087"/>
            <a:ext cx="4495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0" i="0" u="none" dirty="0">
                <a:solidFill>
                  <a:srgbClr val="94A3B8"/>
                </a:solidFill>
                <a:latin typeface="Inter"/>
              </a:rPr>
              <a:t>This includes forensics on AI Agents, Internet of Things (IoT) devices, commercial drones, and satellite communications data.</a:t>
            </a:r>
          </a:p>
        </p:txBody>
      </p:sp>
    </p:spTree>
    <p:extLst>
      <p:ext uri="{BB962C8B-B14F-4D97-AF65-F5344CB8AC3E}">
        <p14:creationId xmlns:p14="http://schemas.microsoft.com/office/powerpoint/2010/main" val="10857035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AC8FEE8-255C-4EAF-A098-62E599FBC5F8}"/>
              </a:ext>
            </a:extLst>
          </p:cNvPr>
          <p:cNvSpPr txBox="1"/>
          <p:nvPr/>
        </p:nvSpPr>
        <p:spPr>
          <a:xfrm>
            <a:off x="723900" y="514350"/>
            <a:ext cx="11431428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 u="none" dirty="0">
                <a:solidFill>
                  <a:srgbClr val="F8FAFC"/>
                </a:solidFill>
                <a:latin typeface="Space Grotesk"/>
              </a:rPr>
              <a:t>Uncompromising </a:t>
            </a:r>
            <a:r>
              <a:rPr sz="3300" b="1" i="0" u="none" dirty="0">
                <a:solidFill>
                  <a:srgbClr val="06B6D4"/>
                </a:solidFill>
                <a:latin typeface="Space Grotesk"/>
              </a:rPr>
              <a:t>Legal Standards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4D119B4-2183-46AA-AB1D-043202599214}"/>
              </a:ext>
            </a:extLst>
          </p:cNvPr>
          <p:cNvSpPr/>
          <p:nvPr/>
        </p:nvSpPr>
        <p:spPr>
          <a:xfrm>
            <a:off x="581025" y="514350"/>
            <a:ext cx="57150" cy="5334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24F20F7-9A0F-4E07-8F1E-E748DA9FBAA5}"/>
              </a:ext>
            </a:extLst>
          </p:cNvPr>
          <p:cNvSpPr txBox="1"/>
          <p:nvPr/>
        </p:nvSpPr>
        <p:spPr>
          <a:xfrm>
            <a:off x="914400" y="1428750"/>
            <a:ext cx="494347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 dirty="0">
                <a:solidFill>
                  <a:srgbClr val="94A3B8"/>
                </a:solidFill>
                <a:latin typeface="Inter"/>
              </a:rPr>
              <a:t>ISO/IEC 27037 Compliant:</a:t>
            </a:r>
            <a:r>
              <a:rPr sz="1500" b="0" i="0" u="none" dirty="0">
                <a:solidFill>
                  <a:srgbClr val="94A3B8"/>
                </a:solidFill>
                <a:latin typeface="Inter"/>
              </a:rPr>
              <a:t> Strict adherence to global standards for identifying, collecting, and preserving digital evidence.</a:t>
            </a:r>
          </a:p>
        </p:txBody>
      </p:sp>
      <p:pic>
        <p:nvPicPr>
          <p:cNvPr id="7" name="Picture 6" descr="image.png">
            <a:extLst>
              <a:ext uri="{FF2B5EF4-FFF2-40B4-BE49-F238E27FC236}">
                <a16:creationId xmlns:a16="http://schemas.microsoft.com/office/drawing/2014/main" id="{5326CD88-455D-4D85-87EC-79A2808377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025" y="1447800"/>
            <a:ext cx="95250" cy="152400"/>
          </a:xfrm>
          <a:prstGeom prst="rect">
            <a:avLst/>
          </a:prstGeom>
        </p:spPr>
      </p:pic>
      <p:pic>
        <p:nvPicPr>
          <p:cNvPr id="8" name="Picture 7" descr="image.png">
            <a:extLst>
              <a:ext uri="{FF2B5EF4-FFF2-40B4-BE49-F238E27FC236}">
                <a16:creationId xmlns:a16="http://schemas.microsoft.com/office/drawing/2014/main" id="{F8526F60-6453-4E8A-940F-596FC97C9D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025" y="2600325"/>
            <a:ext cx="95250" cy="1524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1D1825C-D6D4-409C-BFCF-D488CD00F649}"/>
              </a:ext>
            </a:extLst>
          </p:cNvPr>
          <p:cNvSpPr txBox="1"/>
          <p:nvPr/>
        </p:nvSpPr>
        <p:spPr>
          <a:xfrm>
            <a:off x="914400" y="2581275"/>
            <a:ext cx="494347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 dirty="0">
                <a:solidFill>
                  <a:srgbClr val="94A3B8"/>
                </a:solidFill>
                <a:latin typeface="Inter"/>
              </a:rPr>
              <a:t>Court-Ready Integrity:</a:t>
            </a:r>
            <a:r>
              <a:rPr sz="1500" b="0" i="0" u="none" dirty="0">
                <a:solidFill>
                  <a:srgbClr val="94A3B8"/>
                </a:solidFill>
                <a:latin typeface="Inter"/>
              </a:rPr>
              <a:t> Guaranteeing the absolute authenticity and legal admissibility of extracted data in court.</a:t>
            </a:r>
          </a:p>
        </p:txBody>
      </p:sp>
      <p:pic>
        <p:nvPicPr>
          <p:cNvPr id="10" name="Picture 9" descr="image.png">
            <a:extLst>
              <a:ext uri="{FF2B5EF4-FFF2-40B4-BE49-F238E27FC236}">
                <a16:creationId xmlns:a16="http://schemas.microsoft.com/office/drawing/2014/main" id="{CCE269A9-96FF-4CFE-BA48-643ECC2119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025" y="3752850"/>
            <a:ext cx="95250" cy="1524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A73ECC4-7493-4775-BC14-B0A64A32B129}"/>
              </a:ext>
            </a:extLst>
          </p:cNvPr>
          <p:cNvSpPr txBox="1"/>
          <p:nvPr/>
        </p:nvSpPr>
        <p:spPr>
          <a:xfrm>
            <a:off x="914400" y="3733800"/>
            <a:ext cx="494347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 dirty="0">
                <a:solidFill>
                  <a:srgbClr val="94A3B8"/>
                </a:solidFill>
                <a:latin typeface="Inter"/>
              </a:rPr>
              <a:t>Anton </a:t>
            </a:r>
            <a:r>
              <a:rPr sz="1500" b="1" i="0" u="none" dirty="0" err="1">
                <a:solidFill>
                  <a:srgbClr val="94A3B8"/>
                </a:solidFill>
                <a:latin typeface="Inter"/>
              </a:rPr>
              <a:t>Piller</a:t>
            </a:r>
            <a:r>
              <a:rPr sz="1500" b="1" i="0" u="none" dirty="0">
                <a:solidFill>
                  <a:srgbClr val="94A3B8"/>
                </a:solidFill>
                <a:latin typeface="Inter"/>
              </a:rPr>
              <a:t> Orders:</a:t>
            </a:r>
            <a:r>
              <a:rPr sz="1500" b="0" i="0" u="none" dirty="0">
                <a:solidFill>
                  <a:srgbClr val="94A3B8"/>
                </a:solidFill>
                <a:latin typeface="Inter"/>
              </a:rPr>
              <a:t> Extensive experience in court-sanctioned, immediate seizure of digital evidence without prior warning.</a:t>
            </a:r>
          </a:p>
        </p:txBody>
      </p:sp>
      <p:pic>
        <p:nvPicPr>
          <p:cNvPr id="12" name="Picture 11" descr="image.png">
            <a:extLst>
              <a:ext uri="{FF2B5EF4-FFF2-40B4-BE49-F238E27FC236}">
                <a16:creationId xmlns:a16="http://schemas.microsoft.com/office/drawing/2014/main" id="{1F7E2661-8E19-4376-BB1D-90B3BA226D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025" y="4905375"/>
            <a:ext cx="95250" cy="1524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2374C14-0AA4-4057-B208-FDE68BAC018B}"/>
              </a:ext>
            </a:extLst>
          </p:cNvPr>
          <p:cNvSpPr txBox="1"/>
          <p:nvPr/>
        </p:nvSpPr>
        <p:spPr>
          <a:xfrm>
            <a:off x="914400" y="4886325"/>
            <a:ext cx="4943475" cy="121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 dirty="0">
                <a:solidFill>
                  <a:srgbClr val="94A3B8"/>
                </a:solidFill>
                <a:latin typeface="Inter"/>
              </a:rPr>
              <a:t>Expert Witness Services:</a:t>
            </a:r>
            <a:r>
              <a:rPr sz="1500" b="0" i="0" u="none" dirty="0">
                <a:solidFill>
                  <a:srgbClr val="94A3B8"/>
                </a:solidFill>
                <a:latin typeface="Inter"/>
              </a:rPr>
              <a:t> Independent forensic advisory and expert rebuttal services designed to support legal teams and challenge opposing evidence.</a:t>
            </a:r>
          </a:p>
        </p:txBody>
      </p:sp>
      <p:pic>
        <p:nvPicPr>
          <p:cNvPr id="14" name="Picture 13" descr="image.png">
            <a:extLst>
              <a:ext uri="{FF2B5EF4-FFF2-40B4-BE49-F238E27FC236}">
                <a16:creationId xmlns:a16="http://schemas.microsoft.com/office/drawing/2014/main" id="{2E74B414-9AFF-4827-ABDC-F0B4D320B0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3650" y="1438275"/>
            <a:ext cx="5257800" cy="3600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8992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9AA496-674B-43CB-9B5F-CA00D976A7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5" cy="657828"/>
          </a:xfrm>
        </p:spPr>
        <p:txBody>
          <a:bodyPr>
            <a:normAutofit fontScale="90000"/>
          </a:bodyPr>
          <a:lstStyle/>
          <a:p>
            <a:r>
              <a:rPr lang="en-MY" dirty="0"/>
              <a:t>Organization chart of </a:t>
            </a:r>
            <a:r>
              <a:rPr lang="en-MY" dirty="0">
                <a:solidFill>
                  <a:srgbClr val="06B6D4"/>
                </a:solidFill>
              </a:rPr>
              <a:t>og it forensic (m) sdn. Bhd.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FC4ACBC-1C62-4800-9CA1-38EA2558C1FB}"/>
              </a:ext>
            </a:extLst>
          </p:cNvPr>
          <p:cNvSpPr/>
          <p:nvPr/>
        </p:nvSpPr>
        <p:spPr>
          <a:xfrm>
            <a:off x="1898247" y="2844479"/>
            <a:ext cx="2997843" cy="1018572"/>
          </a:xfrm>
          <a:prstGeom prst="roundRect">
            <a:avLst/>
          </a:prstGeom>
          <a:solidFill>
            <a:schemeClr val="bg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dirty="0">
                <a:solidFill>
                  <a:schemeClr val="bg1"/>
                </a:solidFill>
              </a:rPr>
              <a:t>Senior Digital Forensic Investigator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88B2D30-E697-4228-A79D-B2E32D58FE9E}"/>
              </a:ext>
            </a:extLst>
          </p:cNvPr>
          <p:cNvSpPr/>
          <p:nvPr/>
        </p:nvSpPr>
        <p:spPr>
          <a:xfrm>
            <a:off x="6498081" y="3727049"/>
            <a:ext cx="3293000" cy="1018572"/>
          </a:xfrm>
          <a:prstGeom prst="roundRect">
            <a:avLst/>
          </a:prstGeom>
          <a:solidFill>
            <a:schemeClr val="bg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dirty="0">
                <a:solidFill>
                  <a:schemeClr val="bg1"/>
                </a:solidFill>
              </a:rPr>
              <a:t>UTHAYAKUMAAR S/O KRISHNAN</a:t>
            </a:r>
          </a:p>
          <a:p>
            <a:pPr algn="ctr"/>
            <a:r>
              <a:rPr lang="en-MY" dirty="0">
                <a:solidFill>
                  <a:schemeClr val="bg1"/>
                </a:solidFill>
              </a:rPr>
              <a:t>(Junior Digital Forensic Analyst)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952961E-AA33-413F-9C08-015BC99408D6}"/>
              </a:ext>
            </a:extLst>
          </p:cNvPr>
          <p:cNvSpPr/>
          <p:nvPr/>
        </p:nvSpPr>
        <p:spPr>
          <a:xfrm>
            <a:off x="6498081" y="2112380"/>
            <a:ext cx="2997843" cy="1018572"/>
          </a:xfrm>
          <a:prstGeom prst="roundRect">
            <a:avLst/>
          </a:prstGeom>
          <a:solidFill>
            <a:schemeClr val="bg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dirty="0">
                <a:solidFill>
                  <a:schemeClr val="bg1"/>
                </a:solidFill>
              </a:rPr>
              <a:t>Ahmad </a:t>
            </a:r>
            <a:r>
              <a:rPr lang="en-MY" dirty="0" err="1">
                <a:solidFill>
                  <a:schemeClr val="bg1"/>
                </a:solidFill>
              </a:rPr>
              <a:t>Luqman</a:t>
            </a:r>
            <a:r>
              <a:rPr lang="en-MY" dirty="0">
                <a:solidFill>
                  <a:schemeClr val="bg1"/>
                </a:solidFill>
              </a:rPr>
              <a:t> Hanafi </a:t>
            </a:r>
          </a:p>
          <a:p>
            <a:pPr algn="ctr"/>
            <a:r>
              <a:rPr lang="en-MY" dirty="0">
                <a:solidFill>
                  <a:schemeClr val="bg1"/>
                </a:solidFill>
              </a:rPr>
              <a:t>(Digital Forensic Analyst)</a:t>
            </a:r>
          </a:p>
        </p:txBody>
      </p: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7E3BDC8D-B7AC-4866-A207-D5086B7FAD67}"/>
              </a:ext>
            </a:extLst>
          </p:cNvPr>
          <p:cNvCxnSpPr>
            <a:stCxn id="4" idx="3"/>
            <a:endCxn id="8" idx="1"/>
          </p:cNvCxnSpPr>
          <p:nvPr/>
        </p:nvCxnSpPr>
        <p:spPr>
          <a:xfrm flipV="1">
            <a:off x="4896090" y="2621666"/>
            <a:ext cx="1601991" cy="732099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A4F279B2-3CB4-4AC2-A06E-CDCCD888F12D}"/>
              </a:ext>
            </a:extLst>
          </p:cNvPr>
          <p:cNvCxnSpPr>
            <a:cxnSpLocks/>
            <a:stCxn id="4" idx="3"/>
            <a:endCxn id="7" idx="1"/>
          </p:cNvCxnSpPr>
          <p:nvPr/>
        </p:nvCxnSpPr>
        <p:spPr>
          <a:xfrm>
            <a:off x="4896090" y="3353765"/>
            <a:ext cx="1601991" cy="88257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09569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B7237-5032-436E-B51B-FB74F7C6EC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3203" y="369385"/>
            <a:ext cx="10721050" cy="1456267"/>
          </a:xfrm>
        </p:spPr>
        <p:txBody>
          <a:bodyPr/>
          <a:lstStyle/>
          <a:p>
            <a:r>
              <a:rPr lang="en-MY" dirty="0"/>
              <a:t>tasks and accountabilities of </a:t>
            </a:r>
            <a:r>
              <a:rPr lang="en-MY" dirty="0">
                <a:solidFill>
                  <a:srgbClr val="06B6D4"/>
                </a:solidFill>
              </a:rPr>
              <a:t>the roles in Digital Forensics</a:t>
            </a:r>
          </a:p>
        </p:txBody>
      </p:sp>
      <p:pic>
        <p:nvPicPr>
          <p:cNvPr id="4" name="Picture 3" descr="image.png">
            <a:extLst>
              <a:ext uri="{FF2B5EF4-FFF2-40B4-BE49-F238E27FC236}">
                <a16:creationId xmlns:a16="http://schemas.microsoft.com/office/drawing/2014/main" id="{7F582F83-41C2-4B4D-9413-D70D3188B5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054" y="1920071"/>
            <a:ext cx="3486150" cy="40386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40B6159-0BFF-4421-BCEE-02FD2769A5D5}"/>
              </a:ext>
            </a:extLst>
          </p:cNvPr>
          <p:cNvSpPr txBox="1"/>
          <p:nvPr/>
        </p:nvSpPr>
        <p:spPr>
          <a:xfrm>
            <a:off x="685801" y="3052047"/>
            <a:ext cx="3266953" cy="27084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28600" indent="-228600">
              <a:buAutoNum type="arabicPeriod"/>
            </a:pPr>
            <a:r>
              <a:rPr lang="en-US" sz="1100" b="1" dirty="0"/>
              <a:t>Operational Command:</a:t>
            </a:r>
            <a:r>
              <a:rPr lang="en-US" sz="1100" dirty="0"/>
              <a:t> Oversee the entirety of digital forensic operations, delegate tasks, and supervise the forensic unit.</a:t>
            </a:r>
          </a:p>
          <a:p>
            <a:pPr marL="228600" indent="-228600">
              <a:buAutoNum type="arabicPeriod"/>
            </a:pPr>
            <a:r>
              <a:rPr lang="en-US" sz="1100" b="1" dirty="0"/>
              <a:t>Quality Assurance:</a:t>
            </a:r>
            <a:r>
              <a:rPr lang="en-US" sz="1100" dirty="0"/>
              <a:t> Serve as the final review and approval authority for all forensic reports and findings to guarantee absolute quality and legal integrity.</a:t>
            </a:r>
          </a:p>
          <a:p>
            <a:pPr marL="228600" indent="-228600">
              <a:buAutoNum type="arabicPeriod"/>
            </a:pPr>
            <a:r>
              <a:rPr lang="en-US" sz="1100" b="1" dirty="0"/>
              <a:t>Strategic Direction:</a:t>
            </a:r>
            <a:r>
              <a:rPr lang="en-US" sz="1100" dirty="0"/>
              <a:t> Drive the overarching investigative strategy and make executive technical calls.</a:t>
            </a:r>
            <a:endParaRPr lang="en-US" sz="1100" dirty="0">
              <a:solidFill>
                <a:srgbClr val="94A3B8"/>
              </a:solidFill>
              <a:latin typeface="Inter"/>
            </a:endParaRPr>
          </a:p>
          <a:p>
            <a:pPr marL="228600" indent="-228600">
              <a:buAutoNum type="arabicPeriod"/>
            </a:pPr>
            <a:r>
              <a:rPr lang="en-US" sz="1100" b="1" dirty="0"/>
              <a:t>Mentorship:</a:t>
            </a:r>
            <a:r>
              <a:rPr lang="en-US" sz="1100" dirty="0"/>
              <a:t> Act as a dedicated mentor to both analysts and junior analysts to elevate the team's overall capabilities.</a:t>
            </a:r>
            <a:endParaRPr lang="en-US" sz="1100" dirty="0">
              <a:solidFill>
                <a:srgbClr val="94A3B8"/>
              </a:solidFill>
              <a:latin typeface="Inter"/>
            </a:endParaRPr>
          </a:p>
          <a:p>
            <a:pPr marL="228600" indent="-228600">
              <a:buAutoNum type="arabicPeriod"/>
            </a:pPr>
            <a:r>
              <a:rPr lang="en-US" sz="1100" b="1" dirty="0"/>
              <a:t>Liaison Duties:</a:t>
            </a:r>
            <a:r>
              <a:rPr lang="en-US" sz="1100" dirty="0"/>
              <a:t> Act as the primary point of contact coordinating with clients, legal counsel, and external stakeholders.</a:t>
            </a:r>
            <a:endParaRPr lang="en-US" sz="1100" b="0" i="0" u="none" dirty="0">
              <a:solidFill>
                <a:srgbClr val="94A3B8"/>
              </a:solidFill>
              <a:latin typeface="Inter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010EC7-3782-477B-9BB5-33A56C4B2413}"/>
              </a:ext>
            </a:extLst>
          </p:cNvPr>
          <p:cNvSpPr txBox="1"/>
          <p:nvPr/>
        </p:nvSpPr>
        <p:spPr>
          <a:xfrm>
            <a:off x="831327" y="2192139"/>
            <a:ext cx="2895600" cy="6463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MY" sz="2100" b="1" i="0" u="none" dirty="0">
                <a:solidFill>
                  <a:srgbClr val="06B6D4"/>
                </a:solidFill>
                <a:latin typeface="Space Grotesk"/>
              </a:rPr>
              <a:t>Senior Digital forensic Investigator</a:t>
            </a:r>
            <a:endParaRPr sz="2100" b="1" i="0" u="none" dirty="0">
              <a:solidFill>
                <a:srgbClr val="06B6D4"/>
              </a:solidFill>
              <a:latin typeface="Space Grotesk"/>
            </a:endParaRPr>
          </a:p>
        </p:txBody>
      </p:sp>
      <p:pic>
        <p:nvPicPr>
          <p:cNvPr id="8" name="Picture 7" descr="image.png">
            <a:extLst>
              <a:ext uri="{FF2B5EF4-FFF2-40B4-BE49-F238E27FC236}">
                <a16:creationId xmlns:a16="http://schemas.microsoft.com/office/drawing/2014/main" id="{3F9091E4-7F8E-42AD-A0CD-2FE228CFDB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7669" y="1920071"/>
            <a:ext cx="3486150" cy="4038600"/>
          </a:xfrm>
          <a:prstGeom prst="rect">
            <a:avLst/>
          </a:prstGeom>
        </p:spPr>
      </p:pic>
      <p:pic>
        <p:nvPicPr>
          <p:cNvPr id="9" name="Picture 8" descr="image.png">
            <a:extLst>
              <a:ext uri="{FF2B5EF4-FFF2-40B4-BE49-F238E27FC236}">
                <a16:creationId xmlns:a16="http://schemas.microsoft.com/office/drawing/2014/main" id="{4F330C7B-CF89-4E12-BBEB-02920D99D8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4523" y="1896708"/>
            <a:ext cx="3486150" cy="40386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DC4A11F-9F59-4B02-A52D-A9E91FC628A9}"/>
              </a:ext>
            </a:extLst>
          </p:cNvPr>
          <p:cNvSpPr txBox="1"/>
          <p:nvPr/>
        </p:nvSpPr>
        <p:spPr>
          <a:xfrm>
            <a:off x="4606767" y="2192139"/>
            <a:ext cx="2683193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MY" sz="2100" b="1" i="0" u="none" dirty="0">
                <a:solidFill>
                  <a:srgbClr val="06B6D4"/>
                </a:solidFill>
                <a:latin typeface="Space Grotesk"/>
              </a:rPr>
              <a:t>Digital Forensic Analyst</a:t>
            </a:r>
            <a:endParaRPr sz="2100" b="1" i="0" u="none" dirty="0">
              <a:solidFill>
                <a:srgbClr val="06B6D4"/>
              </a:solidFill>
              <a:latin typeface="Space Grotesk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83AD9BC-47BD-43E6-8DB8-608D5345DB33}"/>
              </a:ext>
            </a:extLst>
          </p:cNvPr>
          <p:cNvSpPr txBox="1"/>
          <p:nvPr/>
        </p:nvSpPr>
        <p:spPr>
          <a:xfrm>
            <a:off x="8364008" y="2192140"/>
            <a:ext cx="2507179" cy="6463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MY" sz="2100" b="1" i="0" u="none" dirty="0">
                <a:solidFill>
                  <a:srgbClr val="06B6D4"/>
                </a:solidFill>
                <a:latin typeface="Space Grotesk"/>
              </a:rPr>
              <a:t>Junior Digital Forensic Analyst</a:t>
            </a:r>
            <a:endParaRPr sz="2100" b="1" i="0" u="none" dirty="0">
              <a:solidFill>
                <a:srgbClr val="06B6D4"/>
              </a:solidFill>
              <a:latin typeface="Space Grotesk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CAEBD67-5928-43C1-9478-E99DFF3EAAAC}"/>
              </a:ext>
            </a:extLst>
          </p:cNvPr>
          <p:cNvSpPr txBox="1"/>
          <p:nvPr/>
        </p:nvSpPr>
        <p:spPr>
          <a:xfrm>
            <a:off x="4371239" y="3052047"/>
            <a:ext cx="3320138" cy="2369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42900" indent="-342900">
              <a:buAutoNum type="arabicPeriod"/>
            </a:pPr>
            <a:r>
              <a:rPr lang="en-US" sz="1100" b="1" dirty="0"/>
              <a:t>Active Investigation:</a:t>
            </a:r>
            <a:r>
              <a:rPr lang="en-US" sz="1100" dirty="0"/>
              <a:t> Execute direct forensic examinations and drive end-to-end case investigations.</a:t>
            </a:r>
          </a:p>
          <a:p>
            <a:pPr marL="342900" indent="-342900">
              <a:buAutoNum type="arabicPeriod"/>
            </a:pPr>
            <a:r>
              <a:rPr lang="en-US" sz="1100" b="1" dirty="0"/>
              <a:t>Evidence Processing:</a:t>
            </a:r>
            <a:r>
              <a:rPr lang="en-US" sz="1100" dirty="0"/>
              <a:t> Handle the full lifecycle of digital evidence identifying, acquiring, recovering, preserving, and analyzing critical artifacts.</a:t>
            </a:r>
          </a:p>
          <a:p>
            <a:pPr marL="342900" indent="-342900">
              <a:buAutoNum type="arabicPeriod"/>
            </a:pPr>
            <a:r>
              <a:rPr lang="en-US" sz="1100" b="1" dirty="0"/>
              <a:t>Case Management:</a:t>
            </a:r>
            <a:r>
              <a:rPr lang="en-US" sz="1100" dirty="0"/>
              <a:t> Take ownership of assigned cases, guaranteeing they hit completion deadlines.</a:t>
            </a:r>
          </a:p>
          <a:p>
            <a:pPr marL="342900" indent="-342900">
              <a:buAutoNum type="arabicPeriod"/>
            </a:pPr>
            <a:r>
              <a:rPr lang="en-US" sz="1100" b="1" dirty="0"/>
              <a:t>Documentation:</a:t>
            </a:r>
            <a:r>
              <a:rPr lang="en-US" sz="1100" dirty="0"/>
              <a:t> Author comprehensive forensic reports and formal documentation.</a:t>
            </a:r>
          </a:p>
          <a:p>
            <a:pPr marL="342900" indent="-342900">
              <a:buAutoNum type="arabicPeriod"/>
            </a:pPr>
            <a:r>
              <a:rPr lang="en-US" sz="1100" b="1" dirty="0"/>
              <a:t>Team &amp; Case Support:</a:t>
            </a:r>
            <a:r>
              <a:rPr lang="en-US" sz="1100" dirty="0"/>
              <a:t> Lend expertise to high-stakes, complex investigations, assist with compiling case presentations, and provide guidance to junior team members.</a:t>
            </a:r>
            <a:endParaRPr sz="1100" b="0" i="0" u="none" dirty="0">
              <a:solidFill>
                <a:srgbClr val="94A3B8"/>
              </a:solidFill>
              <a:latin typeface="Inter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854EDDC-A6CF-4EB4-94CB-0D78626C8B21}"/>
              </a:ext>
            </a:extLst>
          </p:cNvPr>
          <p:cNvSpPr txBox="1"/>
          <p:nvPr/>
        </p:nvSpPr>
        <p:spPr>
          <a:xfrm>
            <a:off x="8038921" y="3052048"/>
            <a:ext cx="3275332" cy="220060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28600" indent="-228600">
              <a:buAutoNum type="arabicPeriod"/>
            </a:pPr>
            <a:r>
              <a:rPr lang="en-US" sz="1100" b="1" dirty="0"/>
              <a:t>Technical Support:</a:t>
            </a:r>
            <a:r>
              <a:rPr lang="en-US" sz="1100" dirty="0"/>
              <a:t> Provide foundational technical   backing for ongoing forensic investigations.</a:t>
            </a:r>
          </a:p>
          <a:p>
            <a:pPr marL="228600" indent="-228600">
              <a:buFontTx/>
              <a:buAutoNum type="arabicPeriod"/>
            </a:pPr>
            <a:r>
              <a:rPr lang="en-US" sz="1100" b="1" dirty="0"/>
              <a:t>Evidence Handling:</a:t>
            </a:r>
            <a:r>
              <a:rPr lang="en-US" sz="1100" dirty="0"/>
              <a:t> Aid in the examination and analysis of digital evidence, while supporting its meticulous collection, preservation, and organization.</a:t>
            </a:r>
          </a:p>
          <a:p>
            <a:pPr marL="228600" indent="-228600">
              <a:buFontTx/>
              <a:buAutoNum type="arabicPeriod"/>
            </a:pPr>
            <a:r>
              <a:rPr lang="en-US" sz="1100" b="1" dirty="0"/>
              <a:t>Operational Readiness:</a:t>
            </a:r>
            <a:r>
              <a:rPr lang="en-US" sz="1100" dirty="0"/>
              <a:t> Prepare and maintain necessary forensic hardware, software tools, and documentation.</a:t>
            </a:r>
          </a:p>
          <a:p>
            <a:pPr marL="228600" indent="-228600">
              <a:buFontTx/>
              <a:buAutoNum type="arabicPeriod"/>
            </a:pPr>
            <a:r>
              <a:rPr lang="en-US" sz="1100" b="1" dirty="0"/>
              <a:t>Reporting Support:</a:t>
            </a:r>
            <a:r>
              <a:rPr lang="en-US" sz="1100" dirty="0"/>
              <a:t> Contribute to the drafting and preparation of formal forensic reports.</a:t>
            </a:r>
          </a:p>
          <a:p>
            <a:pPr marL="228600" indent="-228600">
              <a:buFontTx/>
              <a:buAutoNum type="arabicPeriod"/>
            </a:pPr>
            <a:r>
              <a:rPr lang="en-US" sz="1100" b="1" dirty="0"/>
              <a:t>Continuous Development:</a:t>
            </a:r>
            <a:r>
              <a:rPr lang="en-US" sz="1100" dirty="0"/>
              <a:t> Actively absorb and implement standard digital forensic methodologies and operational procedures.</a:t>
            </a:r>
          </a:p>
        </p:txBody>
      </p:sp>
    </p:spTree>
    <p:extLst>
      <p:ext uri="{BB962C8B-B14F-4D97-AF65-F5344CB8AC3E}">
        <p14:creationId xmlns:p14="http://schemas.microsoft.com/office/powerpoint/2010/main" val="29187189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40955B-92F7-49AA-8D4E-A6D298EBD9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1" y="356187"/>
            <a:ext cx="10131425" cy="1456267"/>
          </a:xfrm>
        </p:spPr>
        <p:txBody>
          <a:bodyPr/>
          <a:lstStyle/>
          <a:p>
            <a:r>
              <a:rPr lang="en-MY" dirty="0"/>
              <a:t>Digital Forensic </a:t>
            </a:r>
            <a:r>
              <a:rPr lang="en-MY" dirty="0">
                <a:solidFill>
                  <a:srgbClr val="06B6D4"/>
                </a:solidFill>
              </a:rPr>
              <a:t>Software used   </a:t>
            </a:r>
          </a:p>
        </p:txBody>
      </p:sp>
      <p:pic>
        <p:nvPicPr>
          <p:cNvPr id="9" name="Picture 8" descr="image.png">
            <a:extLst>
              <a:ext uri="{FF2B5EF4-FFF2-40B4-BE49-F238E27FC236}">
                <a16:creationId xmlns:a16="http://schemas.microsoft.com/office/drawing/2014/main" id="{24774B67-977D-4C86-A167-7BDA8D7D09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636" y="1894671"/>
            <a:ext cx="2621625" cy="4614079"/>
          </a:xfrm>
          <a:prstGeom prst="rect">
            <a:avLst/>
          </a:prstGeom>
        </p:spPr>
      </p:pic>
      <p:pic>
        <p:nvPicPr>
          <p:cNvPr id="12" name="Picture 11" descr="image.png">
            <a:extLst>
              <a:ext uri="{FF2B5EF4-FFF2-40B4-BE49-F238E27FC236}">
                <a16:creationId xmlns:a16="http://schemas.microsoft.com/office/drawing/2014/main" id="{76C5D120-FBF9-4A41-85E7-7FCF5F07DC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4458" y="1894670"/>
            <a:ext cx="3019736" cy="4614079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4A39EAAA-CE25-4A5F-86E9-1F3E68668EEF}"/>
              </a:ext>
            </a:extLst>
          </p:cNvPr>
          <p:cNvSpPr txBox="1"/>
          <p:nvPr/>
        </p:nvSpPr>
        <p:spPr>
          <a:xfrm>
            <a:off x="341411" y="2780426"/>
            <a:ext cx="2585093" cy="8617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MY" sz="1400" dirty="0"/>
              <a:t>Oxygen Forensic Detective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MY" sz="1400" dirty="0"/>
              <a:t>Magnet AXIOM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MY" sz="1400" dirty="0"/>
              <a:t>Paraben E3: Universal</a:t>
            </a:r>
          </a:p>
          <a:p>
            <a:endParaRPr lang="en-MY" sz="14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EEF5026-E574-4103-998D-34C6EC8B8580}"/>
              </a:ext>
            </a:extLst>
          </p:cNvPr>
          <p:cNvSpPr txBox="1"/>
          <p:nvPr/>
        </p:nvSpPr>
        <p:spPr>
          <a:xfrm>
            <a:off x="229058" y="2019181"/>
            <a:ext cx="2291431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MY" sz="2100" b="1" i="0" u="none" dirty="0">
                <a:solidFill>
                  <a:srgbClr val="06B6D4"/>
                </a:solidFill>
                <a:latin typeface="Space Grotesk"/>
              </a:rPr>
              <a:t>Mobile Acquisition</a:t>
            </a:r>
            <a:endParaRPr sz="2100" b="1" i="0" u="none" dirty="0">
              <a:solidFill>
                <a:srgbClr val="06B6D4"/>
              </a:solidFill>
              <a:latin typeface="Space Grotesk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94A6A15-7DFB-4F99-9998-E15610399CD4}"/>
              </a:ext>
            </a:extLst>
          </p:cNvPr>
          <p:cNvSpPr txBox="1"/>
          <p:nvPr/>
        </p:nvSpPr>
        <p:spPr>
          <a:xfrm>
            <a:off x="3158071" y="2782669"/>
            <a:ext cx="2628304" cy="1292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MY" sz="1400" dirty="0"/>
              <a:t>Oxygen Forensic Detective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MY" sz="1400" dirty="0"/>
              <a:t>SUMURI PALADIN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MY" sz="1400" dirty="0"/>
              <a:t>SUMURI RECON ITR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MY" sz="1400" dirty="0"/>
              <a:t>OpenText EnCase Forensic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MY" sz="1400" dirty="0"/>
              <a:t>Exterro FTK Imager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MY" sz="1400" dirty="0"/>
              <a:t>Logicube TX1 Forensic Imager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ECFB45F-D7F5-4102-B9A1-5773D8BEE8E5}"/>
              </a:ext>
            </a:extLst>
          </p:cNvPr>
          <p:cNvSpPr txBox="1"/>
          <p:nvPr/>
        </p:nvSpPr>
        <p:spPr>
          <a:xfrm>
            <a:off x="3158071" y="1971906"/>
            <a:ext cx="2628304" cy="6463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MY" sz="2100" b="1" i="0" u="none" dirty="0">
                <a:solidFill>
                  <a:srgbClr val="06B6D4"/>
                </a:solidFill>
                <a:latin typeface="Space Grotesk"/>
              </a:rPr>
              <a:t>Computer and Storage Device Acquisition</a:t>
            </a:r>
            <a:endParaRPr sz="2100" b="1" i="0" u="none" dirty="0">
              <a:solidFill>
                <a:srgbClr val="06B6D4"/>
              </a:solidFill>
              <a:latin typeface="Space Grotesk"/>
            </a:endParaRPr>
          </a:p>
        </p:txBody>
      </p:sp>
      <p:pic>
        <p:nvPicPr>
          <p:cNvPr id="22" name="Picture 21" descr="image.png">
            <a:extLst>
              <a:ext uri="{FF2B5EF4-FFF2-40B4-BE49-F238E27FC236}">
                <a16:creationId xmlns:a16="http://schemas.microsoft.com/office/drawing/2014/main" id="{37A96C0C-0F45-4D16-887D-250C564DE9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7807" y="1894670"/>
            <a:ext cx="3019736" cy="4614079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CAD95D0F-C710-4C89-9D30-8B738DDDB66B}"/>
              </a:ext>
            </a:extLst>
          </p:cNvPr>
          <p:cNvSpPr txBox="1"/>
          <p:nvPr/>
        </p:nvSpPr>
        <p:spPr>
          <a:xfrm>
            <a:off x="6205185" y="1962612"/>
            <a:ext cx="2780065" cy="6463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MY" sz="2100" b="1" dirty="0">
                <a:solidFill>
                  <a:srgbClr val="06B6D4"/>
                </a:solidFill>
                <a:latin typeface="Space Grotesk"/>
              </a:rPr>
              <a:t>Forensic Image Processing</a:t>
            </a:r>
            <a:r>
              <a:rPr lang="en-MY" sz="2100" b="1" i="0" u="none" dirty="0">
                <a:solidFill>
                  <a:srgbClr val="06B6D4"/>
                </a:solidFill>
                <a:latin typeface="Space Grotesk"/>
              </a:rPr>
              <a:t> </a:t>
            </a:r>
            <a:endParaRPr sz="2100" b="1" i="0" u="none" dirty="0">
              <a:solidFill>
                <a:srgbClr val="06B6D4"/>
              </a:solidFill>
              <a:latin typeface="Space Grotesk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782D2EA-75D7-48B2-B074-DD09028DA7E3}"/>
              </a:ext>
            </a:extLst>
          </p:cNvPr>
          <p:cNvSpPr txBox="1"/>
          <p:nvPr/>
        </p:nvSpPr>
        <p:spPr>
          <a:xfrm>
            <a:off x="6384435" y="2782669"/>
            <a:ext cx="3146301" cy="1292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MY" sz="1400" dirty="0"/>
              <a:t>Oxygen Forensic Detective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MY" sz="1400" dirty="0"/>
              <a:t>Magnet AXIOM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MY" sz="1400" dirty="0"/>
              <a:t>OpenText EnCase Forensic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MY" sz="1400" dirty="0"/>
              <a:t>Paraben E3: Universal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MY" sz="1400" dirty="0"/>
              <a:t>Intella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MY" sz="1400" dirty="0"/>
              <a:t>FotoForensics</a:t>
            </a:r>
          </a:p>
        </p:txBody>
      </p:sp>
      <p:pic>
        <p:nvPicPr>
          <p:cNvPr id="27" name="Picture 26" descr="image.png">
            <a:extLst>
              <a:ext uri="{FF2B5EF4-FFF2-40B4-BE49-F238E27FC236}">
                <a16:creationId xmlns:a16="http://schemas.microsoft.com/office/drawing/2014/main" id="{85EB131D-CAC7-4F22-8833-1D129DB73D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9110" y="1894670"/>
            <a:ext cx="2621625" cy="4614079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555B7788-1CA2-403D-BB6A-E7FE299661CA}"/>
              </a:ext>
            </a:extLst>
          </p:cNvPr>
          <p:cNvSpPr txBox="1"/>
          <p:nvPr/>
        </p:nvSpPr>
        <p:spPr>
          <a:xfrm>
            <a:off x="9731054" y="1986723"/>
            <a:ext cx="2017735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MY" sz="2100" b="1" dirty="0">
                <a:solidFill>
                  <a:srgbClr val="06B6D4"/>
                </a:solidFill>
                <a:latin typeface="Space Grotesk"/>
              </a:rPr>
              <a:t>Email Forensics</a:t>
            </a:r>
            <a:endParaRPr sz="2100" b="1" i="0" u="none" dirty="0">
              <a:solidFill>
                <a:srgbClr val="06B6D4"/>
              </a:solidFill>
              <a:latin typeface="Space Grotesk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F236AE4-84AE-427E-B808-485780AF4887}"/>
              </a:ext>
            </a:extLst>
          </p:cNvPr>
          <p:cNvSpPr txBox="1"/>
          <p:nvPr/>
        </p:nvSpPr>
        <p:spPr>
          <a:xfrm>
            <a:off x="9563696" y="2777688"/>
            <a:ext cx="2628304" cy="8617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MY" sz="1400" dirty="0"/>
              <a:t>Intella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MY" sz="1400" dirty="0"/>
              <a:t>OpenText EnCase Forensic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MY" sz="1400" dirty="0"/>
              <a:t>Magnet AXIOM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MY" sz="1400" dirty="0"/>
              <a:t>Oxygen Forensic Detective</a:t>
            </a:r>
          </a:p>
        </p:txBody>
      </p:sp>
    </p:spTree>
    <p:extLst>
      <p:ext uri="{BB962C8B-B14F-4D97-AF65-F5344CB8AC3E}">
        <p14:creationId xmlns:p14="http://schemas.microsoft.com/office/powerpoint/2010/main" val="40518894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B8BBD-4F61-4946-BF29-DE8D6B8E3F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1" y="254000"/>
            <a:ext cx="10131425" cy="1456267"/>
          </a:xfrm>
        </p:spPr>
        <p:txBody>
          <a:bodyPr/>
          <a:lstStyle/>
          <a:p>
            <a:r>
              <a:rPr lang="en-MY" dirty="0"/>
              <a:t>Digital Audio </a:t>
            </a:r>
            <a:r>
              <a:rPr lang="en-MY" dirty="0">
                <a:solidFill>
                  <a:srgbClr val="06B6D4"/>
                </a:solidFill>
              </a:rPr>
              <a:t>Forensic Analysis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532AC69-2BA3-450A-A974-0882AA24E094}"/>
              </a:ext>
            </a:extLst>
          </p:cNvPr>
          <p:cNvSpPr txBox="1"/>
          <p:nvPr/>
        </p:nvSpPr>
        <p:spPr>
          <a:xfrm>
            <a:off x="341411" y="2780426"/>
            <a:ext cx="2585093" cy="1292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MY" sz="1400" dirty="0"/>
              <a:t>Non tampered and tampered audio stream pic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MY" sz="1400" dirty="0"/>
              <a:t>Steps to do audio forensics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MY" sz="1400" dirty="0"/>
              <a:t>Metadata of the audio in forensic tools</a:t>
            </a:r>
          </a:p>
          <a:p>
            <a:endParaRPr lang="en-MY" sz="1400" dirty="0"/>
          </a:p>
        </p:txBody>
      </p:sp>
    </p:spTree>
    <p:extLst>
      <p:ext uri="{BB962C8B-B14F-4D97-AF65-F5344CB8AC3E}">
        <p14:creationId xmlns:p14="http://schemas.microsoft.com/office/powerpoint/2010/main" val="25594465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55658-AD70-4374-B218-425073E490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Digital Video </a:t>
            </a:r>
            <a:r>
              <a:rPr lang="en-MY" dirty="0">
                <a:solidFill>
                  <a:srgbClr val="06B6D4"/>
                </a:solidFill>
              </a:rPr>
              <a:t>forensic analysis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509A75-5F28-4C47-99E4-6A457B47A82C}"/>
              </a:ext>
            </a:extLst>
          </p:cNvPr>
          <p:cNvSpPr txBox="1"/>
          <p:nvPr/>
        </p:nvSpPr>
        <p:spPr>
          <a:xfrm>
            <a:off x="976411" y="2278776"/>
            <a:ext cx="2585093" cy="10772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MY" sz="1400" dirty="0" err="1"/>
              <a:t>Ffmpeg</a:t>
            </a:r>
            <a:r>
              <a:rPr lang="en-MY" sz="1400" dirty="0"/>
              <a:t> video extraction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MY" sz="1400" dirty="0"/>
              <a:t>Inertia to verify its original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MY" sz="1400" dirty="0"/>
              <a:t>Extract the videos audio to find any potential cut or tampering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MY" sz="1400" dirty="0"/>
              <a:t>Steps to be done</a:t>
            </a:r>
          </a:p>
        </p:txBody>
      </p:sp>
    </p:spTree>
    <p:extLst>
      <p:ext uri="{BB962C8B-B14F-4D97-AF65-F5344CB8AC3E}">
        <p14:creationId xmlns:p14="http://schemas.microsoft.com/office/powerpoint/2010/main" val="15997372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932E2-CBD9-4FA3-8A3B-4C7263345F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Digital Photo </a:t>
            </a:r>
            <a:r>
              <a:rPr lang="en-MY" dirty="0">
                <a:solidFill>
                  <a:srgbClr val="06B6D4"/>
                </a:solidFill>
              </a:rPr>
              <a:t>forensic analysis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27848FB-DC9D-489C-81D8-A826E208CBD2}"/>
              </a:ext>
            </a:extLst>
          </p:cNvPr>
          <p:cNvSpPr txBox="1"/>
          <p:nvPr/>
        </p:nvSpPr>
        <p:spPr>
          <a:xfrm>
            <a:off x="341411" y="2780426"/>
            <a:ext cx="2585093" cy="1292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MY" sz="1400" dirty="0"/>
              <a:t>Analysis using </a:t>
            </a:r>
            <a:r>
              <a:rPr lang="en-MY" sz="1400" dirty="0" err="1"/>
              <a:t>lab.fotoforensic</a:t>
            </a:r>
            <a:endParaRPr lang="en-MY" sz="14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MY" sz="1400" dirty="0"/>
              <a:t>Upload pic and verification of </a:t>
            </a:r>
            <a:r>
              <a:rPr lang="en-MY" sz="1400" dirty="0" err="1"/>
              <a:t>ELA,Histogram</a:t>
            </a:r>
            <a:r>
              <a:rPr lang="en-MY" sz="1400" dirty="0"/>
              <a:t>, and more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MY" sz="1400" dirty="0"/>
              <a:t>Metadata using </a:t>
            </a:r>
            <a:r>
              <a:rPr lang="en-MY" sz="1400" dirty="0" err="1"/>
              <a:t>Exiftool</a:t>
            </a:r>
            <a:r>
              <a:rPr lang="en-MY" sz="1400" dirty="0"/>
              <a:t> and forensic software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MY" sz="1400" dirty="0"/>
              <a:t>Steps to be done</a:t>
            </a:r>
          </a:p>
        </p:txBody>
      </p:sp>
    </p:spTree>
    <p:extLst>
      <p:ext uri="{BB962C8B-B14F-4D97-AF65-F5344CB8AC3E}">
        <p14:creationId xmlns:p14="http://schemas.microsoft.com/office/powerpoint/2010/main" val="5965482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DA8D8B-FDD3-4597-B3C4-7D60EDE062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Digital Mobile </a:t>
            </a:r>
            <a:r>
              <a:rPr lang="en-MY" dirty="0">
                <a:solidFill>
                  <a:srgbClr val="06B6D4"/>
                </a:solidFill>
              </a:rPr>
              <a:t>Forensic Analysis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9DC73A-B339-4686-B971-C5CD05CEFFC6}"/>
              </a:ext>
            </a:extLst>
          </p:cNvPr>
          <p:cNvSpPr txBox="1"/>
          <p:nvPr/>
        </p:nvSpPr>
        <p:spPr>
          <a:xfrm>
            <a:off x="341411" y="2780426"/>
            <a:ext cx="2585093" cy="10772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MY" sz="1400" dirty="0"/>
              <a:t>Using Oxygen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MY" sz="1400" dirty="0"/>
              <a:t>Acquisition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MY" sz="1400" dirty="0"/>
              <a:t>Process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MY" sz="1400" dirty="0"/>
              <a:t>Examine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MY" sz="1400" dirty="0"/>
              <a:t>Steps to do </a:t>
            </a:r>
          </a:p>
        </p:txBody>
      </p:sp>
    </p:spTree>
    <p:extLst>
      <p:ext uri="{BB962C8B-B14F-4D97-AF65-F5344CB8AC3E}">
        <p14:creationId xmlns:p14="http://schemas.microsoft.com/office/powerpoint/2010/main" val="34710845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77436-C493-408B-92A4-CC2925CBE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Logicube </a:t>
            </a:r>
            <a:r>
              <a:rPr lang="en-MY" dirty="0">
                <a:solidFill>
                  <a:srgbClr val="06B6D4"/>
                </a:solidFill>
              </a:rPr>
              <a:t>TX1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F8E0BD-2E69-4FC1-984D-5E09D5ED2885}"/>
              </a:ext>
            </a:extLst>
          </p:cNvPr>
          <p:cNvSpPr txBox="1"/>
          <p:nvPr/>
        </p:nvSpPr>
        <p:spPr>
          <a:xfrm>
            <a:off x="309661" y="2780426"/>
            <a:ext cx="2585093" cy="6463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MY" sz="1400" dirty="0"/>
              <a:t>How to acquire using tx1….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MY" sz="1400" dirty="0"/>
              <a:t>What devices can be acquired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MY" sz="1400" dirty="0"/>
              <a:t>Why tx1</a:t>
            </a:r>
          </a:p>
        </p:txBody>
      </p:sp>
    </p:spTree>
    <p:extLst>
      <p:ext uri="{BB962C8B-B14F-4D97-AF65-F5344CB8AC3E}">
        <p14:creationId xmlns:p14="http://schemas.microsoft.com/office/powerpoint/2010/main" val="20460901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1C881-4D45-49CE-86FD-D67601E985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Social networking analysis </a:t>
            </a:r>
            <a:r>
              <a:rPr lang="en-MY" dirty="0">
                <a:solidFill>
                  <a:srgbClr val="06B6D4"/>
                </a:solidFill>
              </a:rPr>
              <a:t>(</a:t>
            </a:r>
            <a:r>
              <a:rPr lang="en-MY" dirty="0" err="1">
                <a:solidFill>
                  <a:srgbClr val="06B6D4"/>
                </a:solidFill>
              </a:rPr>
              <a:t>sna</a:t>
            </a:r>
            <a:r>
              <a:rPr lang="en-MY" dirty="0">
                <a:solidFill>
                  <a:srgbClr val="06B6D4"/>
                </a:solidFill>
              </a:rPr>
              <a:t>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13ED914-19BB-46A9-8170-BF1A9615EFAA}"/>
              </a:ext>
            </a:extLst>
          </p:cNvPr>
          <p:cNvSpPr txBox="1"/>
          <p:nvPr/>
        </p:nvSpPr>
        <p:spPr>
          <a:xfrm>
            <a:off x="309661" y="2780426"/>
            <a:ext cx="2585093" cy="15081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MY" sz="1400" dirty="0"/>
              <a:t>OSINT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MY" sz="1400" dirty="0"/>
              <a:t>Threat actor behind social media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MY" sz="1400" dirty="0" err="1"/>
              <a:t>Maltego</a:t>
            </a:r>
            <a:r>
              <a:rPr lang="en-MY" sz="1400" dirty="0"/>
              <a:t> search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MY" sz="1400" dirty="0"/>
              <a:t>Open source tools in kali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MY" sz="1400" dirty="0"/>
              <a:t>recovery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MY" sz="1400" dirty="0"/>
          </a:p>
        </p:txBody>
      </p:sp>
    </p:spTree>
    <p:extLst>
      <p:ext uri="{BB962C8B-B14F-4D97-AF65-F5344CB8AC3E}">
        <p14:creationId xmlns:p14="http://schemas.microsoft.com/office/powerpoint/2010/main" val="25785577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7BE537-4EC3-4849-97DA-261194430C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1C2CE6-D69A-411F-A126-48F8EAFF35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81670502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TM03457452[[fn=Celestial]]</Template>
  <TotalTime>263</TotalTime>
  <Words>996</Words>
  <Application>Microsoft Office PowerPoint</Application>
  <PresentationFormat>Widescreen</PresentationFormat>
  <Paragraphs>120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Arial</vt:lpstr>
      <vt:lpstr>Calibri</vt:lpstr>
      <vt:lpstr>Calibri Light</vt:lpstr>
      <vt:lpstr>Inter</vt:lpstr>
      <vt:lpstr>Inter SemiBold</vt:lpstr>
      <vt:lpstr>Space Grotesk</vt:lpstr>
      <vt:lpstr>Wingdings</vt:lpstr>
      <vt:lpstr>Celestial</vt:lpstr>
      <vt:lpstr>INTERNSHIP Presentation</vt:lpstr>
      <vt:lpstr>COMPANY BACKGROUND OG IT FORENSIC SERVICES (M) SDN.BHD</vt:lpstr>
      <vt:lpstr>Mission and vision of og it forensic services</vt:lpstr>
      <vt:lpstr>PowerPoint Presentation</vt:lpstr>
      <vt:lpstr>PowerPoint Presentation</vt:lpstr>
      <vt:lpstr>PowerPoint Presentation</vt:lpstr>
      <vt:lpstr>Organization chart of og it forensic (m) sdn. Bhd.</vt:lpstr>
      <vt:lpstr>tasks and accountabilities of the roles in Digital Forensics</vt:lpstr>
      <vt:lpstr>Digital Forensic Software used   </vt:lpstr>
      <vt:lpstr>Digital Audio Forensic Analysis </vt:lpstr>
      <vt:lpstr>Digital Video forensic analysis</vt:lpstr>
      <vt:lpstr>Digital Photo forensic analysis</vt:lpstr>
      <vt:lpstr>Digital Mobile Forensic Analysis</vt:lpstr>
      <vt:lpstr>Logicube TX1</vt:lpstr>
      <vt:lpstr>Social networking analysis (sna)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Xenon Plays</dc:creator>
  <cp:lastModifiedBy>Xenon Plays</cp:lastModifiedBy>
  <cp:revision>17</cp:revision>
  <dcterms:created xsi:type="dcterms:W3CDTF">2026-08-05T21:51:15Z</dcterms:created>
  <dcterms:modified xsi:type="dcterms:W3CDTF">2026-08-09T12:29:56Z</dcterms:modified>
</cp:coreProperties>
</file>